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5F9"/>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054"/>
          </a:solidFill>
          <a:ln w="12700">
            <a:solidFill>
              <a:srgbClr val="1A3054"/>
            </a:solidFill>
            <a:prstDash val="solid"/>
          </a:ln>
        </p:spPr>
      </p:sp>
      <p:sp>
        <p:nvSpPr>
          <p:cNvPr id="3" name="Text 1"/>
          <p:cNvSpPr/>
          <p:nvPr/>
        </p:nvSpPr>
        <p:spPr>
          <a:xfrm>
            <a:off x="365760" y="73152"/>
            <a:ext cx="7772400" cy="4572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Regional Community Health Clinic (RCHC)</a:t>
            </a:r>
            <a:endParaRPr lang="en-US" sz="2600" dirty="0"/>
          </a:p>
        </p:txBody>
      </p:sp>
      <p:sp>
        <p:nvSpPr>
          <p:cNvPr id="4" name="Text 2"/>
          <p:cNvSpPr/>
          <p:nvPr/>
        </p:nvSpPr>
        <p:spPr>
          <a:xfrm>
            <a:off x="365760" y="502920"/>
            <a:ext cx="7772400" cy="347472"/>
          </a:xfrm>
          <a:prstGeom prst="rect">
            <a:avLst/>
          </a:prstGeom>
          <a:noFill/>
          <a:ln/>
        </p:spPr>
        <p:txBody>
          <a:bodyPr wrap="square" lIns="0" tIns="0" rIns="0" bIns="0" rtlCol="0" anchor="t"/>
          <a:lstStyle/>
          <a:p>
            <a:pPr indent="0" marL="0">
              <a:buNone/>
            </a:pPr>
            <a:r>
              <a:rPr lang="en-US" sz="1300" i="1" dirty="0">
                <a:solidFill>
                  <a:srgbClr val="D4751B"/>
                </a:solidFill>
                <a:latin typeface="Calibri" pitchFamily="34" charset="0"/>
                <a:ea typeface="Calibri" pitchFamily="34" charset="-122"/>
                <a:cs typeface="Calibri" pitchFamily="34" charset="-120"/>
              </a:rPr>
              <a:t>Assessment 2A – Incident Response Role Play  |  Group 3  |  Tuesday 5–7 PM</a:t>
            </a:r>
            <a:endParaRPr lang="en-US" sz="1300" dirty="0"/>
          </a:p>
        </p:txBody>
      </p:sp>
      <p:sp>
        <p:nvSpPr>
          <p:cNvPr id="5" name="Text 3"/>
          <p:cNvSpPr/>
          <p:nvPr/>
        </p:nvSpPr>
        <p:spPr>
          <a:xfrm>
            <a:off x="0" y="4892040"/>
            <a:ext cx="9144000" cy="256032"/>
          </a:xfrm>
          <a:prstGeom prst="rect">
            <a:avLst/>
          </a:prstGeom>
          <a:noFill/>
          <a:ln/>
        </p:spPr>
        <p:txBody>
          <a:bodyPr wrap="square" lIns="0" tIns="0" rIns="2540" bIns="0" rtlCol="0" anchor="ctr"/>
          <a:lstStyle/>
          <a:p>
            <a:pPr algn="r" indent="0" marL="0">
              <a:buNone/>
            </a:pPr>
            <a:r>
              <a:rPr lang="en-US" sz="900" dirty="0">
                <a:solidFill>
                  <a:srgbClr val="D4751B"/>
                </a:solidFill>
                <a:latin typeface="Calibri" pitchFamily="34" charset="0"/>
                <a:ea typeface="Calibri" pitchFamily="34" charset="-122"/>
                <a:cs typeface="Calibri" pitchFamily="34" charset="-120"/>
              </a:rPr>
              <a:t>Incident Response Role Play  |  Group 3  |  IAB246</a:t>
            </a:r>
            <a:endParaRPr lang="en-US" sz="900" dirty="0"/>
          </a:p>
        </p:txBody>
      </p:sp>
      <p:sp>
        <p:nvSpPr>
          <p:cNvPr id="6" name="Shape 4"/>
          <p:cNvSpPr/>
          <p:nvPr/>
        </p:nvSpPr>
        <p:spPr>
          <a:xfrm>
            <a:off x="274320" y="1005840"/>
            <a:ext cx="4114800" cy="3383280"/>
          </a:xfrm>
          <a:prstGeom prst="rect">
            <a:avLst/>
          </a:prstGeom>
          <a:solidFill>
            <a:srgbClr val="FFFFFF"/>
          </a:solidFill>
          <a:ln w="12700">
            <a:solidFill>
              <a:srgbClr val="D8DDE6"/>
            </a:solidFill>
            <a:prstDash val="solid"/>
          </a:ln>
          <a:effectLst>
            <a:outerShdw sx="100000" sy="100000" kx="0" ky="0" algn="bl" rotWithShape="0" blurRad="63500" dist="25400" dir="8100000">
              <a:srgbClr val="000000">
                <a:alpha val="10000"/>
              </a:srgbClr>
            </a:outerShdw>
          </a:effectLst>
        </p:spPr>
      </p:sp>
      <p:sp>
        <p:nvSpPr>
          <p:cNvPr id="7" name="Shape 5"/>
          <p:cNvSpPr/>
          <p:nvPr/>
        </p:nvSpPr>
        <p:spPr>
          <a:xfrm>
            <a:off x="274320" y="1005840"/>
            <a:ext cx="4114800" cy="292608"/>
          </a:xfrm>
          <a:prstGeom prst="rect">
            <a:avLst/>
          </a:prstGeom>
          <a:solidFill>
            <a:srgbClr val="1A3054"/>
          </a:solidFill>
          <a:ln w="12700">
            <a:solidFill>
              <a:srgbClr val="1A3054"/>
            </a:solidFill>
            <a:prstDash val="solid"/>
          </a:ln>
        </p:spPr>
      </p:sp>
      <p:sp>
        <p:nvSpPr>
          <p:cNvPr id="8" name="Text 6"/>
          <p:cNvSpPr/>
          <p:nvPr/>
        </p:nvSpPr>
        <p:spPr>
          <a:xfrm>
            <a:off x="365760" y="1005840"/>
            <a:ext cx="393192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Who We Are</a:t>
            </a:r>
            <a:endParaRPr lang="en-US" sz="1200" dirty="0"/>
          </a:p>
        </p:txBody>
      </p:sp>
      <p:sp>
        <p:nvSpPr>
          <p:cNvPr id="9" name="Text 7"/>
          <p:cNvSpPr/>
          <p:nvPr/>
        </p:nvSpPr>
        <p:spPr>
          <a:xfrm>
            <a:off x="384048" y="1371600"/>
            <a:ext cx="1280160" cy="402336"/>
          </a:xfrm>
          <a:prstGeom prst="rect">
            <a:avLst/>
          </a:prstGeom>
          <a:noFill/>
          <a:ln/>
        </p:spPr>
        <p:txBody>
          <a:bodyPr wrap="square" lIns="0" tIns="0" rIns="0" bIns="0" rtlCol="0" anchor="ctr"/>
          <a:lstStyle/>
          <a:p>
            <a:pPr indent="0" marL="0">
              <a:buNone/>
            </a:pPr>
            <a:r>
              <a:rPr lang="en-US" sz="1000" b="1" dirty="0">
                <a:solidFill>
                  <a:srgbClr val="1A3054"/>
                </a:solidFill>
                <a:latin typeface="Calibri" pitchFamily="34" charset="0"/>
                <a:ea typeface="Calibri" pitchFamily="34" charset="-122"/>
                <a:cs typeface="Calibri" pitchFamily="34" charset="-120"/>
              </a:rPr>
              <a:t>Sector</a:t>
            </a:r>
            <a:endParaRPr lang="en-US" sz="1000" dirty="0"/>
          </a:p>
        </p:txBody>
      </p:sp>
      <p:sp>
        <p:nvSpPr>
          <p:cNvPr id="10" name="Text 8"/>
          <p:cNvSpPr/>
          <p:nvPr/>
        </p:nvSpPr>
        <p:spPr>
          <a:xfrm>
            <a:off x="1691640" y="1371600"/>
            <a:ext cx="2560320" cy="402336"/>
          </a:xfrm>
          <a:prstGeom prst="rect">
            <a:avLst/>
          </a:prstGeom>
          <a:noFill/>
          <a:ln/>
        </p:spPr>
        <p:txBody>
          <a:bodyPr wrap="square" lIns="0" tIns="0" rIns="0" bIns="0" rtlCol="0" anchor="ctr"/>
          <a:lstStyle/>
          <a:p>
            <a:pPr indent="0" marL="0">
              <a:buNone/>
            </a:pPr>
            <a:r>
              <a:rPr lang="en-US" sz="1000" dirty="0">
                <a:solidFill>
                  <a:srgbClr val="1A2737"/>
                </a:solidFill>
                <a:latin typeface="Calibri" pitchFamily="34" charset="0"/>
                <a:ea typeface="Calibri" pitchFamily="34" charset="-122"/>
                <a:cs typeface="Calibri" pitchFamily="34" charset="-120"/>
              </a:rPr>
              <a:t>Healthcare – primary care clinic</a:t>
            </a:r>
            <a:endParaRPr lang="en-US" sz="1000" dirty="0"/>
          </a:p>
        </p:txBody>
      </p:sp>
      <p:sp>
        <p:nvSpPr>
          <p:cNvPr id="11" name="Text 9"/>
          <p:cNvSpPr/>
          <p:nvPr/>
        </p:nvSpPr>
        <p:spPr>
          <a:xfrm>
            <a:off x="384048" y="1819656"/>
            <a:ext cx="1280160" cy="402336"/>
          </a:xfrm>
          <a:prstGeom prst="rect">
            <a:avLst/>
          </a:prstGeom>
          <a:noFill/>
          <a:ln/>
        </p:spPr>
        <p:txBody>
          <a:bodyPr wrap="square" lIns="0" tIns="0" rIns="0" bIns="0" rtlCol="0" anchor="ctr"/>
          <a:lstStyle/>
          <a:p>
            <a:pPr indent="0" marL="0">
              <a:buNone/>
            </a:pPr>
            <a:r>
              <a:rPr lang="en-US" sz="1000" b="1" dirty="0">
                <a:solidFill>
                  <a:srgbClr val="1A3054"/>
                </a:solidFill>
                <a:latin typeface="Calibri" pitchFamily="34" charset="0"/>
                <a:ea typeface="Calibri" pitchFamily="34" charset="-122"/>
                <a:cs typeface="Calibri" pitchFamily="34" charset="-120"/>
              </a:rPr>
              <a:t>Size</a:t>
            </a:r>
            <a:endParaRPr lang="en-US" sz="1000" dirty="0"/>
          </a:p>
        </p:txBody>
      </p:sp>
      <p:sp>
        <p:nvSpPr>
          <p:cNvPr id="12" name="Text 10"/>
          <p:cNvSpPr/>
          <p:nvPr/>
        </p:nvSpPr>
        <p:spPr>
          <a:xfrm>
            <a:off x="1691640" y="1819656"/>
            <a:ext cx="2560320" cy="402336"/>
          </a:xfrm>
          <a:prstGeom prst="rect">
            <a:avLst/>
          </a:prstGeom>
          <a:noFill/>
          <a:ln/>
        </p:spPr>
        <p:txBody>
          <a:bodyPr wrap="square" lIns="0" tIns="0" rIns="0" bIns="0" rtlCol="0" anchor="ctr"/>
          <a:lstStyle/>
          <a:p>
            <a:pPr indent="0" marL="0">
              <a:buNone/>
            </a:pPr>
            <a:r>
              <a:rPr lang="en-US" sz="1000" dirty="0">
                <a:solidFill>
                  <a:srgbClr val="1A2737"/>
                </a:solidFill>
                <a:latin typeface="Calibri" pitchFamily="34" charset="0"/>
                <a:ea typeface="Calibri" pitchFamily="34" charset="-122"/>
                <a:cs typeface="Calibri" pitchFamily="34" charset="-120"/>
              </a:rPr>
              <a:t>Small clinic, 45 staff, 1 Brisbane location</a:t>
            </a:r>
            <a:endParaRPr lang="en-US" sz="1000" dirty="0"/>
          </a:p>
        </p:txBody>
      </p:sp>
      <p:sp>
        <p:nvSpPr>
          <p:cNvPr id="13" name="Text 11"/>
          <p:cNvSpPr/>
          <p:nvPr/>
        </p:nvSpPr>
        <p:spPr>
          <a:xfrm>
            <a:off x="384048" y="2267712"/>
            <a:ext cx="1280160" cy="402336"/>
          </a:xfrm>
          <a:prstGeom prst="rect">
            <a:avLst/>
          </a:prstGeom>
          <a:noFill/>
          <a:ln/>
        </p:spPr>
        <p:txBody>
          <a:bodyPr wrap="square" lIns="0" tIns="0" rIns="0" bIns="0" rtlCol="0" anchor="ctr"/>
          <a:lstStyle/>
          <a:p>
            <a:pPr indent="0" marL="0">
              <a:buNone/>
            </a:pPr>
            <a:r>
              <a:rPr lang="en-US" sz="1000" b="1" dirty="0">
                <a:solidFill>
                  <a:srgbClr val="1A3054"/>
                </a:solidFill>
                <a:latin typeface="Calibri" pitchFamily="34" charset="0"/>
                <a:ea typeface="Calibri" pitchFamily="34" charset="-122"/>
                <a:cs typeface="Calibri" pitchFamily="34" charset="-120"/>
              </a:rPr>
              <a:t>Core function</a:t>
            </a:r>
            <a:endParaRPr lang="en-US" sz="1000" dirty="0"/>
          </a:p>
        </p:txBody>
      </p:sp>
      <p:sp>
        <p:nvSpPr>
          <p:cNvPr id="14" name="Text 12"/>
          <p:cNvSpPr/>
          <p:nvPr/>
        </p:nvSpPr>
        <p:spPr>
          <a:xfrm>
            <a:off x="1691640" y="2267712"/>
            <a:ext cx="2560320" cy="402336"/>
          </a:xfrm>
          <a:prstGeom prst="rect">
            <a:avLst/>
          </a:prstGeom>
          <a:noFill/>
          <a:ln/>
        </p:spPr>
        <p:txBody>
          <a:bodyPr wrap="square" lIns="0" tIns="0" rIns="0" bIns="0" rtlCol="0" anchor="ctr"/>
          <a:lstStyle/>
          <a:p>
            <a:pPr indent="0" marL="0">
              <a:buNone/>
            </a:pPr>
            <a:r>
              <a:rPr lang="en-US" sz="1000" dirty="0">
                <a:solidFill>
                  <a:srgbClr val="1A2737"/>
                </a:solidFill>
                <a:latin typeface="Calibri" pitchFamily="34" charset="0"/>
                <a:ea typeface="Calibri" pitchFamily="34" charset="-122"/>
                <a:cs typeface="Calibri" pitchFamily="34" charset="-120"/>
              </a:rPr>
              <a:t>Delivers outpatient primary care, telehealth consultations, and allied health services</a:t>
            </a:r>
            <a:endParaRPr lang="en-US" sz="1000" dirty="0"/>
          </a:p>
        </p:txBody>
      </p:sp>
      <p:sp>
        <p:nvSpPr>
          <p:cNvPr id="15" name="Text 13"/>
          <p:cNvSpPr/>
          <p:nvPr/>
        </p:nvSpPr>
        <p:spPr>
          <a:xfrm>
            <a:off x="384048" y="2715768"/>
            <a:ext cx="1280160" cy="402336"/>
          </a:xfrm>
          <a:prstGeom prst="rect">
            <a:avLst/>
          </a:prstGeom>
          <a:noFill/>
          <a:ln/>
        </p:spPr>
        <p:txBody>
          <a:bodyPr wrap="square" lIns="0" tIns="0" rIns="0" bIns="0" rtlCol="0" anchor="ctr"/>
          <a:lstStyle/>
          <a:p>
            <a:pPr indent="0" marL="0">
              <a:buNone/>
            </a:pPr>
            <a:r>
              <a:rPr lang="en-US" sz="1000" b="1" dirty="0">
                <a:solidFill>
                  <a:srgbClr val="1A3054"/>
                </a:solidFill>
                <a:latin typeface="Calibri" pitchFamily="34" charset="0"/>
                <a:ea typeface="Calibri" pitchFamily="34" charset="-122"/>
                <a:cs typeface="Calibri" pitchFamily="34" charset="-120"/>
              </a:rPr>
              <a:t>Key customers</a:t>
            </a:r>
            <a:endParaRPr lang="en-US" sz="1000" dirty="0"/>
          </a:p>
        </p:txBody>
      </p:sp>
      <p:sp>
        <p:nvSpPr>
          <p:cNvPr id="16" name="Text 14"/>
          <p:cNvSpPr/>
          <p:nvPr/>
        </p:nvSpPr>
        <p:spPr>
          <a:xfrm>
            <a:off x="1691640" y="2715768"/>
            <a:ext cx="2560320" cy="402336"/>
          </a:xfrm>
          <a:prstGeom prst="rect">
            <a:avLst/>
          </a:prstGeom>
          <a:noFill/>
          <a:ln/>
        </p:spPr>
        <p:txBody>
          <a:bodyPr wrap="square" lIns="0" tIns="0" rIns="0" bIns="0" rtlCol="0" anchor="ctr"/>
          <a:lstStyle/>
          <a:p>
            <a:pPr indent="0" marL="0">
              <a:buNone/>
            </a:pPr>
            <a:r>
              <a:rPr lang="en-US" sz="1000" dirty="0">
                <a:solidFill>
                  <a:srgbClr val="1A2737"/>
                </a:solidFill>
                <a:latin typeface="Calibri" pitchFamily="34" charset="0"/>
                <a:ea typeface="Calibri" pitchFamily="34" charset="-122"/>
                <a:cs typeface="Calibri" pitchFamily="34" charset="-120"/>
              </a:rPr>
              <a:t>Local community patients, GPs, allied health referrals</a:t>
            </a:r>
            <a:endParaRPr lang="en-US" sz="1000" dirty="0"/>
          </a:p>
        </p:txBody>
      </p:sp>
      <p:sp>
        <p:nvSpPr>
          <p:cNvPr id="17" name="Text 15"/>
          <p:cNvSpPr/>
          <p:nvPr/>
        </p:nvSpPr>
        <p:spPr>
          <a:xfrm>
            <a:off x="384048" y="3163824"/>
            <a:ext cx="1280160" cy="402336"/>
          </a:xfrm>
          <a:prstGeom prst="rect">
            <a:avLst/>
          </a:prstGeom>
          <a:noFill/>
          <a:ln/>
        </p:spPr>
        <p:txBody>
          <a:bodyPr wrap="square" lIns="0" tIns="0" rIns="0" bIns="0" rtlCol="0" anchor="ctr"/>
          <a:lstStyle/>
          <a:p>
            <a:pPr indent="0" marL="0">
              <a:buNone/>
            </a:pPr>
            <a:r>
              <a:rPr lang="en-US" sz="1000" b="1" dirty="0">
                <a:solidFill>
                  <a:srgbClr val="1A3054"/>
                </a:solidFill>
                <a:latin typeface="Calibri" pitchFamily="34" charset="0"/>
                <a:ea typeface="Calibri" pitchFamily="34" charset="-122"/>
                <a:cs typeface="Calibri" pitchFamily="34" charset="-120"/>
              </a:rPr>
              <a:t>Why cyber matters</a:t>
            </a:r>
            <a:endParaRPr lang="en-US" sz="1000" dirty="0"/>
          </a:p>
        </p:txBody>
      </p:sp>
      <p:sp>
        <p:nvSpPr>
          <p:cNvPr id="18" name="Text 16"/>
          <p:cNvSpPr/>
          <p:nvPr/>
        </p:nvSpPr>
        <p:spPr>
          <a:xfrm>
            <a:off x="1691640" y="3163824"/>
            <a:ext cx="2560320" cy="402336"/>
          </a:xfrm>
          <a:prstGeom prst="rect">
            <a:avLst/>
          </a:prstGeom>
          <a:noFill/>
          <a:ln/>
        </p:spPr>
        <p:txBody>
          <a:bodyPr wrap="square" lIns="0" tIns="0" rIns="0" bIns="0" rtlCol="0" anchor="ctr"/>
          <a:lstStyle/>
          <a:p>
            <a:pPr indent="0" marL="0">
              <a:buNone/>
            </a:pPr>
            <a:r>
              <a:rPr lang="en-US" sz="1000" dirty="0">
                <a:solidFill>
                  <a:srgbClr val="1A2737"/>
                </a:solidFill>
                <a:latin typeface="Calibri" pitchFamily="34" charset="0"/>
                <a:ea typeface="Calibri" pitchFamily="34" charset="-122"/>
                <a:cs typeface="Calibri" pitchFamily="34" charset="-120"/>
              </a:rPr>
              <a:t>System outages stop patient care, delay prescriptions, and expose sensitive health records</a:t>
            </a:r>
            <a:endParaRPr lang="en-US" sz="1000" dirty="0"/>
          </a:p>
        </p:txBody>
      </p:sp>
      <p:sp>
        <p:nvSpPr>
          <p:cNvPr id="19" name="Shape 17"/>
          <p:cNvSpPr/>
          <p:nvPr/>
        </p:nvSpPr>
        <p:spPr>
          <a:xfrm>
            <a:off x="4663440" y="1005840"/>
            <a:ext cx="4206240" cy="1874520"/>
          </a:xfrm>
          <a:prstGeom prst="rect">
            <a:avLst/>
          </a:prstGeom>
          <a:solidFill>
            <a:srgbClr val="FFFFFF"/>
          </a:solidFill>
          <a:ln w="12700">
            <a:solidFill>
              <a:srgbClr val="D8DDE6"/>
            </a:solidFill>
            <a:prstDash val="solid"/>
          </a:ln>
          <a:effectLst>
            <a:outerShdw sx="100000" sy="100000" kx="0" ky="0" algn="bl" rotWithShape="0" blurRad="63500" dist="25400" dir="8100000">
              <a:srgbClr val="000000">
                <a:alpha val="10000"/>
              </a:srgbClr>
            </a:outerShdw>
          </a:effectLst>
        </p:spPr>
      </p:sp>
      <p:sp>
        <p:nvSpPr>
          <p:cNvPr id="20" name="Shape 18"/>
          <p:cNvSpPr/>
          <p:nvPr/>
        </p:nvSpPr>
        <p:spPr>
          <a:xfrm>
            <a:off x="4663440" y="1005840"/>
            <a:ext cx="4206240" cy="292608"/>
          </a:xfrm>
          <a:prstGeom prst="rect">
            <a:avLst/>
          </a:prstGeom>
          <a:solidFill>
            <a:srgbClr val="027A8A"/>
          </a:solidFill>
          <a:ln w="12700">
            <a:solidFill>
              <a:srgbClr val="027A8A"/>
            </a:solidFill>
            <a:prstDash val="solid"/>
          </a:ln>
        </p:spPr>
      </p:sp>
      <p:sp>
        <p:nvSpPr>
          <p:cNvPr id="21" name="Text 19"/>
          <p:cNvSpPr/>
          <p:nvPr/>
        </p:nvSpPr>
        <p:spPr>
          <a:xfrm>
            <a:off x="4754880" y="1005840"/>
            <a:ext cx="402336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Key Assets – From BIA</a:t>
            </a:r>
            <a:endParaRPr lang="en-US" sz="1200" dirty="0"/>
          </a:p>
        </p:txBody>
      </p:sp>
      <p:sp>
        <p:nvSpPr>
          <p:cNvPr id="22" name="Shape 20"/>
          <p:cNvSpPr/>
          <p:nvPr/>
        </p:nvSpPr>
        <p:spPr>
          <a:xfrm>
            <a:off x="4800600" y="1389888"/>
            <a:ext cx="594360" cy="310896"/>
          </a:xfrm>
          <a:prstGeom prst="rect">
            <a:avLst/>
          </a:prstGeom>
          <a:solidFill>
            <a:srgbClr val="C0392B"/>
          </a:solidFill>
          <a:ln w="12700">
            <a:solidFill>
              <a:srgbClr val="C0392B"/>
            </a:solidFill>
            <a:prstDash val="solid"/>
          </a:ln>
        </p:spPr>
      </p:sp>
      <p:sp>
        <p:nvSpPr>
          <p:cNvPr id="23" name="Text 21"/>
          <p:cNvSpPr/>
          <p:nvPr/>
        </p:nvSpPr>
        <p:spPr>
          <a:xfrm>
            <a:off x="4800600" y="1389888"/>
            <a:ext cx="59436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Tier 1</a:t>
            </a:r>
            <a:endParaRPr lang="en-US" sz="900" dirty="0"/>
          </a:p>
        </p:txBody>
      </p:sp>
      <p:sp>
        <p:nvSpPr>
          <p:cNvPr id="24" name="Text 22"/>
          <p:cNvSpPr/>
          <p:nvPr/>
        </p:nvSpPr>
        <p:spPr>
          <a:xfrm>
            <a:off x="5486400" y="1389888"/>
            <a:ext cx="3246120" cy="310896"/>
          </a:xfrm>
          <a:prstGeom prst="rect">
            <a:avLst/>
          </a:prstGeom>
          <a:noFill/>
          <a:ln/>
        </p:spPr>
        <p:txBody>
          <a:bodyPr wrap="square" lIns="0" tIns="0" rIns="0" bIns="0" rtlCol="0" anchor="ctr"/>
          <a:lstStyle/>
          <a:p>
            <a:pPr indent="0" marL="0">
              <a:buNone/>
            </a:pPr>
            <a:r>
              <a:rPr lang="en-US" sz="1000" dirty="0">
                <a:solidFill>
                  <a:srgbClr val="1A2737"/>
                </a:solidFill>
                <a:latin typeface="Calibri" pitchFamily="34" charset="0"/>
                <a:ea typeface="Calibri" pitchFamily="34" charset="-122"/>
                <a:cs typeface="Calibri" pitchFamily="34" charset="-120"/>
              </a:rPr>
              <a:t>Patient &amp; Staff Credentials (Microsoft Entra ID)</a:t>
            </a:r>
            <a:endParaRPr lang="en-US" sz="1000" dirty="0"/>
          </a:p>
        </p:txBody>
      </p:sp>
      <p:sp>
        <p:nvSpPr>
          <p:cNvPr id="25" name="Shape 23"/>
          <p:cNvSpPr/>
          <p:nvPr/>
        </p:nvSpPr>
        <p:spPr>
          <a:xfrm>
            <a:off x="4800600" y="1847088"/>
            <a:ext cx="594360" cy="310896"/>
          </a:xfrm>
          <a:prstGeom prst="rect">
            <a:avLst/>
          </a:prstGeom>
          <a:solidFill>
            <a:srgbClr val="C55A11"/>
          </a:solidFill>
          <a:ln w="12700">
            <a:solidFill>
              <a:srgbClr val="C55A11"/>
            </a:solidFill>
            <a:prstDash val="solid"/>
          </a:ln>
        </p:spPr>
      </p:sp>
      <p:sp>
        <p:nvSpPr>
          <p:cNvPr id="26" name="Text 24"/>
          <p:cNvSpPr/>
          <p:nvPr/>
        </p:nvSpPr>
        <p:spPr>
          <a:xfrm>
            <a:off x="4800600" y="1847088"/>
            <a:ext cx="59436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Tier 2</a:t>
            </a:r>
            <a:endParaRPr lang="en-US" sz="900" dirty="0"/>
          </a:p>
        </p:txBody>
      </p:sp>
      <p:sp>
        <p:nvSpPr>
          <p:cNvPr id="27" name="Text 25"/>
          <p:cNvSpPr/>
          <p:nvPr/>
        </p:nvSpPr>
        <p:spPr>
          <a:xfrm>
            <a:off x="5486400" y="1847088"/>
            <a:ext cx="3246120" cy="310896"/>
          </a:xfrm>
          <a:prstGeom prst="rect">
            <a:avLst/>
          </a:prstGeom>
          <a:noFill/>
          <a:ln/>
        </p:spPr>
        <p:txBody>
          <a:bodyPr wrap="square" lIns="0" tIns="0" rIns="0" bIns="0" rtlCol="0" anchor="ctr"/>
          <a:lstStyle/>
          <a:p>
            <a:pPr indent="0" marL="0">
              <a:buNone/>
            </a:pPr>
            <a:r>
              <a:rPr lang="en-US" sz="1000" dirty="0">
                <a:solidFill>
                  <a:srgbClr val="1A2737"/>
                </a:solidFill>
                <a:latin typeface="Calibri" pitchFamily="34" charset="0"/>
                <a:ea typeface="Calibri" pitchFamily="34" charset="-122"/>
                <a:cs typeface="Calibri" pitchFamily="34" charset="-120"/>
              </a:rPr>
              <a:t>Electronic Health Record (EHR) System</a:t>
            </a:r>
            <a:endParaRPr lang="en-US" sz="1000" dirty="0"/>
          </a:p>
        </p:txBody>
      </p:sp>
      <p:sp>
        <p:nvSpPr>
          <p:cNvPr id="28" name="Shape 26"/>
          <p:cNvSpPr/>
          <p:nvPr/>
        </p:nvSpPr>
        <p:spPr>
          <a:xfrm>
            <a:off x="4800600" y="2304288"/>
            <a:ext cx="594360" cy="310896"/>
          </a:xfrm>
          <a:prstGeom prst="rect">
            <a:avLst/>
          </a:prstGeom>
          <a:solidFill>
            <a:srgbClr val="1E6B45"/>
          </a:solidFill>
          <a:ln w="12700">
            <a:solidFill>
              <a:srgbClr val="1E6B45"/>
            </a:solidFill>
            <a:prstDash val="solid"/>
          </a:ln>
        </p:spPr>
      </p:sp>
      <p:sp>
        <p:nvSpPr>
          <p:cNvPr id="29" name="Text 27"/>
          <p:cNvSpPr/>
          <p:nvPr/>
        </p:nvSpPr>
        <p:spPr>
          <a:xfrm>
            <a:off x="4800600" y="2304288"/>
            <a:ext cx="59436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Tier 3</a:t>
            </a:r>
            <a:endParaRPr lang="en-US" sz="900" dirty="0"/>
          </a:p>
        </p:txBody>
      </p:sp>
      <p:sp>
        <p:nvSpPr>
          <p:cNvPr id="30" name="Text 28"/>
          <p:cNvSpPr/>
          <p:nvPr/>
        </p:nvSpPr>
        <p:spPr>
          <a:xfrm>
            <a:off x="5486400" y="2304288"/>
            <a:ext cx="3246120" cy="310896"/>
          </a:xfrm>
          <a:prstGeom prst="rect">
            <a:avLst/>
          </a:prstGeom>
          <a:noFill/>
          <a:ln/>
        </p:spPr>
        <p:txBody>
          <a:bodyPr wrap="square" lIns="0" tIns="0" rIns="0" bIns="0" rtlCol="0" anchor="ctr"/>
          <a:lstStyle/>
          <a:p>
            <a:pPr indent="0" marL="0">
              <a:buNone/>
            </a:pPr>
            <a:r>
              <a:rPr lang="en-US" sz="1000" dirty="0">
                <a:solidFill>
                  <a:srgbClr val="1A2737"/>
                </a:solidFill>
                <a:latin typeface="Calibri" pitchFamily="34" charset="0"/>
                <a:ea typeface="Calibri" pitchFamily="34" charset="-122"/>
                <a:cs typeface="Calibri" pitchFamily="34" charset="-120"/>
              </a:rPr>
              <a:t>People who interact with the system</a:t>
            </a:r>
            <a:endParaRPr lang="en-US" sz="1000" dirty="0"/>
          </a:p>
        </p:txBody>
      </p:sp>
      <p:sp>
        <p:nvSpPr>
          <p:cNvPr id="31" name="Shape 29"/>
          <p:cNvSpPr/>
          <p:nvPr/>
        </p:nvSpPr>
        <p:spPr>
          <a:xfrm>
            <a:off x="4663440" y="2944368"/>
            <a:ext cx="4206240" cy="1444752"/>
          </a:xfrm>
          <a:prstGeom prst="rect">
            <a:avLst/>
          </a:prstGeom>
          <a:solidFill>
            <a:srgbClr val="FFF0EE"/>
          </a:solidFill>
          <a:ln w="12700">
            <a:solidFill>
              <a:srgbClr val="C0392B"/>
            </a:solidFill>
            <a:prstDash val="solid"/>
          </a:ln>
          <a:effectLst>
            <a:outerShdw sx="100000" sy="100000" kx="0" ky="0" algn="bl" rotWithShape="0" blurRad="63500" dist="25400" dir="8100000">
              <a:srgbClr val="000000">
                <a:alpha val="10000"/>
              </a:srgbClr>
            </a:outerShdw>
          </a:effectLst>
        </p:spPr>
      </p:sp>
      <p:sp>
        <p:nvSpPr>
          <p:cNvPr id="32" name="Shape 30"/>
          <p:cNvSpPr/>
          <p:nvPr/>
        </p:nvSpPr>
        <p:spPr>
          <a:xfrm>
            <a:off x="4663440" y="2944368"/>
            <a:ext cx="4206240" cy="292608"/>
          </a:xfrm>
          <a:prstGeom prst="rect">
            <a:avLst/>
          </a:prstGeom>
          <a:solidFill>
            <a:srgbClr val="C0392B"/>
          </a:solidFill>
          <a:ln w="12700">
            <a:solidFill>
              <a:srgbClr val="C0392B"/>
            </a:solidFill>
            <a:prstDash val="solid"/>
          </a:ln>
        </p:spPr>
      </p:sp>
      <p:sp>
        <p:nvSpPr>
          <p:cNvPr id="33" name="Text 31"/>
          <p:cNvSpPr/>
          <p:nvPr/>
        </p:nvSpPr>
        <p:spPr>
          <a:xfrm>
            <a:off x="4754880" y="2944368"/>
            <a:ext cx="40233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Known Residual Risk at Time of Incident</a:t>
            </a:r>
            <a:endParaRPr lang="en-US" sz="1100" dirty="0"/>
          </a:p>
        </p:txBody>
      </p:sp>
      <p:sp>
        <p:nvSpPr>
          <p:cNvPr id="34" name="Text 32"/>
          <p:cNvSpPr/>
          <p:nvPr/>
        </p:nvSpPr>
        <p:spPr>
          <a:xfrm>
            <a:off x="4754880" y="3273552"/>
            <a:ext cx="4023360" cy="1051560"/>
          </a:xfrm>
          <a:prstGeom prst="rect">
            <a:avLst/>
          </a:prstGeom>
          <a:noFill/>
          <a:ln/>
        </p:spPr>
        <p:txBody>
          <a:bodyPr wrap="square" lIns="0" tIns="0" rIns="0" bIns="0" rtlCol="0" anchor="t"/>
          <a:lstStyle/>
          <a:p>
            <a:pPr marL="342900" indent="-342900">
              <a:buSzPct val="100000"/>
              <a:buChar char="•"/>
            </a:pPr>
            <a:r>
              <a:rPr lang="en-US" sz="1050" dirty="0">
                <a:solidFill>
                  <a:srgbClr val="1A2737"/>
                </a:solidFill>
                <a:latin typeface="Calibri" pitchFamily="34" charset="0"/>
                <a:ea typeface="Calibri" pitchFamily="34" charset="-122"/>
                <a:cs typeface="Calibri" pitchFamily="34" charset="-120"/>
              </a:rPr>
              <a:t>No MFA enforced on RDP access to internal servers</a:t>
            </a:r>
            <a:endParaRPr lang="en-US" sz="1050" dirty="0"/>
          </a:p>
          <a:p>
            <a:pPr marL="342900" indent="-342900">
              <a:buSzPct val="100000"/>
              <a:buChar char="•"/>
            </a:pPr>
            <a:r>
              <a:rPr lang="en-US" sz="1050" dirty="0">
                <a:solidFill>
                  <a:srgbClr val="1A2737"/>
                </a:solidFill>
                <a:latin typeface="Calibri" pitchFamily="34" charset="0"/>
                <a:ea typeface="Calibri" pitchFamily="34" charset="-122"/>
                <a:cs typeface="Calibri" pitchFamily="34" charset="-120"/>
              </a:rPr>
              <a:t>EHR RDP port (3389) exposed to internet with weak password policy</a:t>
            </a:r>
            <a:endParaRPr lang="en-US" sz="1050" dirty="0"/>
          </a:p>
          <a:p>
            <a:pPr marL="342900" indent="-342900">
              <a:buSzPct val="100000"/>
              <a:buChar char="•"/>
            </a:pPr>
            <a:r>
              <a:rPr lang="en-US" sz="1050" dirty="0">
                <a:solidFill>
                  <a:srgbClr val="1A2737"/>
                </a:solidFill>
                <a:latin typeface="Calibri" pitchFamily="34" charset="0"/>
                <a:ea typeface="Calibri" pitchFamily="34" charset="-122"/>
                <a:cs typeface="Calibri" pitchFamily="34" charset="-120"/>
              </a:rPr>
              <a:t>Privileged credential audit was overdue (last reviewed 14 months prior)</a:t>
            </a:r>
            <a:endParaRPr lang="en-US" sz="1050" dirty="0"/>
          </a:p>
        </p:txBody>
      </p:sp>
      <p:sp>
        <p:nvSpPr>
          <p:cNvPr id="35" name="Text 33"/>
          <p:cNvSpPr/>
          <p:nvPr/>
        </p:nvSpPr>
        <p:spPr>
          <a:xfrm>
            <a:off x="274320" y="4462272"/>
            <a:ext cx="8595360" cy="201168"/>
          </a:xfrm>
          <a:prstGeom prst="rect">
            <a:avLst/>
          </a:prstGeom>
          <a:noFill/>
          <a:ln/>
        </p:spPr>
        <p:txBody>
          <a:bodyPr wrap="square" lIns="0" tIns="0" rIns="0" bIns="0" rtlCol="0" anchor="ctr"/>
          <a:lstStyle/>
          <a:p>
            <a:pPr indent="0" marL="0">
              <a:buNone/>
            </a:pPr>
            <a:r>
              <a:rPr lang="en-US" sz="850" i="1" dirty="0">
                <a:solidFill>
                  <a:srgbClr val="6B7A8D"/>
                </a:solidFill>
                <a:latin typeface="Calibri" pitchFamily="34" charset="0"/>
                <a:ea typeface="Calibri" pitchFamily="34" charset="-122"/>
                <a:cs typeface="Calibri" pitchFamily="34" charset="-120"/>
              </a:rPr>
              <a:t>Presenter: All members  |  Slide format: Group overview</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5F9"/>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054"/>
          </a:solidFill>
          <a:ln w="12700">
            <a:solidFill>
              <a:srgbClr val="1A3054"/>
            </a:solidFill>
            <a:prstDash val="solid"/>
          </a:ln>
        </p:spPr>
      </p:sp>
      <p:sp>
        <p:nvSpPr>
          <p:cNvPr id="3" name="Text 1"/>
          <p:cNvSpPr/>
          <p:nvPr/>
        </p:nvSpPr>
        <p:spPr>
          <a:xfrm>
            <a:off x="365760" y="73152"/>
            <a:ext cx="7772400" cy="4572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The Calm Before the Storm</a:t>
            </a:r>
            <a:endParaRPr lang="en-US" sz="2600" dirty="0"/>
          </a:p>
        </p:txBody>
      </p:sp>
      <p:sp>
        <p:nvSpPr>
          <p:cNvPr id="4" name="Text 2"/>
          <p:cNvSpPr/>
          <p:nvPr/>
        </p:nvSpPr>
        <p:spPr>
          <a:xfrm>
            <a:off x="365760" y="502920"/>
            <a:ext cx="7772400" cy="347472"/>
          </a:xfrm>
          <a:prstGeom prst="rect">
            <a:avLst/>
          </a:prstGeom>
          <a:noFill/>
          <a:ln/>
        </p:spPr>
        <p:txBody>
          <a:bodyPr wrap="square" lIns="0" tIns="0" rIns="0" bIns="0" rtlCol="0" anchor="t"/>
          <a:lstStyle/>
          <a:p>
            <a:pPr indent="0" marL="0">
              <a:buNone/>
            </a:pPr>
            <a:r>
              <a:rPr lang="en-US" sz="1300" i="1" dirty="0">
                <a:solidFill>
                  <a:srgbClr val="D4751B"/>
                </a:solidFill>
                <a:latin typeface="Calibri" pitchFamily="34" charset="0"/>
                <a:ea typeface="Calibri" pitchFamily="34" charset="-122"/>
                <a:cs typeface="Calibri" pitchFamily="34" charset="-120"/>
              </a:rPr>
              <a:t>Normal operations – just before the incident</a:t>
            </a:r>
            <a:endParaRPr lang="en-US" sz="1300" dirty="0"/>
          </a:p>
        </p:txBody>
      </p:sp>
      <p:sp>
        <p:nvSpPr>
          <p:cNvPr id="5" name="Text 3"/>
          <p:cNvSpPr/>
          <p:nvPr/>
        </p:nvSpPr>
        <p:spPr>
          <a:xfrm>
            <a:off x="0" y="4892040"/>
            <a:ext cx="9144000" cy="256032"/>
          </a:xfrm>
          <a:prstGeom prst="rect">
            <a:avLst/>
          </a:prstGeom>
          <a:noFill/>
          <a:ln/>
        </p:spPr>
        <p:txBody>
          <a:bodyPr wrap="square" lIns="0" tIns="0" rIns="2540" bIns="0" rtlCol="0" anchor="ctr"/>
          <a:lstStyle/>
          <a:p>
            <a:pPr algn="r" indent="0" marL="0">
              <a:buNone/>
            </a:pPr>
            <a:r>
              <a:rPr lang="en-US" sz="900" dirty="0">
                <a:solidFill>
                  <a:srgbClr val="D4751B"/>
                </a:solidFill>
                <a:latin typeface="Calibri" pitchFamily="34" charset="0"/>
                <a:ea typeface="Calibri" pitchFamily="34" charset="-122"/>
                <a:cs typeface="Calibri" pitchFamily="34" charset="-120"/>
              </a:rPr>
              <a:t>Incident Response Role Play  |  Group 3  |  IAB246</a:t>
            </a:r>
            <a:endParaRPr lang="en-US" sz="900" dirty="0"/>
          </a:p>
        </p:txBody>
      </p:sp>
      <p:sp>
        <p:nvSpPr>
          <p:cNvPr id="6" name="Shape 4"/>
          <p:cNvSpPr/>
          <p:nvPr/>
        </p:nvSpPr>
        <p:spPr>
          <a:xfrm>
            <a:off x="274320" y="987552"/>
            <a:ext cx="8595360" cy="320040"/>
          </a:xfrm>
          <a:prstGeom prst="rect">
            <a:avLst/>
          </a:prstGeom>
          <a:solidFill>
            <a:srgbClr val="1A3054"/>
          </a:solidFill>
          <a:ln w="12700">
            <a:solidFill>
              <a:srgbClr val="1A3054"/>
            </a:solidFill>
            <a:prstDash val="solid"/>
          </a:ln>
        </p:spPr>
      </p:sp>
      <p:sp>
        <p:nvSpPr>
          <p:cNvPr id="7" name="Text 5"/>
          <p:cNvSpPr/>
          <p:nvPr/>
        </p:nvSpPr>
        <p:spPr>
          <a:xfrm>
            <a:off x="365760" y="987552"/>
            <a:ext cx="841248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Wednesday 14 May 2025, 09:10 AEST  |  All systems operational</a:t>
            </a:r>
            <a:endParaRPr lang="en-US" sz="1100" dirty="0"/>
          </a:p>
        </p:txBody>
      </p:sp>
      <p:sp>
        <p:nvSpPr>
          <p:cNvPr id="8" name="Text 6"/>
          <p:cNvSpPr/>
          <p:nvPr/>
        </p:nvSpPr>
        <p:spPr>
          <a:xfrm>
            <a:off x="274320" y="1371600"/>
            <a:ext cx="4114800" cy="256032"/>
          </a:xfrm>
          <a:prstGeom prst="rect">
            <a:avLst/>
          </a:prstGeom>
          <a:noFill/>
          <a:ln/>
        </p:spPr>
        <p:txBody>
          <a:bodyPr wrap="square" lIns="0" tIns="0" rIns="0" bIns="0" rtlCol="0" anchor="ctr"/>
          <a:lstStyle/>
          <a:p>
            <a:pPr indent="0" marL="0">
              <a:buNone/>
            </a:pPr>
            <a:r>
              <a:rPr lang="en-US" sz="1100" b="1" dirty="0">
                <a:solidFill>
                  <a:srgbClr val="1A3054"/>
                </a:solidFill>
                <a:latin typeface="Calibri" pitchFamily="34" charset="0"/>
                <a:ea typeface="Calibri" pitchFamily="34" charset="-122"/>
                <a:cs typeface="Calibri" pitchFamily="34" charset="-120"/>
              </a:rPr>
              <a:t>System Status Dashboard – Pre-Incident</a:t>
            </a:r>
            <a:endParaRPr lang="en-US" sz="1100" dirty="0"/>
          </a:p>
        </p:txBody>
      </p:sp>
      <p:sp>
        <p:nvSpPr>
          <p:cNvPr id="9" name="Shape 7"/>
          <p:cNvSpPr/>
          <p:nvPr/>
        </p:nvSpPr>
        <p:spPr>
          <a:xfrm>
            <a:off x="274320" y="1664208"/>
            <a:ext cx="1965960" cy="566928"/>
          </a:xfrm>
          <a:prstGeom prst="rect">
            <a:avLst/>
          </a:prstGeom>
          <a:solidFill>
            <a:srgbClr val="1E5C38"/>
          </a:solidFill>
          <a:ln w="12700">
            <a:solidFill>
              <a:srgbClr val="1E5C38"/>
            </a:solidFill>
            <a:prstDash val="solid"/>
          </a:ln>
        </p:spPr>
      </p:sp>
      <p:sp>
        <p:nvSpPr>
          <p:cNvPr id="10" name="Text 8"/>
          <p:cNvSpPr/>
          <p:nvPr/>
        </p:nvSpPr>
        <p:spPr>
          <a:xfrm>
            <a:off x="320040" y="1682496"/>
            <a:ext cx="187452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OPERATIONAL</a:t>
            </a:r>
            <a:endParaRPr lang="en-US" sz="800" dirty="0"/>
          </a:p>
        </p:txBody>
      </p:sp>
      <p:sp>
        <p:nvSpPr>
          <p:cNvPr id="11" name="Text 9"/>
          <p:cNvSpPr/>
          <p:nvPr/>
        </p:nvSpPr>
        <p:spPr>
          <a:xfrm>
            <a:off x="320040" y="1865376"/>
            <a:ext cx="1874520" cy="201168"/>
          </a:xfrm>
          <a:prstGeom prst="rect">
            <a:avLst/>
          </a:prstGeom>
          <a:noFill/>
          <a:ln/>
        </p:spPr>
        <p:txBody>
          <a:bodyPr wrap="square" lIns="0" tIns="0" rIns="0" bIns="0" rtlCol="0" anchor="ctr"/>
          <a:lstStyle/>
          <a:p>
            <a:pPr algn="ctr" indent="0" marL="0">
              <a:buNone/>
            </a:pPr>
            <a:r>
              <a:rPr lang="en-US" sz="950" b="1" dirty="0">
                <a:solidFill>
                  <a:srgbClr val="D4751B"/>
                </a:solidFill>
                <a:latin typeface="Calibri" pitchFamily="34" charset="0"/>
                <a:ea typeface="Calibri" pitchFamily="34" charset="-122"/>
                <a:cs typeface="Calibri" pitchFamily="34" charset="-120"/>
              </a:rPr>
              <a:t>EHR System</a:t>
            </a:r>
            <a:endParaRPr lang="en-US" sz="950" dirty="0"/>
          </a:p>
        </p:txBody>
      </p:sp>
      <p:sp>
        <p:nvSpPr>
          <p:cNvPr id="12" name="Text 10"/>
          <p:cNvSpPr/>
          <p:nvPr/>
        </p:nvSpPr>
        <p:spPr>
          <a:xfrm>
            <a:off x="320040" y="2029968"/>
            <a:ext cx="1874520" cy="18288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All services nominal</a:t>
            </a:r>
            <a:endParaRPr lang="en-US" sz="800" dirty="0"/>
          </a:p>
        </p:txBody>
      </p:sp>
      <p:sp>
        <p:nvSpPr>
          <p:cNvPr id="13" name="Shape 11"/>
          <p:cNvSpPr/>
          <p:nvPr/>
        </p:nvSpPr>
        <p:spPr>
          <a:xfrm>
            <a:off x="2377440" y="1664208"/>
            <a:ext cx="1965960" cy="566928"/>
          </a:xfrm>
          <a:prstGeom prst="rect">
            <a:avLst/>
          </a:prstGeom>
          <a:solidFill>
            <a:srgbClr val="1E5C38"/>
          </a:solidFill>
          <a:ln w="12700">
            <a:solidFill>
              <a:srgbClr val="1E5C38"/>
            </a:solidFill>
            <a:prstDash val="solid"/>
          </a:ln>
        </p:spPr>
      </p:sp>
      <p:sp>
        <p:nvSpPr>
          <p:cNvPr id="14" name="Text 12"/>
          <p:cNvSpPr/>
          <p:nvPr/>
        </p:nvSpPr>
        <p:spPr>
          <a:xfrm>
            <a:off x="2423160" y="1682496"/>
            <a:ext cx="187452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OPERATIONAL</a:t>
            </a:r>
            <a:endParaRPr lang="en-US" sz="800" dirty="0"/>
          </a:p>
        </p:txBody>
      </p:sp>
      <p:sp>
        <p:nvSpPr>
          <p:cNvPr id="15" name="Text 13"/>
          <p:cNvSpPr/>
          <p:nvPr/>
        </p:nvSpPr>
        <p:spPr>
          <a:xfrm>
            <a:off x="2423160" y="1865376"/>
            <a:ext cx="1874520" cy="201168"/>
          </a:xfrm>
          <a:prstGeom prst="rect">
            <a:avLst/>
          </a:prstGeom>
          <a:noFill/>
          <a:ln/>
        </p:spPr>
        <p:txBody>
          <a:bodyPr wrap="square" lIns="0" tIns="0" rIns="0" bIns="0" rtlCol="0" anchor="ctr"/>
          <a:lstStyle/>
          <a:p>
            <a:pPr algn="ctr" indent="0" marL="0">
              <a:buNone/>
            </a:pPr>
            <a:r>
              <a:rPr lang="en-US" sz="950" b="1" dirty="0">
                <a:solidFill>
                  <a:srgbClr val="D4751B"/>
                </a:solidFill>
                <a:latin typeface="Calibri" pitchFamily="34" charset="0"/>
                <a:ea typeface="Calibri" pitchFamily="34" charset="-122"/>
                <a:cs typeface="Calibri" pitchFamily="34" charset="-120"/>
              </a:rPr>
              <a:t>Microsoft Entra ID</a:t>
            </a:r>
            <a:endParaRPr lang="en-US" sz="950" dirty="0"/>
          </a:p>
        </p:txBody>
      </p:sp>
      <p:sp>
        <p:nvSpPr>
          <p:cNvPr id="16" name="Text 14"/>
          <p:cNvSpPr/>
          <p:nvPr/>
        </p:nvSpPr>
        <p:spPr>
          <a:xfrm>
            <a:off x="2423160" y="2029968"/>
            <a:ext cx="1874520" cy="18288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Auth normal – 45 staff active</a:t>
            </a:r>
            <a:endParaRPr lang="en-US" sz="800" dirty="0"/>
          </a:p>
        </p:txBody>
      </p:sp>
      <p:sp>
        <p:nvSpPr>
          <p:cNvPr id="17" name="Shape 15"/>
          <p:cNvSpPr/>
          <p:nvPr/>
        </p:nvSpPr>
        <p:spPr>
          <a:xfrm>
            <a:off x="274320" y="2322576"/>
            <a:ext cx="1965960" cy="566928"/>
          </a:xfrm>
          <a:prstGeom prst="rect">
            <a:avLst/>
          </a:prstGeom>
          <a:solidFill>
            <a:srgbClr val="1E5C38"/>
          </a:solidFill>
          <a:ln w="12700">
            <a:solidFill>
              <a:srgbClr val="1E5C38"/>
            </a:solidFill>
            <a:prstDash val="solid"/>
          </a:ln>
        </p:spPr>
      </p:sp>
      <p:sp>
        <p:nvSpPr>
          <p:cNvPr id="18" name="Text 16"/>
          <p:cNvSpPr/>
          <p:nvPr/>
        </p:nvSpPr>
        <p:spPr>
          <a:xfrm>
            <a:off x="320040" y="2340864"/>
            <a:ext cx="187452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OPERATIONAL</a:t>
            </a:r>
            <a:endParaRPr lang="en-US" sz="800" dirty="0"/>
          </a:p>
        </p:txBody>
      </p:sp>
      <p:sp>
        <p:nvSpPr>
          <p:cNvPr id="19" name="Text 17"/>
          <p:cNvSpPr/>
          <p:nvPr/>
        </p:nvSpPr>
        <p:spPr>
          <a:xfrm>
            <a:off x="320040" y="2523744"/>
            <a:ext cx="1874520" cy="201168"/>
          </a:xfrm>
          <a:prstGeom prst="rect">
            <a:avLst/>
          </a:prstGeom>
          <a:noFill/>
          <a:ln/>
        </p:spPr>
        <p:txBody>
          <a:bodyPr wrap="square" lIns="0" tIns="0" rIns="0" bIns="0" rtlCol="0" anchor="ctr"/>
          <a:lstStyle/>
          <a:p>
            <a:pPr algn="ctr" indent="0" marL="0">
              <a:buNone/>
            </a:pPr>
            <a:r>
              <a:rPr lang="en-US" sz="950" b="1" dirty="0">
                <a:solidFill>
                  <a:srgbClr val="D4751B"/>
                </a:solidFill>
                <a:latin typeface="Calibri" pitchFamily="34" charset="0"/>
                <a:ea typeface="Calibri" pitchFamily="34" charset="-122"/>
                <a:cs typeface="Calibri" pitchFamily="34" charset="-120"/>
              </a:rPr>
              <a:t>Clinical Workstations</a:t>
            </a:r>
            <a:endParaRPr lang="en-US" sz="950" dirty="0"/>
          </a:p>
        </p:txBody>
      </p:sp>
      <p:sp>
        <p:nvSpPr>
          <p:cNvPr id="20" name="Text 18"/>
          <p:cNvSpPr/>
          <p:nvPr/>
        </p:nvSpPr>
        <p:spPr>
          <a:xfrm>
            <a:off x="320040" y="2688336"/>
            <a:ext cx="1874520" cy="18288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Last backup: 02:00 AEST</a:t>
            </a:r>
            <a:endParaRPr lang="en-US" sz="800" dirty="0"/>
          </a:p>
        </p:txBody>
      </p:sp>
      <p:sp>
        <p:nvSpPr>
          <p:cNvPr id="21" name="Shape 19"/>
          <p:cNvSpPr/>
          <p:nvPr/>
        </p:nvSpPr>
        <p:spPr>
          <a:xfrm>
            <a:off x="2377440" y="2322576"/>
            <a:ext cx="1965960" cy="566928"/>
          </a:xfrm>
          <a:prstGeom prst="rect">
            <a:avLst/>
          </a:prstGeom>
          <a:solidFill>
            <a:srgbClr val="1E5C38"/>
          </a:solidFill>
          <a:ln w="12700">
            <a:solidFill>
              <a:srgbClr val="1E5C38"/>
            </a:solidFill>
            <a:prstDash val="solid"/>
          </a:ln>
        </p:spPr>
      </p:sp>
      <p:sp>
        <p:nvSpPr>
          <p:cNvPr id="22" name="Text 20"/>
          <p:cNvSpPr/>
          <p:nvPr/>
        </p:nvSpPr>
        <p:spPr>
          <a:xfrm>
            <a:off x="2423160" y="2340864"/>
            <a:ext cx="187452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OPERATIONAL</a:t>
            </a:r>
            <a:endParaRPr lang="en-US" sz="800" dirty="0"/>
          </a:p>
        </p:txBody>
      </p:sp>
      <p:sp>
        <p:nvSpPr>
          <p:cNvPr id="23" name="Text 21"/>
          <p:cNvSpPr/>
          <p:nvPr/>
        </p:nvSpPr>
        <p:spPr>
          <a:xfrm>
            <a:off x="2423160" y="2523744"/>
            <a:ext cx="1874520" cy="201168"/>
          </a:xfrm>
          <a:prstGeom prst="rect">
            <a:avLst/>
          </a:prstGeom>
          <a:noFill/>
          <a:ln/>
        </p:spPr>
        <p:txBody>
          <a:bodyPr wrap="square" lIns="0" tIns="0" rIns="0" bIns="0" rtlCol="0" anchor="ctr"/>
          <a:lstStyle/>
          <a:p>
            <a:pPr algn="ctr" indent="0" marL="0">
              <a:buNone/>
            </a:pPr>
            <a:r>
              <a:rPr lang="en-US" sz="950" b="1" dirty="0">
                <a:solidFill>
                  <a:srgbClr val="D4751B"/>
                </a:solidFill>
                <a:latin typeface="Calibri" pitchFamily="34" charset="0"/>
                <a:ea typeface="Calibri" pitchFamily="34" charset="-122"/>
                <a:cs typeface="Calibri" pitchFamily="34" charset="-120"/>
              </a:rPr>
              <a:t>Network Perimeter</a:t>
            </a:r>
            <a:endParaRPr lang="en-US" sz="950" dirty="0"/>
          </a:p>
        </p:txBody>
      </p:sp>
      <p:sp>
        <p:nvSpPr>
          <p:cNvPr id="24" name="Text 22"/>
          <p:cNvSpPr/>
          <p:nvPr/>
        </p:nvSpPr>
        <p:spPr>
          <a:xfrm>
            <a:off x="2423160" y="2688336"/>
            <a:ext cx="1874520" cy="18288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Firewall – no alerts</a:t>
            </a:r>
            <a:endParaRPr lang="en-US" sz="800" dirty="0"/>
          </a:p>
        </p:txBody>
      </p:sp>
      <p:sp>
        <p:nvSpPr>
          <p:cNvPr id="25" name="Shape 23"/>
          <p:cNvSpPr/>
          <p:nvPr/>
        </p:nvSpPr>
        <p:spPr>
          <a:xfrm>
            <a:off x="274320" y="2980944"/>
            <a:ext cx="1965960" cy="566928"/>
          </a:xfrm>
          <a:prstGeom prst="rect">
            <a:avLst/>
          </a:prstGeom>
          <a:solidFill>
            <a:srgbClr val="1E5C38"/>
          </a:solidFill>
          <a:ln w="12700">
            <a:solidFill>
              <a:srgbClr val="1E5C38"/>
            </a:solidFill>
            <a:prstDash val="solid"/>
          </a:ln>
        </p:spPr>
      </p:sp>
      <p:sp>
        <p:nvSpPr>
          <p:cNvPr id="26" name="Text 24"/>
          <p:cNvSpPr/>
          <p:nvPr/>
        </p:nvSpPr>
        <p:spPr>
          <a:xfrm>
            <a:off x="320040" y="2999232"/>
            <a:ext cx="187452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OPERATIONAL</a:t>
            </a:r>
            <a:endParaRPr lang="en-US" sz="800" dirty="0"/>
          </a:p>
        </p:txBody>
      </p:sp>
      <p:sp>
        <p:nvSpPr>
          <p:cNvPr id="27" name="Text 25"/>
          <p:cNvSpPr/>
          <p:nvPr/>
        </p:nvSpPr>
        <p:spPr>
          <a:xfrm>
            <a:off x="320040" y="3182112"/>
            <a:ext cx="1874520" cy="201168"/>
          </a:xfrm>
          <a:prstGeom prst="rect">
            <a:avLst/>
          </a:prstGeom>
          <a:noFill/>
          <a:ln/>
        </p:spPr>
        <p:txBody>
          <a:bodyPr wrap="square" lIns="0" tIns="0" rIns="0" bIns="0" rtlCol="0" anchor="ctr"/>
          <a:lstStyle/>
          <a:p>
            <a:pPr algn="ctr" indent="0" marL="0">
              <a:buNone/>
            </a:pPr>
            <a:r>
              <a:rPr lang="en-US" sz="950" b="1" dirty="0">
                <a:solidFill>
                  <a:srgbClr val="D4751B"/>
                </a:solidFill>
                <a:latin typeface="Calibri" pitchFamily="34" charset="0"/>
                <a:ea typeface="Calibri" pitchFamily="34" charset="-122"/>
                <a:cs typeface="Calibri" pitchFamily="34" charset="-120"/>
              </a:rPr>
              <a:t>Identity Provider (IdP)</a:t>
            </a:r>
            <a:endParaRPr lang="en-US" sz="950" dirty="0"/>
          </a:p>
        </p:txBody>
      </p:sp>
      <p:sp>
        <p:nvSpPr>
          <p:cNvPr id="28" name="Text 26"/>
          <p:cNvSpPr/>
          <p:nvPr/>
        </p:nvSpPr>
        <p:spPr>
          <a:xfrm>
            <a:off x="320040" y="3346704"/>
            <a:ext cx="1874520" cy="18288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MFA logging active</a:t>
            </a:r>
            <a:endParaRPr lang="en-US" sz="800" dirty="0"/>
          </a:p>
        </p:txBody>
      </p:sp>
      <p:sp>
        <p:nvSpPr>
          <p:cNvPr id="29" name="Shape 27"/>
          <p:cNvSpPr/>
          <p:nvPr/>
        </p:nvSpPr>
        <p:spPr>
          <a:xfrm>
            <a:off x="2377440" y="2980944"/>
            <a:ext cx="1965960" cy="566928"/>
          </a:xfrm>
          <a:prstGeom prst="rect">
            <a:avLst/>
          </a:prstGeom>
          <a:solidFill>
            <a:srgbClr val="1E5C38"/>
          </a:solidFill>
          <a:ln w="12700">
            <a:solidFill>
              <a:srgbClr val="1E5C38"/>
            </a:solidFill>
            <a:prstDash val="solid"/>
          </a:ln>
        </p:spPr>
      </p:sp>
      <p:sp>
        <p:nvSpPr>
          <p:cNvPr id="30" name="Text 28"/>
          <p:cNvSpPr/>
          <p:nvPr/>
        </p:nvSpPr>
        <p:spPr>
          <a:xfrm>
            <a:off x="2423160" y="2999232"/>
            <a:ext cx="187452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OPERATIONAL</a:t>
            </a:r>
            <a:endParaRPr lang="en-US" sz="800" dirty="0"/>
          </a:p>
        </p:txBody>
      </p:sp>
      <p:sp>
        <p:nvSpPr>
          <p:cNvPr id="31" name="Text 29"/>
          <p:cNvSpPr/>
          <p:nvPr/>
        </p:nvSpPr>
        <p:spPr>
          <a:xfrm>
            <a:off x="2423160" y="3182112"/>
            <a:ext cx="1874520" cy="201168"/>
          </a:xfrm>
          <a:prstGeom prst="rect">
            <a:avLst/>
          </a:prstGeom>
          <a:noFill/>
          <a:ln/>
        </p:spPr>
        <p:txBody>
          <a:bodyPr wrap="square" lIns="0" tIns="0" rIns="0" bIns="0" rtlCol="0" anchor="ctr"/>
          <a:lstStyle/>
          <a:p>
            <a:pPr algn="ctr" indent="0" marL="0">
              <a:buNone/>
            </a:pPr>
            <a:r>
              <a:rPr lang="en-US" sz="950" b="1" dirty="0">
                <a:solidFill>
                  <a:srgbClr val="D4751B"/>
                </a:solidFill>
                <a:latin typeface="Calibri" pitchFamily="34" charset="0"/>
                <a:ea typeface="Calibri" pitchFamily="34" charset="-122"/>
                <a:cs typeface="Calibri" pitchFamily="34" charset="-120"/>
              </a:rPr>
              <a:t>Backup Systems</a:t>
            </a:r>
            <a:endParaRPr lang="en-US" sz="950" dirty="0"/>
          </a:p>
        </p:txBody>
      </p:sp>
      <p:sp>
        <p:nvSpPr>
          <p:cNvPr id="32" name="Text 30"/>
          <p:cNvSpPr/>
          <p:nvPr/>
        </p:nvSpPr>
        <p:spPr>
          <a:xfrm>
            <a:off x="2423160" y="3346704"/>
            <a:ext cx="1874520" cy="18288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Current – verified 07:00</a:t>
            </a:r>
            <a:endParaRPr lang="en-US" sz="800" dirty="0"/>
          </a:p>
        </p:txBody>
      </p:sp>
      <p:sp>
        <p:nvSpPr>
          <p:cNvPr id="33" name="Shape 31"/>
          <p:cNvSpPr/>
          <p:nvPr/>
        </p:nvSpPr>
        <p:spPr>
          <a:xfrm>
            <a:off x="4663440" y="1371600"/>
            <a:ext cx="4206240" cy="1463040"/>
          </a:xfrm>
          <a:prstGeom prst="rect">
            <a:avLst/>
          </a:prstGeom>
          <a:solidFill>
            <a:srgbClr val="027A8A"/>
          </a:solidFill>
          <a:ln w="12700">
            <a:solidFill>
              <a:srgbClr val="027A8A"/>
            </a:solidFill>
            <a:prstDash val="solid"/>
          </a:ln>
        </p:spPr>
      </p:sp>
      <p:sp>
        <p:nvSpPr>
          <p:cNvPr id="34" name="Text 32"/>
          <p:cNvSpPr/>
          <p:nvPr/>
        </p:nvSpPr>
        <p:spPr>
          <a:xfrm>
            <a:off x="4754880" y="1389888"/>
            <a:ext cx="402336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 Typical Morning</a:t>
            </a:r>
            <a:endParaRPr lang="en-US" sz="1200" dirty="0"/>
          </a:p>
        </p:txBody>
      </p:sp>
      <p:sp>
        <p:nvSpPr>
          <p:cNvPr id="35" name="Text 33"/>
          <p:cNvSpPr/>
          <p:nvPr/>
        </p:nvSpPr>
        <p:spPr>
          <a:xfrm>
            <a:off x="4754880" y="1719072"/>
            <a:ext cx="4023360" cy="1051560"/>
          </a:xfrm>
          <a:prstGeom prst="rect">
            <a:avLst/>
          </a:prstGeom>
          <a:noFill/>
          <a:ln/>
        </p:spPr>
        <p:txBody>
          <a:bodyPr wrap="square" lIns="0" tIns="0" rIns="0" bIns="0" rtlCol="0" anchor="t"/>
          <a:lstStyle/>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All 45 staff log in using Microsoft Entra ID – authentication normal</a:t>
            </a:r>
            <a:endParaRPr lang="en-US" sz="1000" dirty="0"/>
          </a:p>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Clinicians access EHR system to review morning appointment records</a:t>
            </a:r>
            <a:endParaRPr lang="en-US" sz="1000" dirty="0"/>
          </a:p>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Admin team processing overnight referral documents and billing</a:t>
            </a:r>
            <a:endParaRPr lang="en-US" sz="1000" dirty="0"/>
          </a:p>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IT team conducting routine patch review on clinical workstations</a:t>
            </a:r>
            <a:endParaRPr lang="en-US" sz="1000" dirty="0"/>
          </a:p>
        </p:txBody>
      </p:sp>
      <p:sp>
        <p:nvSpPr>
          <p:cNvPr id="36" name="Shape 34"/>
          <p:cNvSpPr/>
          <p:nvPr/>
        </p:nvSpPr>
        <p:spPr>
          <a:xfrm>
            <a:off x="4663440" y="2907792"/>
            <a:ext cx="4206240" cy="1325880"/>
          </a:xfrm>
          <a:prstGeom prst="rect">
            <a:avLst/>
          </a:prstGeom>
          <a:solidFill>
            <a:srgbClr val="FFFBE6"/>
          </a:solidFill>
          <a:ln w="12700">
            <a:solidFill>
              <a:srgbClr val="C55A11"/>
            </a:solidFill>
            <a:prstDash val="solid"/>
          </a:ln>
        </p:spPr>
      </p:sp>
      <p:sp>
        <p:nvSpPr>
          <p:cNvPr id="37" name="Shape 35"/>
          <p:cNvSpPr/>
          <p:nvPr/>
        </p:nvSpPr>
        <p:spPr>
          <a:xfrm>
            <a:off x="4663440" y="2907792"/>
            <a:ext cx="73152" cy="1325880"/>
          </a:xfrm>
          <a:prstGeom prst="rect">
            <a:avLst/>
          </a:prstGeom>
          <a:solidFill>
            <a:srgbClr val="C55A11"/>
          </a:solidFill>
          <a:ln w="12700">
            <a:solidFill>
              <a:srgbClr val="C55A11"/>
            </a:solidFill>
            <a:prstDash val="solid"/>
          </a:ln>
        </p:spPr>
      </p:sp>
      <p:sp>
        <p:nvSpPr>
          <p:cNvPr id="38" name="Text 36"/>
          <p:cNvSpPr/>
          <p:nvPr/>
        </p:nvSpPr>
        <p:spPr>
          <a:xfrm>
            <a:off x="4800600" y="2926080"/>
            <a:ext cx="3931920" cy="228600"/>
          </a:xfrm>
          <a:prstGeom prst="rect">
            <a:avLst/>
          </a:prstGeom>
          <a:noFill/>
          <a:ln/>
        </p:spPr>
        <p:txBody>
          <a:bodyPr wrap="square" lIns="0" tIns="0" rIns="0" bIns="0" rtlCol="0" anchor="ctr"/>
          <a:lstStyle/>
          <a:p>
            <a:pPr indent="0" marL="0">
              <a:buNone/>
            </a:pPr>
            <a:r>
              <a:rPr lang="en-US" sz="1000" b="1" dirty="0">
                <a:solidFill>
                  <a:srgbClr val="C55A11"/>
                </a:solidFill>
                <a:latin typeface="Calibri" pitchFamily="34" charset="0"/>
                <a:ea typeface="Calibri" pitchFamily="34" charset="-122"/>
                <a:cs typeface="Calibri" pitchFamily="34" charset="-120"/>
              </a:rPr>
              <a:t>Unbeknownst to the team:</a:t>
            </a:r>
            <a:endParaRPr lang="en-US" sz="1000" dirty="0"/>
          </a:p>
        </p:txBody>
      </p:sp>
      <p:sp>
        <p:nvSpPr>
          <p:cNvPr id="39" name="Text 37"/>
          <p:cNvSpPr/>
          <p:nvPr/>
        </p:nvSpPr>
        <p:spPr>
          <a:xfrm>
            <a:off x="4800600" y="3182112"/>
            <a:ext cx="3977640" cy="1005840"/>
          </a:xfrm>
          <a:prstGeom prst="rect">
            <a:avLst/>
          </a:prstGeom>
          <a:noFill/>
          <a:ln/>
        </p:spPr>
        <p:txBody>
          <a:bodyPr wrap="square" lIns="0" tIns="0" rIns="0" bIns="0" rtlCol="0" anchor="t"/>
          <a:lstStyle/>
          <a:p>
            <a:pPr indent="0" marL="0">
              <a:buNone/>
            </a:pPr>
            <a:r>
              <a:rPr lang="en-US" sz="1000" dirty="0">
                <a:solidFill>
                  <a:srgbClr val="1A2737"/>
                </a:solidFill>
                <a:latin typeface="Calibri" pitchFamily="34" charset="0"/>
                <a:ea typeface="Calibri" pitchFamily="34" charset="-122"/>
                <a:cs typeface="Calibri" pitchFamily="34" charset="-120"/>
              </a:rPr>
              <a:t>A threat actor had been running an automated RDP brute-force campaign against the clinic's internet-exposed RDP endpoint (port 3389) since 06:41 AEST. After 3,847 failed login attempts, they successfully authenticated using a weak service account password and began silent reconnaissance of the internal network — completely undetected.</a:t>
            </a:r>
            <a:endParaRPr lang="en-US" sz="1000" dirty="0"/>
          </a:p>
        </p:txBody>
      </p:sp>
      <p:sp>
        <p:nvSpPr>
          <p:cNvPr id="40" name="Text 38"/>
          <p:cNvSpPr/>
          <p:nvPr/>
        </p:nvSpPr>
        <p:spPr>
          <a:xfrm>
            <a:off x="274320" y="4462272"/>
            <a:ext cx="8595360" cy="201168"/>
          </a:xfrm>
          <a:prstGeom prst="rect">
            <a:avLst/>
          </a:prstGeom>
          <a:noFill/>
          <a:ln/>
        </p:spPr>
        <p:txBody>
          <a:bodyPr wrap="square" lIns="0" tIns="0" rIns="0" bIns="0" rtlCol="0" anchor="ctr"/>
          <a:lstStyle/>
          <a:p>
            <a:pPr indent="0" marL="0">
              <a:buNone/>
            </a:pPr>
            <a:r>
              <a:rPr lang="en-US" sz="850" i="1" dirty="0">
                <a:solidFill>
                  <a:srgbClr val="6B7A8D"/>
                </a:solidFill>
                <a:latin typeface="Calibri" pitchFamily="34" charset="0"/>
                <a:ea typeface="Calibri" pitchFamily="34" charset="-122"/>
                <a:cs typeface="Calibri" pitchFamily="34" charset="-120"/>
              </a:rPr>
              <a:t>Role: All members — Nanami Fujita (IR Lead) leads narration</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9"/>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C0392B"/>
          </a:solidFill>
          <a:ln w="12700">
            <a:solidFill>
              <a:srgbClr val="C0392B"/>
            </a:solidFill>
            <a:prstDash val="solid"/>
          </a:ln>
        </p:spPr>
      </p:sp>
      <p:sp>
        <p:nvSpPr>
          <p:cNvPr id="3" name="Text 1"/>
          <p:cNvSpPr/>
          <p:nvPr/>
        </p:nvSpPr>
        <p:spPr>
          <a:xfrm>
            <a:off x="365760" y="54864"/>
            <a:ext cx="7772400" cy="47548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  INCIDENT DETECTED — RDP Brute Force → EHR Compromise</a:t>
            </a:r>
            <a:endParaRPr lang="en-US" sz="2000" dirty="0"/>
          </a:p>
        </p:txBody>
      </p:sp>
      <p:sp>
        <p:nvSpPr>
          <p:cNvPr id="4" name="Text 2"/>
          <p:cNvSpPr/>
          <p:nvPr/>
        </p:nvSpPr>
        <p:spPr>
          <a:xfrm>
            <a:off x="365760" y="512064"/>
            <a:ext cx="7772400" cy="329184"/>
          </a:xfrm>
          <a:prstGeom prst="rect">
            <a:avLst/>
          </a:prstGeom>
          <a:noFill/>
          <a:ln/>
        </p:spPr>
        <p:txBody>
          <a:bodyPr wrap="square" lIns="0" tIns="0" rIns="0" bIns="0" rtlCol="0" anchor="t"/>
          <a:lstStyle/>
          <a:p>
            <a:pPr indent="0" marL="0">
              <a:buNone/>
            </a:pPr>
            <a:r>
              <a:rPr lang="en-US" sz="1300" dirty="0">
                <a:solidFill>
                  <a:srgbClr val="FFCCCC"/>
                </a:solidFill>
                <a:latin typeface="Calibri" pitchFamily="34" charset="0"/>
                <a:ea typeface="Calibri" pitchFamily="34" charset="-122"/>
                <a:cs typeface="Calibri" pitchFamily="34" charset="-120"/>
              </a:rPr>
              <a:t>SEV 1 – CRITICAL  |  DECLARED</a:t>
            </a:r>
            <a:endParaRPr lang="en-US" sz="1300" dirty="0"/>
          </a:p>
        </p:txBody>
      </p:sp>
      <p:sp>
        <p:nvSpPr>
          <p:cNvPr id="5" name="Text 3"/>
          <p:cNvSpPr/>
          <p:nvPr/>
        </p:nvSpPr>
        <p:spPr>
          <a:xfrm>
            <a:off x="0" y="4892040"/>
            <a:ext cx="9144000" cy="256032"/>
          </a:xfrm>
          <a:prstGeom prst="rect">
            <a:avLst/>
          </a:prstGeom>
          <a:noFill/>
          <a:ln/>
        </p:spPr>
        <p:txBody>
          <a:bodyPr wrap="square" lIns="0" tIns="0" rIns="2540" bIns="0" rtlCol="0" anchor="ctr"/>
          <a:lstStyle/>
          <a:p>
            <a:pPr algn="r" indent="0" marL="0">
              <a:buNone/>
            </a:pPr>
            <a:r>
              <a:rPr lang="en-US" sz="900" dirty="0">
                <a:solidFill>
                  <a:srgbClr val="D4751B"/>
                </a:solidFill>
                <a:latin typeface="Calibri" pitchFamily="34" charset="0"/>
                <a:ea typeface="Calibri" pitchFamily="34" charset="-122"/>
                <a:cs typeface="Calibri" pitchFamily="34" charset="-120"/>
              </a:rPr>
              <a:t>Incident Response Role Play  |  Group 3  |  IAB246</a:t>
            </a:r>
            <a:endParaRPr lang="en-US" sz="900" dirty="0"/>
          </a:p>
        </p:txBody>
      </p:sp>
      <p:sp>
        <p:nvSpPr>
          <p:cNvPr id="6" name="Shape 4"/>
          <p:cNvSpPr/>
          <p:nvPr/>
        </p:nvSpPr>
        <p:spPr>
          <a:xfrm>
            <a:off x="274320" y="1005840"/>
            <a:ext cx="8595360" cy="54864"/>
          </a:xfrm>
          <a:prstGeom prst="rect">
            <a:avLst/>
          </a:prstGeom>
          <a:solidFill>
            <a:srgbClr val="C0392B"/>
          </a:solidFill>
          <a:ln w="12700">
            <a:solidFill>
              <a:srgbClr val="C0392B"/>
            </a:solidFill>
            <a:prstDash val="solid"/>
          </a:ln>
        </p:spPr>
      </p:sp>
      <p:sp>
        <p:nvSpPr>
          <p:cNvPr id="7" name="Shape 5"/>
          <p:cNvSpPr/>
          <p:nvPr/>
        </p:nvSpPr>
        <p:spPr>
          <a:xfrm>
            <a:off x="502920" y="914400"/>
            <a:ext cx="237744" cy="237744"/>
          </a:xfrm>
          <a:prstGeom prst="ellipse">
            <a:avLst/>
          </a:prstGeom>
          <a:solidFill>
            <a:srgbClr val="C0392B"/>
          </a:solidFill>
          <a:ln w="12700">
            <a:solidFill>
              <a:srgbClr val="FFFFFF"/>
            </a:solidFill>
            <a:prstDash val="solid"/>
          </a:ln>
        </p:spPr>
      </p:sp>
      <p:sp>
        <p:nvSpPr>
          <p:cNvPr id="8" name="Text 6"/>
          <p:cNvSpPr/>
          <p:nvPr/>
        </p:nvSpPr>
        <p:spPr>
          <a:xfrm>
            <a:off x="45720" y="1188720"/>
            <a:ext cx="1188720" cy="201168"/>
          </a:xfrm>
          <a:prstGeom prst="rect">
            <a:avLst/>
          </a:prstGeom>
          <a:noFill/>
          <a:ln/>
        </p:spPr>
        <p:txBody>
          <a:bodyPr wrap="square" lIns="0" tIns="0" rIns="0" bIns="0"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T+00:00</a:t>
            </a:r>
            <a:endParaRPr lang="en-US" sz="900" dirty="0"/>
          </a:p>
        </p:txBody>
      </p:sp>
      <p:sp>
        <p:nvSpPr>
          <p:cNvPr id="9" name="Text 7"/>
          <p:cNvSpPr/>
          <p:nvPr/>
        </p:nvSpPr>
        <p:spPr>
          <a:xfrm>
            <a:off x="45720" y="1389888"/>
            <a:ext cx="1188720" cy="310896"/>
          </a:xfrm>
          <a:prstGeom prst="rect">
            <a:avLst/>
          </a:prstGeom>
          <a:noFill/>
          <a:ln/>
        </p:spPr>
        <p:txBody>
          <a:bodyPr wrap="square" lIns="0" tIns="0" rIns="0" bIns="0" rtlCol="0" anchor="ctr"/>
          <a:lstStyle/>
          <a:p>
            <a:pPr algn="ctr" indent="0" marL="0">
              <a:buNone/>
            </a:pPr>
            <a:r>
              <a:rPr lang="en-US" sz="850" dirty="0">
                <a:solidFill>
                  <a:srgbClr val="1A2737"/>
                </a:solidFill>
                <a:latin typeface="Calibri" pitchFamily="34" charset="0"/>
                <a:ea typeface="Calibri" pitchFamily="34" charset="-122"/>
                <a:cs typeface="Calibri" pitchFamily="34" charset="-120"/>
              </a:rPr>
              <a:t>SIEM alert</a:t>
            </a:r>
            <a:endParaRPr lang="en-US" sz="850" dirty="0"/>
          </a:p>
          <a:p>
            <a:pPr algn="ctr" indent="0" marL="0">
              <a:buNone/>
            </a:pPr>
            <a:r>
              <a:rPr lang="en-US" sz="850" dirty="0">
                <a:solidFill>
                  <a:srgbClr val="1A2737"/>
                </a:solidFill>
                <a:latin typeface="Calibri" pitchFamily="34" charset="0"/>
                <a:ea typeface="Calibri" pitchFamily="34" charset="-122"/>
                <a:cs typeface="Calibri" pitchFamily="34" charset="-120"/>
              </a:rPr>
              <a:t>fires 09:23</a:t>
            </a:r>
            <a:endParaRPr lang="en-US" sz="850" dirty="0"/>
          </a:p>
        </p:txBody>
      </p:sp>
      <p:sp>
        <p:nvSpPr>
          <p:cNvPr id="10" name="Shape 8"/>
          <p:cNvSpPr/>
          <p:nvPr/>
        </p:nvSpPr>
        <p:spPr>
          <a:xfrm>
            <a:off x="2167128" y="914400"/>
            <a:ext cx="237744" cy="237744"/>
          </a:xfrm>
          <a:prstGeom prst="ellipse">
            <a:avLst/>
          </a:prstGeom>
          <a:solidFill>
            <a:srgbClr val="C0392B"/>
          </a:solidFill>
          <a:ln w="12700">
            <a:solidFill>
              <a:srgbClr val="FFFFFF"/>
            </a:solidFill>
            <a:prstDash val="solid"/>
          </a:ln>
        </p:spPr>
      </p:sp>
      <p:sp>
        <p:nvSpPr>
          <p:cNvPr id="11" name="Text 9"/>
          <p:cNvSpPr/>
          <p:nvPr/>
        </p:nvSpPr>
        <p:spPr>
          <a:xfrm>
            <a:off x="1709928" y="1188720"/>
            <a:ext cx="1188720" cy="201168"/>
          </a:xfrm>
          <a:prstGeom prst="rect">
            <a:avLst/>
          </a:prstGeom>
          <a:noFill/>
          <a:ln/>
        </p:spPr>
        <p:txBody>
          <a:bodyPr wrap="square" lIns="0" tIns="0" rIns="0" bIns="0"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T+02 min</a:t>
            </a:r>
            <a:endParaRPr lang="en-US" sz="900" dirty="0"/>
          </a:p>
        </p:txBody>
      </p:sp>
      <p:sp>
        <p:nvSpPr>
          <p:cNvPr id="12" name="Text 10"/>
          <p:cNvSpPr/>
          <p:nvPr/>
        </p:nvSpPr>
        <p:spPr>
          <a:xfrm>
            <a:off x="1709928" y="1389888"/>
            <a:ext cx="1188720" cy="310896"/>
          </a:xfrm>
          <a:prstGeom prst="rect">
            <a:avLst/>
          </a:prstGeom>
          <a:noFill/>
          <a:ln/>
        </p:spPr>
        <p:txBody>
          <a:bodyPr wrap="square" lIns="0" tIns="0" rIns="0" bIns="0" rtlCol="0" anchor="ctr"/>
          <a:lstStyle/>
          <a:p>
            <a:pPr algn="ctr" indent="0" marL="0">
              <a:buNone/>
            </a:pPr>
            <a:r>
              <a:rPr lang="en-US" sz="850" dirty="0">
                <a:solidFill>
                  <a:srgbClr val="1A2737"/>
                </a:solidFill>
                <a:latin typeface="Calibri" pitchFamily="34" charset="0"/>
                <a:ea typeface="Calibri" pitchFamily="34" charset="-122"/>
                <a:cs typeface="Calibri" pitchFamily="34" charset="-120"/>
              </a:rPr>
              <a:t>IR Lead</a:t>
            </a:r>
            <a:endParaRPr lang="en-US" sz="850" dirty="0"/>
          </a:p>
          <a:p>
            <a:pPr algn="ctr" indent="0" marL="0">
              <a:buNone/>
            </a:pPr>
            <a:r>
              <a:rPr lang="en-US" sz="850" dirty="0">
                <a:solidFill>
                  <a:srgbClr val="1A2737"/>
                </a:solidFill>
                <a:latin typeface="Calibri" pitchFamily="34" charset="0"/>
                <a:ea typeface="Calibri" pitchFamily="34" charset="-122"/>
                <a:cs typeface="Calibri" pitchFamily="34" charset="-120"/>
              </a:rPr>
              <a:t>notified</a:t>
            </a:r>
            <a:endParaRPr lang="en-US" sz="850" dirty="0"/>
          </a:p>
        </p:txBody>
      </p:sp>
      <p:sp>
        <p:nvSpPr>
          <p:cNvPr id="13" name="Shape 11"/>
          <p:cNvSpPr/>
          <p:nvPr/>
        </p:nvSpPr>
        <p:spPr>
          <a:xfrm>
            <a:off x="3831336" y="914400"/>
            <a:ext cx="237744" cy="237744"/>
          </a:xfrm>
          <a:prstGeom prst="ellipse">
            <a:avLst/>
          </a:prstGeom>
          <a:solidFill>
            <a:srgbClr val="C0392B"/>
          </a:solidFill>
          <a:ln w="12700">
            <a:solidFill>
              <a:srgbClr val="FFFFFF"/>
            </a:solidFill>
            <a:prstDash val="solid"/>
          </a:ln>
        </p:spPr>
      </p:sp>
      <p:sp>
        <p:nvSpPr>
          <p:cNvPr id="14" name="Text 12"/>
          <p:cNvSpPr/>
          <p:nvPr/>
        </p:nvSpPr>
        <p:spPr>
          <a:xfrm>
            <a:off x="3374136" y="1188720"/>
            <a:ext cx="1188720" cy="201168"/>
          </a:xfrm>
          <a:prstGeom prst="rect">
            <a:avLst/>
          </a:prstGeom>
          <a:noFill/>
          <a:ln/>
        </p:spPr>
        <p:txBody>
          <a:bodyPr wrap="square" lIns="0" tIns="0" rIns="0" bIns="0"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T+05 min</a:t>
            </a:r>
            <a:endParaRPr lang="en-US" sz="900" dirty="0"/>
          </a:p>
        </p:txBody>
      </p:sp>
      <p:sp>
        <p:nvSpPr>
          <p:cNvPr id="15" name="Text 13"/>
          <p:cNvSpPr/>
          <p:nvPr/>
        </p:nvSpPr>
        <p:spPr>
          <a:xfrm>
            <a:off x="3374136" y="1389888"/>
            <a:ext cx="1188720" cy="310896"/>
          </a:xfrm>
          <a:prstGeom prst="rect">
            <a:avLst/>
          </a:prstGeom>
          <a:noFill/>
          <a:ln/>
        </p:spPr>
        <p:txBody>
          <a:bodyPr wrap="square" lIns="0" tIns="0" rIns="0" bIns="0" rtlCol="0" anchor="ctr"/>
          <a:lstStyle/>
          <a:p>
            <a:pPr algn="ctr" indent="0" marL="0">
              <a:buNone/>
            </a:pPr>
            <a:r>
              <a:rPr lang="en-US" sz="850" dirty="0">
                <a:solidFill>
                  <a:srgbClr val="1A2737"/>
                </a:solidFill>
                <a:latin typeface="Calibri" pitchFamily="34" charset="0"/>
                <a:ea typeface="Calibri" pitchFamily="34" charset="-122"/>
                <a:cs typeface="Calibri" pitchFamily="34" charset="-120"/>
              </a:rPr>
              <a:t>SEV 1</a:t>
            </a:r>
            <a:endParaRPr lang="en-US" sz="850" dirty="0"/>
          </a:p>
          <a:p>
            <a:pPr algn="ctr" indent="0" marL="0">
              <a:buNone/>
            </a:pPr>
            <a:r>
              <a:rPr lang="en-US" sz="850" dirty="0">
                <a:solidFill>
                  <a:srgbClr val="1A2737"/>
                </a:solidFill>
                <a:latin typeface="Calibri" pitchFamily="34" charset="0"/>
                <a:ea typeface="Calibri" pitchFamily="34" charset="-122"/>
                <a:cs typeface="Calibri" pitchFamily="34" charset="-120"/>
              </a:rPr>
              <a:t>declared</a:t>
            </a:r>
            <a:endParaRPr lang="en-US" sz="850" dirty="0"/>
          </a:p>
        </p:txBody>
      </p:sp>
      <p:sp>
        <p:nvSpPr>
          <p:cNvPr id="16" name="Shape 14"/>
          <p:cNvSpPr/>
          <p:nvPr/>
        </p:nvSpPr>
        <p:spPr>
          <a:xfrm>
            <a:off x="5495544" y="914400"/>
            <a:ext cx="237744" cy="237744"/>
          </a:xfrm>
          <a:prstGeom prst="ellipse">
            <a:avLst/>
          </a:prstGeom>
          <a:solidFill>
            <a:srgbClr val="C0392B"/>
          </a:solidFill>
          <a:ln w="12700">
            <a:solidFill>
              <a:srgbClr val="FFFFFF"/>
            </a:solidFill>
            <a:prstDash val="solid"/>
          </a:ln>
        </p:spPr>
      </p:sp>
      <p:sp>
        <p:nvSpPr>
          <p:cNvPr id="17" name="Text 15"/>
          <p:cNvSpPr/>
          <p:nvPr/>
        </p:nvSpPr>
        <p:spPr>
          <a:xfrm>
            <a:off x="5038344" y="1188720"/>
            <a:ext cx="1188720" cy="201168"/>
          </a:xfrm>
          <a:prstGeom prst="rect">
            <a:avLst/>
          </a:prstGeom>
          <a:noFill/>
          <a:ln/>
        </p:spPr>
        <p:txBody>
          <a:bodyPr wrap="square" lIns="0" tIns="0" rIns="0" bIns="0"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T+12 min</a:t>
            </a:r>
            <a:endParaRPr lang="en-US" sz="900" dirty="0"/>
          </a:p>
        </p:txBody>
      </p:sp>
      <p:sp>
        <p:nvSpPr>
          <p:cNvPr id="18" name="Text 16"/>
          <p:cNvSpPr/>
          <p:nvPr/>
        </p:nvSpPr>
        <p:spPr>
          <a:xfrm>
            <a:off x="5038344" y="1389888"/>
            <a:ext cx="1188720" cy="310896"/>
          </a:xfrm>
          <a:prstGeom prst="rect">
            <a:avLst/>
          </a:prstGeom>
          <a:noFill/>
          <a:ln/>
        </p:spPr>
        <p:txBody>
          <a:bodyPr wrap="square" lIns="0" tIns="0" rIns="0" bIns="0" rtlCol="0" anchor="ctr"/>
          <a:lstStyle/>
          <a:p>
            <a:pPr algn="ctr" indent="0" marL="0">
              <a:buNone/>
            </a:pPr>
            <a:r>
              <a:rPr lang="en-US" sz="850" dirty="0">
                <a:solidFill>
                  <a:srgbClr val="1A2737"/>
                </a:solidFill>
                <a:latin typeface="Calibri" pitchFamily="34" charset="0"/>
                <a:ea typeface="Calibri" pitchFamily="34" charset="-122"/>
                <a:cs typeface="Calibri" pitchFamily="34" charset="-120"/>
              </a:rPr>
              <a:t>Board</a:t>
            </a:r>
            <a:endParaRPr lang="en-US" sz="850" dirty="0"/>
          </a:p>
          <a:p>
            <a:pPr algn="ctr" indent="0" marL="0">
              <a:buNone/>
            </a:pPr>
            <a:r>
              <a:rPr lang="en-US" sz="850" dirty="0">
                <a:solidFill>
                  <a:srgbClr val="1A2737"/>
                </a:solidFill>
                <a:latin typeface="Calibri" pitchFamily="34" charset="0"/>
                <a:ea typeface="Calibri" pitchFamily="34" charset="-122"/>
                <a:cs typeface="Calibri" pitchFamily="34" charset="-120"/>
              </a:rPr>
              <a:t>notified</a:t>
            </a:r>
            <a:endParaRPr lang="en-US" sz="850" dirty="0"/>
          </a:p>
        </p:txBody>
      </p:sp>
      <p:sp>
        <p:nvSpPr>
          <p:cNvPr id="19" name="Shape 17"/>
          <p:cNvSpPr/>
          <p:nvPr/>
        </p:nvSpPr>
        <p:spPr>
          <a:xfrm>
            <a:off x="7159752" y="914400"/>
            <a:ext cx="237744" cy="237744"/>
          </a:xfrm>
          <a:prstGeom prst="ellipse">
            <a:avLst/>
          </a:prstGeom>
          <a:solidFill>
            <a:srgbClr val="C0392B"/>
          </a:solidFill>
          <a:ln w="12700">
            <a:solidFill>
              <a:srgbClr val="FFFFFF"/>
            </a:solidFill>
            <a:prstDash val="solid"/>
          </a:ln>
        </p:spPr>
      </p:sp>
      <p:sp>
        <p:nvSpPr>
          <p:cNvPr id="20" name="Text 18"/>
          <p:cNvSpPr/>
          <p:nvPr/>
        </p:nvSpPr>
        <p:spPr>
          <a:xfrm>
            <a:off x="6702552" y="1188720"/>
            <a:ext cx="1188720" cy="201168"/>
          </a:xfrm>
          <a:prstGeom prst="rect">
            <a:avLst/>
          </a:prstGeom>
          <a:noFill/>
          <a:ln/>
        </p:spPr>
        <p:txBody>
          <a:bodyPr wrap="square" lIns="0" tIns="0" rIns="0" bIns="0"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T+18 min</a:t>
            </a:r>
            <a:endParaRPr lang="en-US" sz="900" dirty="0"/>
          </a:p>
        </p:txBody>
      </p:sp>
      <p:sp>
        <p:nvSpPr>
          <p:cNvPr id="21" name="Text 19"/>
          <p:cNvSpPr/>
          <p:nvPr/>
        </p:nvSpPr>
        <p:spPr>
          <a:xfrm>
            <a:off x="6702552" y="1389888"/>
            <a:ext cx="1188720" cy="310896"/>
          </a:xfrm>
          <a:prstGeom prst="rect">
            <a:avLst/>
          </a:prstGeom>
          <a:noFill/>
          <a:ln/>
        </p:spPr>
        <p:txBody>
          <a:bodyPr wrap="square" lIns="0" tIns="0" rIns="0" bIns="0" rtlCol="0" anchor="ctr"/>
          <a:lstStyle/>
          <a:p>
            <a:pPr algn="ctr" indent="0" marL="0">
              <a:buNone/>
            </a:pPr>
            <a:r>
              <a:rPr lang="en-US" sz="850" dirty="0">
                <a:solidFill>
                  <a:srgbClr val="1A2737"/>
                </a:solidFill>
                <a:latin typeface="Calibri" pitchFamily="34" charset="0"/>
                <a:ea typeface="Calibri" pitchFamily="34" charset="-122"/>
                <a:cs typeface="Calibri" pitchFamily="34" charset="-120"/>
              </a:rPr>
              <a:t>Initial</a:t>
            </a:r>
            <a:endParaRPr lang="en-US" sz="850" dirty="0"/>
          </a:p>
          <a:p>
            <a:pPr algn="ctr" indent="0" marL="0">
              <a:buNone/>
            </a:pPr>
            <a:r>
              <a:rPr lang="en-US" sz="850" dirty="0">
                <a:solidFill>
                  <a:srgbClr val="1A2737"/>
                </a:solidFill>
                <a:latin typeface="Calibri" pitchFamily="34" charset="0"/>
                <a:ea typeface="Calibri" pitchFamily="34" charset="-122"/>
                <a:cs typeface="Calibri" pitchFamily="34" charset="-120"/>
              </a:rPr>
              <a:t>containment</a:t>
            </a:r>
            <a:endParaRPr lang="en-US" sz="850" dirty="0"/>
          </a:p>
        </p:txBody>
      </p:sp>
      <p:sp>
        <p:nvSpPr>
          <p:cNvPr id="22" name="Shape 20"/>
          <p:cNvSpPr/>
          <p:nvPr/>
        </p:nvSpPr>
        <p:spPr>
          <a:xfrm>
            <a:off x="274320" y="1828800"/>
            <a:ext cx="4023360" cy="2423160"/>
          </a:xfrm>
          <a:prstGeom prst="rect">
            <a:avLst/>
          </a:prstGeom>
          <a:solidFill>
            <a:srgbClr val="1A1A2E"/>
          </a:solidFill>
          <a:ln w="12700">
            <a:solidFill>
              <a:srgbClr val="3A3A5E"/>
            </a:solidFill>
            <a:prstDash val="solid"/>
          </a:ln>
          <a:effectLst>
            <a:outerShdw sx="100000" sy="100000" kx="0" ky="0" algn="bl" rotWithShape="0" blurRad="101600" dist="38100" dir="8100000">
              <a:srgbClr val="000000">
                <a:alpha val="30000"/>
              </a:srgbClr>
            </a:outerShdw>
          </a:effectLst>
        </p:spPr>
      </p:sp>
      <p:sp>
        <p:nvSpPr>
          <p:cNvPr id="23" name="Text 21"/>
          <p:cNvSpPr/>
          <p:nvPr/>
        </p:nvSpPr>
        <p:spPr>
          <a:xfrm>
            <a:off x="411480" y="1883664"/>
            <a:ext cx="3749040" cy="274320"/>
          </a:xfrm>
          <a:prstGeom prst="rect">
            <a:avLst/>
          </a:prstGeom>
          <a:noFill/>
          <a:ln/>
        </p:spPr>
        <p:txBody>
          <a:bodyPr wrap="square" lIns="0" tIns="0" rIns="0" bIns="0" rtlCol="0" anchor="ctr"/>
          <a:lstStyle/>
          <a:p>
            <a:pPr algn="ctr" indent="0" marL="0">
              <a:buNone/>
            </a:pPr>
            <a:r>
              <a:rPr lang="en-US" sz="1100" b="1" dirty="0">
                <a:solidFill>
                  <a:srgbClr val="C0392B"/>
                </a:solidFill>
                <a:latin typeface="Calibri" pitchFamily="34" charset="0"/>
                <a:ea typeface="Calibri" pitchFamily="34" charset="-122"/>
                <a:cs typeface="Calibri" pitchFamily="34" charset="-120"/>
              </a:rPr>
              <a:t>SIEM ALERT — CRITICAL</a:t>
            </a:r>
            <a:endParaRPr lang="en-US" sz="1100" dirty="0"/>
          </a:p>
        </p:txBody>
      </p:sp>
      <p:sp>
        <p:nvSpPr>
          <p:cNvPr id="24" name="Text 22"/>
          <p:cNvSpPr/>
          <p:nvPr/>
        </p:nvSpPr>
        <p:spPr>
          <a:xfrm>
            <a:off x="384048" y="2212848"/>
            <a:ext cx="1051560" cy="301752"/>
          </a:xfrm>
          <a:prstGeom prst="rect">
            <a:avLst/>
          </a:prstGeom>
          <a:noFill/>
          <a:ln/>
        </p:spPr>
        <p:txBody>
          <a:bodyPr wrap="square" lIns="0" tIns="0" rIns="0" bIns="0" rtlCol="0" anchor="t"/>
          <a:lstStyle/>
          <a:p>
            <a:pPr indent="0" marL="0">
              <a:buNone/>
            </a:pPr>
            <a:r>
              <a:rPr lang="en-US" sz="900" b="1" dirty="0">
                <a:solidFill>
                  <a:srgbClr val="5DADE2"/>
                </a:solidFill>
                <a:latin typeface="Calibri" pitchFamily="34" charset="0"/>
                <a:ea typeface="Calibri" pitchFamily="34" charset="-122"/>
                <a:cs typeface="Calibri" pitchFamily="34" charset="-120"/>
              </a:rPr>
              <a:t>Timestamp:</a:t>
            </a:r>
            <a:endParaRPr lang="en-US" sz="900" dirty="0"/>
          </a:p>
        </p:txBody>
      </p:sp>
      <p:sp>
        <p:nvSpPr>
          <p:cNvPr id="25" name="Text 23"/>
          <p:cNvSpPr/>
          <p:nvPr/>
        </p:nvSpPr>
        <p:spPr>
          <a:xfrm>
            <a:off x="1463040" y="2212848"/>
            <a:ext cx="2697480" cy="301752"/>
          </a:xfrm>
          <a:prstGeom prst="rect">
            <a:avLst/>
          </a:prstGeom>
          <a:noFill/>
          <a:ln/>
        </p:spPr>
        <p:txBody>
          <a:bodyPr wrap="square" lIns="0" tIns="0" rIns="0" bIns="0" rtlCol="0" anchor="t"/>
          <a:lstStyle/>
          <a:p>
            <a:pPr indent="0" marL="0">
              <a:buNone/>
            </a:pPr>
            <a:r>
              <a:rPr lang="en-US" sz="900" dirty="0">
                <a:solidFill>
                  <a:srgbClr val="E8F8F5"/>
                </a:solidFill>
                <a:latin typeface="Calibri" pitchFamily="34" charset="0"/>
                <a:ea typeface="Calibri" pitchFamily="34" charset="-122"/>
                <a:cs typeface="Calibri" pitchFamily="34" charset="-120"/>
              </a:rPr>
              <a:t>09:23:17 AEST  |  Wed 14 May 2025</a:t>
            </a:r>
            <a:endParaRPr lang="en-US" sz="900" dirty="0"/>
          </a:p>
        </p:txBody>
      </p:sp>
      <p:sp>
        <p:nvSpPr>
          <p:cNvPr id="26" name="Text 24"/>
          <p:cNvSpPr/>
          <p:nvPr/>
        </p:nvSpPr>
        <p:spPr>
          <a:xfrm>
            <a:off x="384048" y="2542032"/>
            <a:ext cx="1051560" cy="301752"/>
          </a:xfrm>
          <a:prstGeom prst="rect">
            <a:avLst/>
          </a:prstGeom>
          <a:noFill/>
          <a:ln/>
        </p:spPr>
        <p:txBody>
          <a:bodyPr wrap="square" lIns="0" tIns="0" rIns="0" bIns="0" rtlCol="0" anchor="t"/>
          <a:lstStyle/>
          <a:p>
            <a:pPr indent="0" marL="0">
              <a:buNone/>
            </a:pPr>
            <a:r>
              <a:rPr lang="en-US" sz="900" b="1" dirty="0">
                <a:solidFill>
                  <a:srgbClr val="5DADE2"/>
                </a:solidFill>
                <a:latin typeface="Calibri" pitchFamily="34" charset="0"/>
                <a:ea typeface="Calibri" pitchFamily="34" charset="-122"/>
                <a:cs typeface="Calibri" pitchFamily="34" charset="-120"/>
              </a:rPr>
              <a:t>Rule:</a:t>
            </a:r>
            <a:endParaRPr lang="en-US" sz="900" dirty="0"/>
          </a:p>
        </p:txBody>
      </p:sp>
      <p:sp>
        <p:nvSpPr>
          <p:cNvPr id="27" name="Text 25"/>
          <p:cNvSpPr/>
          <p:nvPr/>
        </p:nvSpPr>
        <p:spPr>
          <a:xfrm>
            <a:off x="1463040" y="2542032"/>
            <a:ext cx="2697480" cy="301752"/>
          </a:xfrm>
          <a:prstGeom prst="rect">
            <a:avLst/>
          </a:prstGeom>
          <a:noFill/>
          <a:ln/>
        </p:spPr>
        <p:txBody>
          <a:bodyPr wrap="square" lIns="0" tIns="0" rIns="0" bIns="0" rtlCol="0" anchor="t"/>
          <a:lstStyle/>
          <a:p>
            <a:pPr indent="0" marL="0">
              <a:buNone/>
            </a:pPr>
            <a:r>
              <a:rPr lang="en-US" sz="900" dirty="0">
                <a:solidFill>
                  <a:srgbClr val="E8F8F5"/>
                </a:solidFill>
                <a:latin typeface="Calibri" pitchFamily="34" charset="0"/>
                <a:ea typeface="Calibri" pitchFamily="34" charset="-122"/>
                <a:cs typeface="Calibri" pitchFamily="34" charset="-120"/>
              </a:rPr>
              <a:t>Brute Force — Successful RDP Auth After</a:t>
            </a:r>
            <a:endParaRPr lang="en-US" sz="900" dirty="0"/>
          </a:p>
          <a:p>
            <a:pPr indent="0" marL="0">
              <a:buNone/>
            </a:pPr>
            <a:r>
              <a:rPr lang="en-US" sz="900" dirty="0">
                <a:solidFill>
                  <a:srgbClr val="E8F8F5"/>
                </a:solidFill>
                <a:latin typeface="Calibri" pitchFamily="34" charset="0"/>
                <a:ea typeface="Calibri" pitchFamily="34" charset="-122"/>
                <a:cs typeface="Calibri" pitchFamily="34" charset="-120"/>
              </a:rPr>
              <a:t>Mass Failed Attempts</a:t>
            </a:r>
            <a:endParaRPr lang="en-US" sz="900" dirty="0"/>
          </a:p>
        </p:txBody>
      </p:sp>
      <p:sp>
        <p:nvSpPr>
          <p:cNvPr id="28" name="Text 26"/>
          <p:cNvSpPr/>
          <p:nvPr/>
        </p:nvSpPr>
        <p:spPr>
          <a:xfrm>
            <a:off x="384048" y="2871216"/>
            <a:ext cx="1051560" cy="301752"/>
          </a:xfrm>
          <a:prstGeom prst="rect">
            <a:avLst/>
          </a:prstGeom>
          <a:noFill/>
          <a:ln/>
        </p:spPr>
        <p:txBody>
          <a:bodyPr wrap="square" lIns="0" tIns="0" rIns="0" bIns="0" rtlCol="0" anchor="t"/>
          <a:lstStyle/>
          <a:p>
            <a:pPr indent="0" marL="0">
              <a:buNone/>
            </a:pPr>
            <a:r>
              <a:rPr lang="en-US" sz="900" b="1" dirty="0">
                <a:solidFill>
                  <a:srgbClr val="5DADE2"/>
                </a:solidFill>
                <a:latin typeface="Calibri" pitchFamily="34" charset="0"/>
                <a:ea typeface="Calibri" pitchFamily="34" charset="-122"/>
                <a:cs typeface="Calibri" pitchFamily="34" charset="-120"/>
              </a:rPr>
              <a:t>Source IP:</a:t>
            </a:r>
            <a:endParaRPr lang="en-US" sz="900" dirty="0"/>
          </a:p>
        </p:txBody>
      </p:sp>
      <p:sp>
        <p:nvSpPr>
          <p:cNvPr id="29" name="Text 27"/>
          <p:cNvSpPr/>
          <p:nvPr/>
        </p:nvSpPr>
        <p:spPr>
          <a:xfrm>
            <a:off x="1463040" y="2871216"/>
            <a:ext cx="2697480" cy="301752"/>
          </a:xfrm>
          <a:prstGeom prst="rect">
            <a:avLst/>
          </a:prstGeom>
          <a:noFill/>
          <a:ln/>
        </p:spPr>
        <p:txBody>
          <a:bodyPr wrap="square" lIns="0" tIns="0" rIns="0" bIns="0" rtlCol="0" anchor="t"/>
          <a:lstStyle/>
          <a:p>
            <a:pPr indent="0" marL="0">
              <a:buNone/>
            </a:pPr>
            <a:r>
              <a:rPr lang="en-US" sz="900" dirty="0">
                <a:solidFill>
                  <a:srgbClr val="E8F8F5"/>
                </a:solidFill>
                <a:latin typeface="Calibri" pitchFamily="34" charset="0"/>
                <a:ea typeface="Calibri" pitchFamily="34" charset="-122"/>
                <a:cs typeface="Calibri" pitchFamily="34" charset="-120"/>
              </a:rPr>
              <a:t>185.234.219.47  (External)</a:t>
            </a:r>
            <a:endParaRPr lang="en-US" sz="900" dirty="0"/>
          </a:p>
        </p:txBody>
      </p:sp>
      <p:sp>
        <p:nvSpPr>
          <p:cNvPr id="30" name="Text 28"/>
          <p:cNvSpPr/>
          <p:nvPr/>
        </p:nvSpPr>
        <p:spPr>
          <a:xfrm>
            <a:off x="384048" y="3200400"/>
            <a:ext cx="1051560" cy="301752"/>
          </a:xfrm>
          <a:prstGeom prst="rect">
            <a:avLst/>
          </a:prstGeom>
          <a:noFill/>
          <a:ln/>
        </p:spPr>
        <p:txBody>
          <a:bodyPr wrap="square" lIns="0" tIns="0" rIns="0" bIns="0" rtlCol="0" anchor="t"/>
          <a:lstStyle/>
          <a:p>
            <a:pPr indent="0" marL="0">
              <a:buNone/>
            </a:pPr>
            <a:r>
              <a:rPr lang="en-US" sz="900" b="1" dirty="0">
                <a:solidFill>
                  <a:srgbClr val="5DADE2"/>
                </a:solidFill>
                <a:latin typeface="Calibri" pitchFamily="34" charset="0"/>
                <a:ea typeface="Calibri" pitchFamily="34" charset="-122"/>
                <a:cs typeface="Calibri" pitchFamily="34" charset="-120"/>
              </a:rPr>
              <a:t>Affected:</a:t>
            </a:r>
            <a:endParaRPr lang="en-US" sz="900" dirty="0"/>
          </a:p>
        </p:txBody>
      </p:sp>
      <p:sp>
        <p:nvSpPr>
          <p:cNvPr id="31" name="Text 29"/>
          <p:cNvSpPr/>
          <p:nvPr/>
        </p:nvSpPr>
        <p:spPr>
          <a:xfrm>
            <a:off x="1463040" y="3200400"/>
            <a:ext cx="2697480" cy="301752"/>
          </a:xfrm>
          <a:prstGeom prst="rect">
            <a:avLst/>
          </a:prstGeom>
          <a:noFill/>
          <a:ln/>
        </p:spPr>
        <p:txBody>
          <a:bodyPr wrap="square" lIns="0" tIns="0" rIns="0" bIns="0" rtlCol="0" anchor="t"/>
          <a:lstStyle/>
          <a:p>
            <a:pPr indent="0" marL="0">
              <a:buNone/>
            </a:pPr>
            <a:r>
              <a:rPr lang="en-US" sz="900" dirty="0">
                <a:solidFill>
                  <a:srgbClr val="E8F8F5"/>
                </a:solidFill>
                <a:latin typeface="Calibri" pitchFamily="34" charset="0"/>
                <a:ea typeface="Calibri" pitchFamily="34" charset="-122"/>
                <a:cs typeface="Calibri" pitchFamily="34" charset="-120"/>
              </a:rPr>
              <a:t>EHR Application Server  |  svc_rchc_ehr</a:t>
            </a:r>
            <a:endParaRPr lang="en-US" sz="900" dirty="0"/>
          </a:p>
        </p:txBody>
      </p:sp>
      <p:sp>
        <p:nvSpPr>
          <p:cNvPr id="32" name="Text 30"/>
          <p:cNvSpPr/>
          <p:nvPr/>
        </p:nvSpPr>
        <p:spPr>
          <a:xfrm>
            <a:off x="384048" y="3529584"/>
            <a:ext cx="1051560" cy="301752"/>
          </a:xfrm>
          <a:prstGeom prst="rect">
            <a:avLst/>
          </a:prstGeom>
          <a:noFill/>
          <a:ln/>
        </p:spPr>
        <p:txBody>
          <a:bodyPr wrap="square" lIns="0" tIns="0" rIns="0" bIns="0" rtlCol="0" anchor="t"/>
          <a:lstStyle/>
          <a:p>
            <a:pPr indent="0" marL="0">
              <a:buNone/>
            </a:pPr>
            <a:r>
              <a:rPr lang="en-US" sz="900" b="1" dirty="0">
                <a:solidFill>
                  <a:srgbClr val="5DADE2"/>
                </a:solidFill>
                <a:latin typeface="Calibri" pitchFamily="34" charset="0"/>
                <a:ea typeface="Calibri" pitchFamily="34" charset="-122"/>
                <a:cs typeface="Calibri" pitchFamily="34" charset="-120"/>
              </a:rPr>
              <a:t>Severity:</a:t>
            </a:r>
            <a:endParaRPr lang="en-US" sz="900" dirty="0"/>
          </a:p>
        </p:txBody>
      </p:sp>
      <p:sp>
        <p:nvSpPr>
          <p:cNvPr id="33" name="Text 31"/>
          <p:cNvSpPr/>
          <p:nvPr/>
        </p:nvSpPr>
        <p:spPr>
          <a:xfrm>
            <a:off x="1463040" y="3529584"/>
            <a:ext cx="2697480" cy="301752"/>
          </a:xfrm>
          <a:prstGeom prst="rect">
            <a:avLst/>
          </a:prstGeom>
          <a:noFill/>
          <a:ln/>
        </p:spPr>
        <p:txBody>
          <a:bodyPr wrap="square" lIns="0" tIns="0" rIns="0" bIns="0" rtlCol="0" anchor="t"/>
          <a:lstStyle/>
          <a:p>
            <a:pPr indent="0" marL="0">
              <a:buNone/>
            </a:pPr>
            <a:r>
              <a:rPr lang="en-US" sz="900" dirty="0">
                <a:solidFill>
                  <a:srgbClr val="E8F8F5"/>
                </a:solidFill>
                <a:latin typeface="Calibri" pitchFamily="34" charset="0"/>
                <a:ea typeface="Calibri" pitchFamily="34" charset="-122"/>
                <a:cs typeface="Calibri" pitchFamily="34" charset="-120"/>
              </a:rPr>
              <a:t>CRITICAL</a:t>
            </a:r>
            <a:endParaRPr lang="en-US" sz="900" dirty="0"/>
          </a:p>
        </p:txBody>
      </p:sp>
      <p:sp>
        <p:nvSpPr>
          <p:cNvPr id="34" name="Text 32"/>
          <p:cNvSpPr/>
          <p:nvPr/>
        </p:nvSpPr>
        <p:spPr>
          <a:xfrm>
            <a:off x="384048" y="3858768"/>
            <a:ext cx="1051560" cy="301752"/>
          </a:xfrm>
          <a:prstGeom prst="rect">
            <a:avLst/>
          </a:prstGeom>
          <a:noFill/>
          <a:ln/>
        </p:spPr>
        <p:txBody>
          <a:bodyPr wrap="square" lIns="0" tIns="0" rIns="0" bIns="0" rtlCol="0" anchor="t"/>
          <a:lstStyle/>
          <a:p>
            <a:pPr indent="0" marL="0">
              <a:buNone/>
            </a:pPr>
            <a:r>
              <a:rPr lang="en-US" sz="900" b="1" dirty="0">
                <a:solidFill>
                  <a:srgbClr val="5DADE2"/>
                </a:solidFill>
                <a:latin typeface="Calibri" pitchFamily="34" charset="0"/>
                <a:ea typeface="Calibri" pitchFamily="34" charset="-122"/>
                <a:cs typeface="Calibri" pitchFamily="34" charset="-120"/>
              </a:rPr>
              <a:t>Description:</a:t>
            </a:r>
            <a:endParaRPr lang="en-US" sz="900" dirty="0"/>
          </a:p>
        </p:txBody>
      </p:sp>
      <p:sp>
        <p:nvSpPr>
          <p:cNvPr id="35" name="Text 33"/>
          <p:cNvSpPr/>
          <p:nvPr/>
        </p:nvSpPr>
        <p:spPr>
          <a:xfrm>
            <a:off x="1463040" y="3858768"/>
            <a:ext cx="2697480" cy="301752"/>
          </a:xfrm>
          <a:prstGeom prst="rect">
            <a:avLst/>
          </a:prstGeom>
          <a:noFill/>
          <a:ln/>
        </p:spPr>
        <p:txBody>
          <a:bodyPr wrap="square" lIns="0" tIns="0" rIns="0" bIns="0" rtlCol="0" anchor="t"/>
          <a:lstStyle/>
          <a:p>
            <a:pPr indent="0" marL="0">
              <a:buNone/>
            </a:pPr>
            <a:r>
              <a:rPr lang="en-US" sz="900" dirty="0">
                <a:solidFill>
                  <a:srgbClr val="E8F8F5"/>
                </a:solidFill>
                <a:latin typeface="Calibri" pitchFamily="34" charset="0"/>
                <a:ea typeface="Calibri" pitchFamily="34" charset="-122"/>
                <a:cs typeface="Calibri" pitchFamily="34" charset="-120"/>
              </a:rPr>
              <a:t>3,847 failed RDP logins followed by</a:t>
            </a:r>
            <a:endParaRPr lang="en-US" sz="900" dirty="0"/>
          </a:p>
          <a:p>
            <a:pPr indent="0" marL="0">
              <a:buNone/>
            </a:pPr>
            <a:r>
              <a:rPr lang="en-US" sz="900" dirty="0">
                <a:solidFill>
                  <a:srgbClr val="E8F8F5"/>
                </a:solidFill>
                <a:latin typeface="Calibri" pitchFamily="34" charset="0"/>
                <a:ea typeface="Calibri" pitchFamily="34" charset="-122"/>
                <a:cs typeface="Calibri" pitchFamily="34" charset="-120"/>
              </a:rPr>
              <a:t>successful auth on service account</a:t>
            </a:r>
            <a:endParaRPr lang="en-US" sz="900" dirty="0"/>
          </a:p>
        </p:txBody>
      </p:sp>
      <p:sp>
        <p:nvSpPr>
          <p:cNvPr id="36" name="Shape 34"/>
          <p:cNvSpPr/>
          <p:nvPr/>
        </p:nvSpPr>
        <p:spPr>
          <a:xfrm>
            <a:off x="4572000" y="1828800"/>
            <a:ext cx="4297680" cy="2423160"/>
          </a:xfrm>
          <a:prstGeom prst="rect">
            <a:avLst/>
          </a:prstGeom>
          <a:solidFill>
            <a:srgbClr val="FFFFFF"/>
          </a:solidFill>
          <a:ln w="12700">
            <a:solidFill>
              <a:srgbClr val="D8DDE6"/>
            </a:solidFill>
            <a:prstDash val="solid"/>
          </a:ln>
          <a:effectLst>
            <a:outerShdw sx="100000" sy="100000" kx="0" ky="0" algn="bl" rotWithShape="0" blurRad="63500" dist="25400" dir="8100000">
              <a:srgbClr val="000000">
                <a:alpha val="10000"/>
              </a:srgbClr>
            </a:outerShdw>
          </a:effectLst>
        </p:spPr>
      </p:sp>
      <p:sp>
        <p:nvSpPr>
          <p:cNvPr id="37" name="Shape 35"/>
          <p:cNvSpPr/>
          <p:nvPr/>
        </p:nvSpPr>
        <p:spPr>
          <a:xfrm>
            <a:off x="4572000" y="1828800"/>
            <a:ext cx="4297680" cy="274320"/>
          </a:xfrm>
          <a:prstGeom prst="rect">
            <a:avLst/>
          </a:prstGeom>
          <a:solidFill>
            <a:srgbClr val="027A8A"/>
          </a:solidFill>
          <a:ln w="12700">
            <a:solidFill>
              <a:srgbClr val="027A8A"/>
            </a:solidFill>
            <a:prstDash val="solid"/>
          </a:ln>
        </p:spPr>
      </p:sp>
      <p:sp>
        <p:nvSpPr>
          <p:cNvPr id="38" name="Text 36"/>
          <p:cNvSpPr/>
          <p:nvPr/>
        </p:nvSpPr>
        <p:spPr>
          <a:xfrm>
            <a:off x="4663440" y="1828800"/>
            <a:ext cx="41148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How We Found It  —  IR Lead Speaks</a:t>
            </a:r>
            <a:endParaRPr lang="en-US" sz="1100" dirty="0"/>
          </a:p>
        </p:txBody>
      </p:sp>
      <p:sp>
        <p:nvSpPr>
          <p:cNvPr id="39" name="Text 37"/>
          <p:cNvSpPr/>
          <p:nvPr/>
        </p:nvSpPr>
        <p:spPr>
          <a:xfrm>
            <a:off x="4663440" y="2139696"/>
            <a:ext cx="4114800" cy="2057400"/>
          </a:xfrm>
          <a:prstGeom prst="rect">
            <a:avLst/>
          </a:prstGeom>
          <a:noFill/>
          <a:ln/>
        </p:spPr>
        <p:txBody>
          <a:bodyPr wrap="square" lIns="0" tIns="0" rIns="0" bIns="0" rtlCol="0" anchor="t"/>
          <a:lstStyle/>
          <a:p>
            <a:pPr marL="342900" indent="-342900">
              <a:buSzPct val="100000"/>
              <a:buChar char="•"/>
            </a:pPr>
            <a:r>
              <a:rPr lang="en-US" sz="1000" dirty="0">
                <a:solidFill>
                  <a:srgbClr val="1A2737"/>
                </a:solidFill>
                <a:latin typeface="Calibri" pitchFamily="34" charset="0"/>
                <a:ea typeface="Calibri" pitchFamily="34" charset="-122"/>
                <a:cs typeface="Calibri" pitchFamily="34" charset="-120"/>
              </a:rPr>
              <a:t>Microsoft Sentinel SIEM fired a critical alert at 09:23 AEST for anomalous RDP authentication — 3,847 failed attempts followed by a successful login on service account svc_rchc_ehr</a:t>
            </a:r>
            <a:endParaRPr lang="en-US" sz="1000" dirty="0"/>
          </a:p>
          <a:p>
            <a:pPr marL="342900" indent="-342900">
              <a:buSzPct val="100000"/>
              <a:buChar char="•"/>
            </a:pPr>
            <a:r>
              <a:rPr lang="en-US" sz="1000" dirty="0">
                <a:solidFill>
                  <a:srgbClr val="1A2737"/>
                </a:solidFill>
                <a:latin typeface="Calibri" pitchFamily="34" charset="0"/>
                <a:ea typeface="Calibri" pitchFamily="34" charset="-122"/>
                <a:cs typeface="Calibri" pitchFamily="34" charset="-120"/>
              </a:rPr>
              <a:t>EDR on clinical workstation flagged unusual process spawning from the RDP session — passed to Security Analyst for immediate triage</a:t>
            </a:r>
            <a:endParaRPr lang="en-US" sz="1000" dirty="0"/>
          </a:p>
          <a:p>
            <a:pPr marL="342900" indent="-342900">
              <a:buSzPct val="100000"/>
              <a:buChar char="•"/>
            </a:pPr>
            <a:r>
              <a:rPr lang="en-US" sz="1000" dirty="0">
                <a:solidFill>
                  <a:srgbClr val="1A2737"/>
                </a:solidFill>
                <a:latin typeface="Calibri" pitchFamily="34" charset="0"/>
                <a:ea typeface="Calibri" pitchFamily="34" charset="-122"/>
                <a:cs typeface="Calibri" pitchFamily="34" charset="-120"/>
              </a:rPr>
              <a:t>Initial classification: SEV 1 — Critical. Trigger criteria met: unauthorised external access + EHR system (Priority 2 asset) potentially compromised + patient credentials at risk</a:t>
            </a:r>
            <a:endParaRPr lang="en-US" sz="1000" dirty="0"/>
          </a:p>
        </p:txBody>
      </p:sp>
      <p:sp>
        <p:nvSpPr>
          <p:cNvPr id="40" name="Text 38"/>
          <p:cNvSpPr/>
          <p:nvPr/>
        </p:nvSpPr>
        <p:spPr>
          <a:xfrm>
            <a:off x="274320" y="4462272"/>
            <a:ext cx="8595360" cy="201168"/>
          </a:xfrm>
          <a:prstGeom prst="rect">
            <a:avLst/>
          </a:prstGeom>
          <a:noFill/>
          <a:ln/>
        </p:spPr>
        <p:txBody>
          <a:bodyPr wrap="square" lIns="0" tIns="0" rIns="0" bIns="0" rtlCol="0" anchor="ctr"/>
          <a:lstStyle/>
          <a:p>
            <a:pPr indent="0" marL="0">
              <a:buNone/>
            </a:pPr>
            <a:r>
              <a:rPr lang="en-US" sz="850" i="1" dirty="0">
                <a:solidFill>
                  <a:srgbClr val="6B7A8D"/>
                </a:solidFill>
                <a:latin typeface="Calibri" pitchFamily="34" charset="0"/>
                <a:ea typeface="Calibri" pitchFamily="34" charset="-122"/>
                <a:cs typeface="Calibri" pitchFamily="34" charset="-120"/>
              </a:rPr>
              <a:t>Role: Nanami Fujita (IR Lead) | Mimy Thongphataysack (Incident Commander)</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E30"/>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E30"/>
          </a:solidFill>
          <a:ln w="12700">
            <a:solidFill>
              <a:srgbClr val="0D1E30"/>
            </a:solidFill>
            <a:prstDash val="solid"/>
          </a:ln>
        </p:spPr>
      </p:sp>
      <p:sp>
        <p:nvSpPr>
          <p:cNvPr id="3" name="Text 1"/>
          <p:cNvSpPr/>
          <p:nvPr/>
        </p:nvSpPr>
        <p:spPr>
          <a:xfrm>
            <a:off x="365760" y="164592"/>
            <a:ext cx="8412480" cy="548640"/>
          </a:xfrm>
          <a:prstGeom prst="rect">
            <a:avLst/>
          </a:prstGeom>
          <a:noFill/>
          <a:ln/>
        </p:spPr>
        <p:txBody>
          <a:bodyPr wrap="square" lIns="0" tIns="0" rIns="0" bIns="0" rtlCol="0" anchor="ctr"/>
          <a:lstStyle/>
          <a:p>
            <a:pPr indent="0" marL="0">
              <a:buNone/>
            </a:pPr>
            <a:r>
              <a:rPr lang="en-US" sz="2400" b="1" spc="300" kern="0" dirty="0">
                <a:solidFill>
                  <a:srgbClr val="FFFFFF"/>
                </a:solidFill>
                <a:latin typeface="Calibri" pitchFamily="34" charset="0"/>
                <a:ea typeface="Calibri" pitchFamily="34" charset="-122"/>
                <a:cs typeface="Calibri" pitchFamily="34" charset="-120"/>
              </a:rPr>
              <a:t>ESCALATION AND INITIAL ACTIONS</a:t>
            </a:r>
            <a:endParaRPr lang="en-US" sz="2400" dirty="0"/>
          </a:p>
        </p:txBody>
      </p:sp>
      <p:sp>
        <p:nvSpPr>
          <p:cNvPr id="4" name="Text 2"/>
          <p:cNvSpPr/>
          <p:nvPr/>
        </p:nvSpPr>
        <p:spPr>
          <a:xfrm>
            <a:off x="0" y="4892040"/>
            <a:ext cx="9144000" cy="256032"/>
          </a:xfrm>
          <a:prstGeom prst="rect">
            <a:avLst/>
          </a:prstGeom>
          <a:noFill/>
          <a:ln/>
        </p:spPr>
        <p:txBody>
          <a:bodyPr wrap="square" lIns="0" tIns="0" rIns="2540" bIns="0" rtlCol="0" anchor="ctr"/>
          <a:lstStyle/>
          <a:p>
            <a:pPr algn="r" indent="0" marL="0">
              <a:buNone/>
            </a:pPr>
            <a:r>
              <a:rPr lang="en-US" sz="900" dirty="0">
                <a:solidFill>
                  <a:srgbClr val="D4751B"/>
                </a:solidFill>
                <a:latin typeface="Calibri" pitchFamily="34" charset="0"/>
                <a:ea typeface="Calibri" pitchFamily="34" charset="-122"/>
                <a:cs typeface="Calibri" pitchFamily="34" charset="-120"/>
              </a:rPr>
              <a:t>Incident Response Role Play  |  Group 3  |  IAB246</a:t>
            </a:r>
            <a:endParaRPr lang="en-US" sz="900" dirty="0"/>
          </a:p>
        </p:txBody>
      </p:sp>
      <p:sp>
        <p:nvSpPr>
          <p:cNvPr id="5" name="Shape 3"/>
          <p:cNvSpPr/>
          <p:nvPr/>
        </p:nvSpPr>
        <p:spPr>
          <a:xfrm>
            <a:off x="246888" y="987552"/>
            <a:ext cx="2057400" cy="3657600"/>
          </a:xfrm>
          <a:prstGeom prst="rect">
            <a:avLst/>
          </a:prstGeom>
          <a:solidFill>
            <a:srgbClr val="15273A"/>
          </a:solidFill>
          <a:ln w="12700">
            <a:solidFill>
              <a:srgbClr val="2A3F56"/>
            </a:solidFill>
            <a:prstDash val="solid"/>
          </a:ln>
        </p:spPr>
      </p:sp>
      <p:sp>
        <p:nvSpPr>
          <p:cNvPr id="6" name="Shape 4"/>
          <p:cNvSpPr/>
          <p:nvPr/>
        </p:nvSpPr>
        <p:spPr>
          <a:xfrm>
            <a:off x="246888" y="987552"/>
            <a:ext cx="2057400" cy="292608"/>
          </a:xfrm>
          <a:prstGeom prst="rect">
            <a:avLst/>
          </a:prstGeom>
          <a:solidFill>
            <a:srgbClr val="027A8A"/>
          </a:solidFill>
          <a:ln w="12700">
            <a:solidFill>
              <a:srgbClr val="027A8A"/>
            </a:solidFill>
            <a:prstDash val="solid"/>
          </a:ln>
        </p:spPr>
      </p:sp>
      <p:sp>
        <p:nvSpPr>
          <p:cNvPr id="7" name="Text 5"/>
          <p:cNvSpPr/>
          <p:nvPr/>
        </p:nvSpPr>
        <p:spPr>
          <a:xfrm>
            <a:off x="292608" y="987552"/>
            <a:ext cx="196596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Technical Team</a:t>
            </a:r>
            <a:endParaRPr lang="en-US" sz="1050" dirty="0"/>
          </a:p>
        </p:txBody>
      </p:sp>
      <p:sp>
        <p:nvSpPr>
          <p:cNvPr id="8" name="Text 6"/>
          <p:cNvSpPr/>
          <p:nvPr/>
        </p:nvSpPr>
        <p:spPr>
          <a:xfrm>
            <a:off x="320040" y="1307592"/>
            <a:ext cx="1920240" cy="201168"/>
          </a:xfrm>
          <a:prstGeom prst="rect">
            <a:avLst/>
          </a:prstGeom>
          <a:noFill/>
          <a:ln/>
        </p:spPr>
        <p:txBody>
          <a:bodyPr wrap="square" lIns="0" tIns="0" rIns="0" bIns="0" rtlCol="0" anchor="ctr"/>
          <a:lstStyle/>
          <a:p>
            <a:pPr indent="0" marL="0">
              <a:buNone/>
            </a:pPr>
            <a:r>
              <a:rPr lang="en-US" sz="800" b="1" dirty="0">
                <a:solidFill>
                  <a:srgbClr val="027A8A"/>
                </a:solidFill>
                <a:latin typeface="Calibri" pitchFamily="34" charset="0"/>
                <a:ea typeface="Calibri" pitchFamily="34" charset="-122"/>
                <a:cs typeface="Calibri" pitchFamily="34" charset="-120"/>
              </a:rPr>
              <a:t>SPEAKS:  Nanami Fujita</a:t>
            </a:r>
            <a:endParaRPr lang="en-US" sz="800" dirty="0"/>
          </a:p>
        </p:txBody>
      </p:sp>
      <p:sp>
        <p:nvSpPr>
          <p:cNvPr id="9" name="Shape 7"/>
          <p:cNvSpPr/>
          <p:nvPr/>
        </p:nvSpPr>
        <p:spPr>
          <a:xfrm>
            <a:off x="338328" y="1536192"/>
            <a:ext cx="109728" cy="109728"/>
          </a:xfrm>
          <a:prstGeom prst="rect">
            <a:avLst/>
          </a:prstGeom>
          <a:solidFill>
            <a:srgbClr val="027A8A"/>
          </a:solidFill>
          <a:ln w="12700">
            <a:solidFill>
              <a:srgbClr val="027A8A"/>
            </a:solidFill>
            <a:prstDash val="solid"/>
          </a:ln>
        </p:spPr>
      </p:sp>
      <p:sp>
        <p:nvSpPr>
          <p:cNvPr id="10" name="Text 8"/>
          <p:cNvSpPr/>
          <p:nvPr/>
        </p:nvSpPr>
        <p:spPr>
          <a:xfrm>
            <a:off x="493776" y="1508760"/>
            <a:ext cx="1755648" cy="475488"/>
          </a:xfrm>
          <a:prstGeom prst="rect">
            <a:avLst/>
          </a:prstGeom>
          <a:noFill/>
          <a:ln/>
        </p:spPr>
        <p:txBody>
          <a:bodyPr wrap="square" lIns="0" tIns="0" rIns="0" bIns="0" rtlCol="0" anchor="t"/>
          <a:lstStyle/>
          <a:p>
            <a:pPr indent="0" marL="0">
              <a:buNone/>
            </a:pPr>
            <a:r>
              <a:rPr lang="en-US" sz="900" dirty="0">
                <a:solidFill>
                  <a:srgbClr val="DDEEFF"/>
                </a:solidFill>
                <a:latin typeface="Calibri" pitchFamily="34" charset="0"/>
                <a:ea typeface="Calibri" pitchFamily="34" charset="-122"/>
                <a:cs typeface="Calibri" pitchFamily="34" charset="-120"/>
              </a:rPr>
              <a:t>Isolate EHR application server from internal network</a:t>
            </a:r>
            <a:endParaRPr lang="en-US" sz="900" dirty="0"/>
          </a:p>
        </p:txBody>
      </p:sp>
      <p:sp>
        <p:nvSpPr>
          <p:cNvPr id="11" name="Shape 9"/>
          <p:cNvSpPr/>
          <p:nvPr/>
        </p:nvSpPr>
        <p:spPr>
          <a:xfrm>
            <a:off x="338328" y="2066544"/>
            <a:ext cx="109728" cy="109728"/>
          </a:xfrm>
          <a:prstGeom prst="rect">
            <a:avLst/>
          </a:prstGeom>
          <a:solidFill>
            <a:srgbClr val="027A8A"/>
          </a:solidFill>
          <a:ln w="12700">
            <a:solidFill>
              <a:srgbClr val="027A8A"/>
            </a:solidFill>
            <a:prstDash val="solid"/>
          </a:ln>
        </p:spPr>
      </p:sp>
      <p:sp>
        <p:nvSpPr>
          <p:cNvPr id="12" name="Text 10"/>
          <p:cNvSpPr/>
          <p:nvPr/>
        </p:nvSpPr>
        <p:spPr>
          <a:xfrm>
            <a:off x="493776" y="2039112"/>
            <a:ext cx="1755648" cy="475488"/>
          </a:xfrm>
          <a:prstGeom prst="rect">
            <a:avLst/>
          </a:prstGeom>
          <a:noFill/>
          <a:ln/>
        </p:spPr>
        <p:txBody>
          <a:bodyPr wrap="square" lIns="0" tIns="0" rIns="0" bIns="0" rtlCol="0" anchor="t"/>
          <a:lstStyle/>
          <a:p>
            <a:pPr indent="0" marL="0">
              <a:buNone/>
            </a:pPr>
            <a:r>
              <a:rPr lang="en-US" sz="900" dirty="0">
                <a:solidFill>
                  <a:srgbClr val="DDEEFF"/>
                </a:solidFill>
                <a:latin typeface="Calibri" pitchFamily="34" charset="0"/>
                <a:ea typeface="Calibri" pitchFamily="34" charset="-122"/>
                <a:cs typeface="Calibri" pitchFamily="34" charset="-120"/>
              </a:rPr>
              <a:t>Revoke VPN and RDP access for svc_rchc_ehr immediately</a:t>
            </a:r>
            <a:endParaRPr lang="en-US" sz="900" dirty="0"/>
          </a:p>
        </p:txBody>
      </p:sp>
      <p:sp>
        <p:nvSpPr>
          <p:cNvPr id="13" name="Shape 11"/>
          <p:cNvSpPr/>
          <p:nvPr/>
        </p:nvSpPr>
        <p:spPr>
          <a:xfrm>
            <a:off x="338328" y="2596896"/>
            <a:ext cx="109728" cy="109728"/>
          </a:xfrm>
          <a:prstGeom prst="rect">
            <a:avLst/>
          </a:prstGeom>
          <a:solidFill>
            <a:srgbClr val="027A8A"/>
          </a:solidFill>
          <a:ln w="12700">
            <a:solidFill>
              <a:srgbClr val="027A8A"/>
            </a:solidFill>
            <a:prstDash val="solid"/>
          </a:ln>
        </p:spPr>
      </p:sp>
      <p:sp>
        <p:nvSpPr>
          <p:cNvPr id="14" name="Text 12"/>
          <p:cNvSpPr/>
          <p:nvPr/>
        </p:nvSpPr>
        <p:spPr>
          <a:xfrm>
            <a:off x="493776" y="2569464"/>
            <a:ext cx="1755648" cy="475488"/>
          </a:xfrm>
          <a:prstGeom prst="rect">
            <a:avLst/>
          </a:prstGeom>
          <a:noFill/>
          <a:ln/>
        </p:spPr>
        <p:txBody>
          <a:bodyPr wrap="square" lIns="0" tIns="0" rIns="0" bIns="0" rtlCol="0" anchor="t"/>
          <a:lstStyle/>
          <a:p>
            <a:pPr indent="0" marL="0">
              <a:buNone/>
            </a:pPr>
            <a:r>
              <a:rPr lang="en-US" sz="900" dirty="0">
                <a:solidFill>
                  <a:srgbClr val="DDEEFF"/>
                </a:solidFill>
                <a:latin typeface="Calibri" pitchFamily="34" charset="0"/>
                <a:ea typeface="Calibri" pitchFamily="34" charset="-122"/>
                <a:cs typeface="Calibri" pitchFamily="34" charset="-120"/>
              </a:rPr>
              <a:t>Preserve SIEM logs and EDR telemetry for forensic analysis</a:t>
            </a:r>
            <a:endParaRPr lang="en-US" sz="900" dirty="0"/>
          </a:p>
        </p:txBody>
      </p:sp>
      <p:sp>
        <p:nvSpPr>
          <p:cNvPr id="15" name="Shape 13"/>
          <p:cNvSpPr/>
          <p:nvPr/>
        </p:nvSpPr>
        <p:spPr>
          <a:xfrm>
            <a:off x="338328" y="3127248"/>
            <a:ext cx="109728" cy="109728"/>
          </a:xfrm>
          <a:prstGeom prst="rect">
            <a:avLst/>
          </a:prstGeom>
          <a:solidFill>
            <a:srgbClr val="027A8A"/>
          </a:solidFill>
          <a:ln w="12700">
            <a:solidFill>
              <a:srgbClr val="027A8A"/>
            </a:solidFill>
            <a:prstDash val="solid"/>
          </a:ln>
        </p:spPr>
      </p:sp>
      <p:sp>
        <p:nvSpPr>
          <p:cNvPr id="16" name="Text 14"/>
          <p:cNvSpPr/>
          <p:nvPr/>
        </p:nvSpPr>
        <p:spPr>
          <a:xfrm>
            <a:off x="493776" y="3099816"/>
            <a:ext cx="1755648" cy="475488"/>
          </a:xfrm>
          <a:prstGeom prst="rect">
            <a:avLst/>
          </a:prstGeom>
          <a:noFill/>
          <a:ln/>
        </p:spPr>
        <p:txBody>
          <a:bodyPr wrap="square" lIns="0" tIns="0" rIns="0" bIns="0" rtlCol="0" anchor="t"/>
          <a:lstStyle/>
          <a:p>
            <a:pPr indent="0" marL="0">
              <a:buNone/>
            </a:pPr>
            <a:r>
              <a:rPr lang="en-US" sz="900" dirty="0">
                <a:solidFill>
                  <a:srgbClr val="DDEEFF"/>
                </a:solidFill>
                <a:latin typeface="Calibri" pitchFamily="34" charset="0"/>
                <a:ea typeface="Calibri" pitchFamily="34" charset="-122"/>
                <a:cs typeface="Calibri" pitchFamily="34" charset="-120"/>
              </a:rPr>
              <a:t>Deploy EDR scan across all 45 clinical workstations</a:t>
            </a:r>
            <a:endParaRPr lang="en-US" sz="900" dirty="0"/>
          </a:p>
        </p:txBody>
      </p:sp>
      <p:sp>
        <p:nvSpPr>
          <p:cNvPr id="17" name="Shape 15"/>
          <p:cNvSpPr/>
          <p:nvPr/>
        </p:nvSpPr>
        <p:spPr>
          <a:xfrm>
            <a:off x="292608" y="4279392"/>
            <a:ext cx="1965960" cy="292608"/>
          </a:xfrm>
          <a:prstGeom prst="rect">
            <a:avLst/>
          </a:prstGeom>
          <a:solidFill>
            <a:srgbClr val="0D1E30"/>
          </a:solidFill>
          <a:ln w="12700">
            <a:solidFill>
              <a:srgbClr val="2A3F56"/>
            </a:solidFill>
            <a:prstDash val="solid"/>
          </a:ln>
        </p:spPr>
      </p:sp>
      <p:sp>
        <p:nvSpPr>
          <p:cNvPr id="18" name="Shape 16"/>
          <p:cNvSpPr/>
          <p:nvPr/>
        </p:nvSpPr>
        <p:spPr>
          <a:xfrm>
            <a:off x="292608" y="4279392"/>
            <a:ext cx="54864" cy="292608"/>
          </a:xfrm>
          <a:prstGeom prst="rect">
            <a:avLst/>
          </a:prstGeom>
          <a:solidFill>
            <a:srgbClr val="027A8A"/>
          </a:solidFill>
          <a:ln w="12700">
            <a:solidFill>
              <a:srgbClr val="027A8A"/>
            </a:solidFill>
            <a:prstDash val="solid"/>
          </a:ln>
        </p:spPr>
      </p:sp>
      <p:sp>
        <p:nvSpPr>
          <p:cNvPr id="19" name="Text 17"/>
          <p:cNvSpPr/>
          <p:nvPr/>
        </p:nvSpPr>
        <p:spPr>
          <a:xfrm>
            <a:off x="384048" y="4279392"/>
            <a:ext cx="1828800" cy="292608"/>
          </a:xfrm>
          <a:prstGeom prst="rect">
            <a:avLst/>
          </a:prstGeom>
          <a:noFill/>
          <a:ln/>
        </p:spPr>
        <p:txBody>
          <a:bodyPr wrap="square" lIns="0" tIns="0" rIns="0" bIns="0" rtlCol="0" anchor="ctr"/>
          <a:lstStyle/>
          <a:p>
            <a:pPr indent="0" marL="0">
              <a:buNone/>
            </a:pPr>
            <a:r>
              <a:rPr lang="en-US" sz="800" i="1" dirty="0">
                <a:solidFill>
                  <a:srgbClr val="AABBCC"/>
                </a:solidFill>
                <a:latin typeface="Calibri" pitchFamily="34" charset="0"/>
                <a:ea typeface="Calibri" pitchFamily="34" charset="-122"/>
                <a:cs typeface="Calibri" pitchFamily="34" charset="-120"/>
              </a:rPr>
              <a:t>Pre-authorised — no board approval required</a:t>
            </a:r>
            <a:endParaRPr lang="en-US" sz="800" dirty="0"/>
          </a:p>
        </p:txBody>
      </p:sp>
      <p:sp>
        <p:nvSpPr>
          <p:cNvPr id="20" name="Shape 18"/>
          <p:cNvSpPr/>
          <p:nvPr/>
        </p:nvSpPr>
        <p:spPr>
          <a:xfrm>
            <a:off x="2432304" y="987552"/>
            <a:ext cx="2057400" cy="3657600"/>
          </a:xfrm>
          <a:prstGeom prst="rect">
            <a:avLst/>
          </a:prstGeom>
          <a:solidFill>
            <a:srgbClr val="15273A"/>
          </a:solidFill>
          <a:ln w="12700">
            <a:solidFill>
              <a:srgbClr val="2A3F56"/>
            </a:solidFill>
            <a:prstDash val="solid"/>
          </a:ln>
        </p:spPr>
      </p:sp>
      <p:sp>
        <p:nvSpPr>
          <p:cNvPr id="21" name="Shape 19"/>
          <p:cNvSpPr/>
          <p:nvPr/>
        </p:nvSpPr>
        <p:spPr>
          <a:xfrm>
            <a:off x="2432304" y="987552"/>
            <a:ext cx="2057400" cy="292608"/>
          </a:xfrm>
          <a:prstGeom prst="rect">
            <a:avLst/>
          </a:prstGeom>
          <a:solidFill>
            <a:srgbClr val="5B4EA0"/>
          </a:solidFill>
          <a:ln w="12700">
            <a:solidFill>
              <a:srgbClr val="5B4EA0"/>
            </a:solidFill>
            <a:prstDash val="solid"/>
          </a:ln>
        </p:spPr>
      </p:sp>
      <p:sp>
        <p:nvSpPr>
          <p:cNvPr id="22" name="Text 20"/>
          <p:cNvSpPr/>
          <p:nvPr/>
        </p:nvSpPr>
        <p:spPr>
          <a:xfrm>
            <a:off x="2478024" y="987552"/>
            <a:ext cx="196596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Comms Officer</a:t>
            </a:r>
            <a:endParaRPr lang="en-US" sz="1050" dirty="0"/>
          </a:p>
        </p:txBody>
      </p:sp>
      <p:sp>
        <p:nvSpPr>
          <p:cNvPr id="23" name="Text 21"/>
          <p:cNvSpPr/>
          <p:nvPr/>
        </p:nvSpPr>
        <p:spPr>
          <a:xfrm>
            <a:off x="2505456" y="1307592"/>
            <a:ext cx="1920240" cy="201168"/>
          </a:xfrm>
          <a:prstGeom prst="rect">
            <a:avLst/>
          </a:prstGeom>
          <a:noFill/>
          <a:ln/>
        </p:spPr>
        <p:txBody>
          <a:bodyPr wrap="square" lIns="0" tIns="0" rIns="0" bIns="0" rtlCol="0" anchor="ctr"/>
          <a:lstStyle/>
          <a:p>
            <a:pPr indent="0" marL="0">
              <a:buNone/>
            </a:pPr>
            <a:r>
              <a:rPr lang="en-US" sz="800" b="1" dirty="0">
                <a:solidFill>
                  <a:srgbClr val="5B4EA0"/>
                </a:solidFill>
                <a:latin typeface="Calibri" pitchFamily="34" charset="0"/>
                <a:ea typeface="Calibri" pitchFamily="34" charset="-122"/>
                <a:cs typeface="Calibri" pitchFamily="34" charset="-120"/>
              </a:rPr>
              <a:t>SPEAKS:  Nick Vilaiwan</a:t>
            </a:r>
            <a:endParaRPr lang="en-US" sz="800" dirty="0"/>
          </a:p>
        </p:txBody>
      </p:sp>
      <p:sp>
        <p:nvSpPr>
          <p:cNvPr id="24" name="Shape 22"/>
          <p:cNvSpPr/>
          <p:nvPr/>
        </p:nvSpPr>
        <p:spPr>
          <a:xfrm>
            <a:off x="2523744" y="1536192"/>
            <a:ext cx="109728" cy="109728"/>
          </a:xfrm>
          <a:prstGeom prst="rect">
            <a:avLst/>
          </a:prstGeom>
          <a:solidFill>
            <a:srgbClr val="5B4EA0"/>
          </a:solidFill>
          <a:ln w="12700">
            <a:solidFill>
              <a:srgbClr val="5B4EA0"/>
            </a:solidFill>
            <a:prstDash val="solid"/>
          </a:ln>
        </p:spPr>
      </p:sp>
      <p:sp>
        <p:nvSpPr>
          <p:cNvPr id="25" name="Text 23"/>
          <p:cNvSpPr/>
          <p:nvPr/>
        </p:nvSpPr>
        <p:spPr>
          <a:xfrm>
            <a:off x="2679192" y="1508760"/>
            <a:ext cx="1755648" cy="475488"/>
          </a:xfrm>
          <a:prstGeom prst="rect">
            <a:avLst/>
          </a:prstGeom>
          <a:noFill/>
          <a:ln/>
        </p:spPr>
        <p:txBody>
          <a:bodyPr wrap="square" lIns="0" tIns="0" rIns="0" bIns="0" rtlCol="0" anchor="t"/>
          <a:lstStyle/>
          <a:p>
            <a:pPr indent="0" marL="0">
              <a:buNone/>
            </a:pPr>
            <a:r>
              <a:rPr lang="en-US" sz="900" dirty="0">
                <a:solidFill>
                  <a:srgbClr val="DDEEFF"/>
                </a:solidFill>
                <a:latin typeface="Calibri" pitchFamily="34" charset="0"/>
                <a:ea typeface="Calibri" pitchFamily="34" charset="-122"/>
                <a:cs typeface="Calibri" pitchFamily="34" charset="-120"/>
              </a:rPr>
              <a:t>Send internal SEV 1 alert to all 45 staff via out-of-band Teams channel</a:t>
            </a:r>
            <a:endParaRPr lang="en-US" sz="900" dirty="0"/>
          </a:p>
        </p:txBody>
      </p:sp>
      <p:sp>
        <p:nvSpPr>
          <p:cNvPr id="26" name="Shape 24"/>
          <p:cNvSpPr/>
          <p:nvPr/>
        </p:nvSpPr>
        <p:spPr>
          <a:xfrm>
            <a:off x="2523744" y="2066544"/>
            <a:ext cx="109728" cy="109728"/>
          </a:xfrm>
          <a:prstGeom prst="rect">
            <a:avLst/>
          </a:prstGeom>
          <a:solidFill>
            <a:srgbClr val="5B4EA0"/>
          </a:solidFill>
          <a:ln w="12700">
            <a:solidFill>
              <a:srgbClr val="5B4EA0"/>
            </a:solidFill>
            <a:prstDash val="solid"/>
          </a:ln>
        </p:spPr>
      </p:sp>
      <p:sp>
        <p:nvSpPr>
          <p:cNvPr id="27" name="Text 25"/>
          <p:cNvSpPr/>
          <p:nvPr/>
        </p:nvSpPr>
        <p:spPr>
          <a:xfrm>
            <a:off x="2679192" y="2039112"/>
            <a:ext cx="1755648" cy="475488"/>
          </a:xfrm>
          <a:prstGeom prst="rect">
            <a:avLst/>
          </a:prstGeom>
          <a:noFill/>
          <a:ln/>
        </p:spPr>
        <p:txBody>
          <a:bodyPr wrap="square" lIns="0" tIns="0" rIns="0" bIns="0" rtlCol="0" anchor="t"/>
          <a:lstStyle/>
          <a:p>
            <a:pPr indent="0" marL="0">
              <a:buNone/>
            </a:pPr>
            <a:r>
              <a:rPr lang="en-US" sz="900" dirty="0">
                <a:solidFill>
                  <a:srgbClr val="DDEEFF"/>
                </a:solidFill>
                <a:latin typeface="Calibri" pitchFamily="34" charset="0"/>
                <a:ea typeface="Calibri" pitchFamily="34" charset="-122"/>
                <a:cs typeface="Calibri" pitchFamily="34" charset="-120"/>
              </a:rPr>
              <a:t>Activate dedicated IRT communication bridge (MS Teams IR channel)</a:t>
            </a:r>
            <a:endParaRPr lang="en-US" sz="900" dirty="0"/>
          </a:p>
        </p:txBody>
      </p:sp>
      <p:sp>
        <p:nvSpPr>
          <p:cNvPr id="28" name="Shape 26"/>
          <p:cNvSpPr/>
          <p:nvPr/>
        </p:nvSpPr>
        <p:spPr>
          <a:xfrm>
            <a:off x="2523744" y="2596896"/>
            <a:ext cx="109728" cy="109728"/>
          </a:xfrm>
          <a:prstGeom prst="rect">
            <a:avLst/>
          </a:prstGeom>
          <a:solidFill>
            <a:srgbClr val="5B4EA0"/>
          </a:solidFill>
          <a:ln w="12700">
            <a:solidFill>
              <a:srgbClr val="5B4EA0"/>
            </a:solidFill>
            <a:prstDash val="solid"/>
          </a:ln>
        </p:spPr>
      </p:sp>
      <p:sp>
        <p:nvSpPr>
          <p:cNvPr id="29" name="Text 27"/>
          <p:cNvSpPr/>
          <p:nvPr/>
        </p:nvSpPr>
        <p:spPr>
          <a:xfrm>
            <a:off x="2679192" y="2569464"/>
            <a:ext cx="1755648" cy="475488"/>
          </a:xfrm>
          <a:prstGeom prst="rect">
            <a:avLst/>
          </a:prstGeom>
          <a:noFill/>
          <a:ln/>
        </p:spPr>
        <p:txBody>
          <a:bodyPr wrap="square" lIns="0" tIns="0" rIns="0" bIns="0" rtlCol="0" anchor="t"/>
          <a:lstStyle/>
          <a:p>
            <a:pPr indent="0" marL="0">
              <a:buNone/>
            </a:pPr>
            <a:r>
              <a:rPr lang="en-US" sz="900" dirty="0">
                <a:solidFill>
                  <a:srgbClr val="DDEEFF"/>
                </a:solidFill>
                <a:latin typeface="Calibri" pitchFamily="34" charset="0"/>
                <a:ea typeface="Calibri" pitchFamily="34" charset="-122"/>
                <a:cs typeface="Calibri" pitchFamily="34" charset="-120"/>
              </a:rPr>
              <a:t>Draft holding statement: 'We are aware of a technical issue and investigating'</a:t>
            </a:r>
            <a:endParaRPr lang="en-US" sz="900" dirty="0"/>
          </a:p>
        </p:txBody>
      </p:sp>
      <p:sp>
        <p:nvSpPr>
          <p:cNvPr id="30" name="Shape 28"/>
          <p:cNvSpPr/>
          <p:nvPr/>
        </p:nvSpPr>
        <p:spPr>
          <a:xfrm>
            <a:off x="2523744" y="3127248"/>
            <a:ext cx="109728" cy="109728"/>
          </a:xfrm>
          <a:prstGeom prst="rect">
            <a:avLst/>
          </a:prstGeom>
          <a:solidFill>
            <a:srgbClr val="5B4EA0"/>
          </a:solidFill>
          <a:ln w="12700">
            <a:solidFill>
              <a:srgbClr val="5B4EA0"/>
            </a:solidFill>
            <a:prstDash val="solid"/>
          </a:ln>
        </p:spPr>
      </p:sp>
      <p:sp>
        <p:nvSpPr>
          <p:cNvPr id="31" name="Text 29"/>
          <p:cNvSpPr/>
          <p:nvPr/>
        </p:nvSpPr>
        <p:spPr>
          <a:xfrm>
            <a:off x="2679192" y="3099816"/>
            <a:ext cx="1755648" cy="475488"/>
          </a:xfrm>
          <a:prstGeom prst="rect">
            <a:avLst/>
          </a:prstGeom>
          <a:noFill/>
          <a:ln/>
        </p:spPr>
        <p:txBody>
          <a:bodyPr wrap="square" lIns="0" tIns="0" rIns="0" bIns="0" rtlCol="0" anchor="t"/>
          <a:lstStyle/>
          <a:p>
            <a:pPr indent="0" marL="0">
              <a:buNone/>
            </a:pPr>
            <a:r>
              <a:rPr lang="en-US" sz="900" dirty="0">
                <a:solidFill>
                  <a:srgbClr val="DDEEFF"/>
                </a:solidFill>
                <a:latin typeface="Calibri" pitchFamily="34" charset="0"/>
                <a:ea typeface="Calibri" pitchFamily="34" charset="-122"/>
                <a:cs typeface="Calibri" pitchFamily="34" charset="-120"/>
              </a:rPr>
              <a:t>Prepare patient notification template pending Legal sign-off</a:t>
            </a:r>
            <a:endParaRPr lang="en-US" sz="900" dirty="0"/>
          </a:p>
        </p:txBody>
      </p:sp>
      <p:sp>
        <p:nvSpPr>
          <p:cNvPr id="32" name="Shape 30"/>
          <p:cNvSpPr/>
          <p:nvPr/>
        </p:nvSpPr>
        <p:spPr>
          <a:xfrm>
            <a:off x="2478024" y="4279392"/>
            <a:ext cx="1965960" cy="292608"/>
          </a:xfrm>
          <a:prstGeom prst="rect">
            <a:avLst/>
          </a:prstGeom>
          <a:solidFill>
            <a:srgbClr val="0D1E30"/>
          </a:solidFill>
          <a:ln w="12700">
            <a:solidFill>
              <a:srgbClr val="2A3F56"/>
            </a:solidFill>
            <a:prstDash val="solid"/>
          </a:ln>
        </p:spPr>
      </p:sp>
      <p:sp>
        <p:nvSpPr>
          <p:cNvPr id="33" name="Shape 31"/>
          <p:cNvSpPr/>
          <p:nvPr/>
        </p:nvSpPr>
        <p:spPr>
          <a:xfrm>
            <a:off x="2478024" y="4279392"/>
            <a:ext cx="54864" cy="292608"/>
          </a:xfrm>
          <a:prstGeom prst="rect">
            <a:avLst/>
          </a:prstGeom>
          <a:solidFill>
            <a:srgbClr val="5B4EA0"/>
          </a:solidFill>
          <a:ln w="12700">
            <a:solidFill>
              <a:srgbClr val="5B4EA0"/>
            </a:solidFill>
            <a:prstDash val="solid"/>
          </a:ln>
        </p:spPr>
      </p:sp>
      <p:sp>
        <p:nvSpPr>
          <p:cNvPr id="34" name="Text 32"/>
          <p:cNvSpPr/>
          <p:nvPr/>
        </p:nvSpPr>
        <p:spPr>
          <a:xfrm>
            <a:off x="2569464" y="4279392"/>
            <a:ext cx="1828800" cy="292608"/>
          </a:xfrm>
          <a:prstGeom prst="rect">
            <a:avLst/>
          </a:prstGeom>
          <a:noFill/>
          <a:ln/>
        </p:spPr>
        <p:txBody>
          <a:bodyPr wrap="square" lIns="0" tIns="0" rIns="0" bIns="0" rtlCol="0" anchor="ctr"/>
          <a:lstStyle/>
          <a:p>
            <a:pPr indent="0" marL="0">
              <a:buNone/>
            </a:pPr>
            <a:r>
              <a:rPr lang="en-US" sz="800" i="1" dirty="0">
                <a:solidFill>
                  <a:srgbClr val="AABBCC"/>
                </a:solidFill>
                <a:latin typeface="Calibri" pitchFamily="34" charset="0"/>
                <a:ea typeface="Calibri" pitchFamily="34" charset="-122"/>
                <a:cs typeface="Calibri" pitchFamily="34" charset="-120"/>
              </a:rPr>
              <a:t>Internal comms within 15 min of SEV 1</a:t>
            </a:r>
            <a:endParaRPr lang="en-US" sz="800" dirty="0"/>
          </a:p>
        </p:txBody>
      </p:sp>
      <p:sp>
        <p:nvSpPr>
          <p:cNvPr id="35" name="Shape 33"/>
          <p:cNvSpPr/>
          <p:nvPr/>
        </p:nvSpPr>
        <p:spPr>
          <a:xfrm>
            <a:off x="4617720" y="987552"/>
            <a:ext cx="2057400" cy="3657600"/>
          </a:xfrm>
          <a:prstGeom prst="rect">
            <a:avLst/>
          </a:prstGeom>
          <a:solidFill>
            <a:srgbClr val="15273A"/>
          </a:solidFill>
          <a:ln w="12700">
            <a:solidFill>
              <a:srgbClr val="2A3F56"/>
            </a:solidFill>
            <a:prstDash val="solid"/>
          </a:ln>
        </p:spPr>
      </p:sp>
      <p:sp>
        <p:nvSpPr>
          <p:cNvPr id="36" name="Shape 34"/>
          <p:cNvSpPr/>
          <p:nvPr/>
        </p:nvSpPr>
        <p:spPr>
          <a:xfrm>
            <a:off x="4617720" y="987552"/>
            <a:ext cx="2057400" cy="292608"/>
          </a:xfrm>
          <a:prstGeom prst="rect">
            <a:avLst/>
          </a:prstGeom>
          <a:solidFill>
            <a:srgbClr val="C55A11"/>
          </a:solidFill>
          <a:ln w="12700">
            <a:solidFill>
              <a:srgbClr val="C55A11"/>
            </a:solidFill>
            <a:prstDash val="solid"/>
          </a:ln>
        </p:spPr>
      </p:sp>
      <p:sp>
        <p:nvSpPr>
          <p:cNvPr id="37" name="Text 35"/>
          <p:cNvSpPr/>
          <p:nvPr/>
        </p:nvSpPr>
        <p:spPr>
          <a:xfrm>
            <a:off x="4663440" y="987552"/>
            <a:ext cx="196596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Legal / Privacy Officer</a:t>
            </a:r>
            <a:endParaRPr lang="en-US" sz="1050" dirty="0"/>
          </a:p>
        </p:txBody>
      </p:sp>
      <p:sp>
        <p:nvSpPr>
          <p:cNvPr id="38" name="Text 36"/>
          <p:cNvSpPr/>
          <p:nvPr/>
        </p:nvSpPr>
        <p:spPr>
          <a:xfrm>
            <a:off x="4690872" y="1307592"/>
            <a:ext cx="1920240" cy="201168"/>
          </a:xfrm>
          <a:prstGeom prst="rect">
            <a:avLst/>
          </a:prstGeom>
          <a:noFill/>
          <a:ln/>
        </p:spPr>
        <p:txBody>
          <a:bodyPr wrap="square" lIns="0" tIns="0" rIns="0" bIns="0" rtlCol="0" anchor="ctr"/>
          <a:lstStyle/>
          <a:p>
            <a:pPr indent="0" marL="0">
              <a:buNone/>
            </a:pPr>
            <a:r>
              <a:rPr lang="en-US" sz="800" b="1" dirty="0">
                <a:solidFill>
                  <a:srgbClr val="C55A11"/>
                </a:solidFill>
                <a:latin typeface="Calibri" pitchFamily="34" charset="0"/>
                <a:ea typeface="Calibri" pitchFamily="34" charset="-122"/>
                <a:cs typeface="Calibri" pitchFamily="34" charset="-120"/>
              </a:rPr>
              <a:t>SPEAKS:  Samiha Suha</a:t>
            </a:r>
            <a:endParaRPr lang="en-US" sz="800" dirty="0"/>
          </a:p>
        </p:txBody>
      </p:sp>
      <p:sp>
        <p:nvSpPr>
          <p:cNvPr id="39" name="Shape 37"/>
          <p:cNvSpPr/>
          <p:nvPr/>
        </p:nvSpPr>
        <p:spPr>
          <a:xfrm>
            <a:off x="4709160" y="1536192"/>
            <a:ext cx="109728" cy="109728"/>
          </a:xfrm>
          <a:prstGeom prst="rect">
            <a:avLst/>
          </a:prstGeom>
          <a:solidFill>
            <a:srgbClr val="C55A11"/>
          </a:solidFill>
          <a:ln w="12700">
            <a:solidFill>
              <a:srgbClr val="C55A11"/>
            </a:solidFill>
            <a:prstDash val="solid"/>
          </a:ln>
        </p:spPr>
      </p:sp>
      <p:sp>
        <p:nvSpPr>
          <p:cNvPr id="40" name="Text 38"/>
          <p:cNvSpPr/>
          <p:nvPr/>
        </p:nvSpPr>
        <p:spPr>
          <a:xfrm>
            <a:off x="4864608" y="1508760"/>
            <a:ext cx="1755648" cy="475488"/>
          </a:xfrm>
          <a:prstGeom prst="rect">
            <a:avLst/>
          </a:prstGeom>
          <a:noFill/>
          <a:ln/>
        </p:spPr>
        <p:txBody>
          <a:bodyPr wrap="square" lIns="0" tIns="0" rIns="0" bIns="0" rtlCol="0" anchor="t"/>
          <a:lstStyle/>
          <a:p>
            <a:pPr indent="0" marL="0">
              <a:buNone/>
            </a:pPr>
            <a:r>
              <a:rPr lang="en-US" sz="900" dirty="0">
                <a:solidFill>
                  <a:srgbClr val="DDEEFF"/>
                </a:solidFill>
                <a:latin typeface="Calibri" pitchFamily="34" charset="0"/>
                <a:ea typeface="Calibri" pitchFamily="34" charset="-122"/>
                <a:cs typeface="Calibri" pitchFamily="34" charset="-120"/>
              </a:rPr>
              <a:t>Confirm: patient data potentially involved — Unknown (pending forensics)</a:t>
            </a:r>
            <a:endParaRPr lang="en-US" sz="900" dirty="0"/>
          </a:p>
        </p:txBody>
      </p:sp>
      <p:sp>
        <p:nvSpPr>
          <p:cNvPr id="41" name="Shape 39"/>
          <p:cNvSpPr/>
          <p:nvPr/>
        </p:nvSpPr>
        <p:spPr>
          <a:xfrm>
            <a:off x="4709160" y="2066544"/>
            <a:ext cx="109728" cy="109728"/>
          </a:xfrm>
          <a:prstGeom prst="rect">
            <a:avLst/>
          </a:prstGeom>
          <a:solidFill>
            <a:srgbClr val="C55A11"/>
          </a:solidFill>
          <a:ln w="12700">
            <a:solidFill>
              <a:srgbClr val="C55A11"/>
            </a:solidFill>
            <a:prstDash val="solid"/>
          </a:ln>
        </p:spPr>
      </p:sp>
      <p:sp>
        <p:nvSpPr>
          <p:cNvPr id="42" name="Text 40"/>
          <p:cNvSpPr/>
          <p:nvPr/>
        </p:nvSpPr>
        <p:spPr>
          <a:xfrm>
            <a:off x="4864608" y="2039112"/>
            <a:ext cx="1755648" cy="475488"/>
          </a:xfrm>
          <a:prstGeom prst="rect">
            <a:avLst/>
          </a:prstGeom>
          <a:noFill/>
          <a:ln/>
        </p:spPr>
        <p:txBody>
          <a:bodyPr wrap="square" lIns="0" tIns="0" rIns="0" bIns="0" rtlCol="0" anchor="t"/>
          <a:lstStyle/>
          <a:p>
            <a:pPr indent="0" marL="0">
              <a:buNone/>
            </a:pPr>
            <a:r>
              <a:rPr lang="en-US" sz="900" dirty="0">
                <a:solidFill>
                  <a:srgbClr val="DDEEFF"/>
                </a:solidFill>
                <a:latin typeface="Calibri" pitchFamily="34" charset="0"/>
                <a:ea typeface="Calibri" pitchFamily="34" charset="-122"/>
                <a:cs typeface="Calibri" pitchFamily="34" charset="-120"/>
              </a:rPr>
              <a:t>Begin NDB 3-step eligibility assessment under Privacy Act 1988</a:t>
            </a:r>
            <a:endParaRPr lang="en-US" sz="900" dirty="0"/>
          </a:p>
        </p:txBody>
      </p:sp>
      <p:sp>
        <p:nvSpPr>
          <p:cNvPr id="43" name="Shape 41"/>
          <p:cNvSpPr/>
          <p:nvPr/>
        </p:nvSpPr>
        <p:spPr>
          <a:xfrm>
            <a:off x="4709160" y="2596896"/>
            <a:ext cx="109728" cy="109728"/>
          </a:xfrm>
          <a:prstGeom prst="rect">
            <a:avLst/>
          </a:prstGeom>
          <a:solidFill>
            <a:srgbClr val="C55A11"/>
          </a:solidFill>
          <a:ln w="12700">
            <a:solidFill>
              <a:srgbClr val="C55A11"/>
            </a:solidFill>
            <a:prstDash val="solid"/>
          </a:ln>
        </p:spPr>
      </p:sp>
      <p:sp>
        <p:nvSpPr>
          <p:cNvPr id="44" name="Text 42"/>
          <p:cNvSpPr/>
          <p:nvPr/>
        </p:nvSpPr>
        <p:spPr>
          <a:xfrm>
            <a:off x="4864608" y="2569464"/>
            <a:ext cx="1755648" cy="475488"/>
          </a:xfrm>
          <a:prstGeom prst="rect">
            <a:avLst/>
          </a:prstGeom>
          <a:noFill/>
          <a:ln/>
        </p:spPr>
        <p:txBody>
          <a:bodyPr wrap="square" lIns="0" tIns="0" rIns="0" bIns="0" rtlCol="0" anchor="t"/>
          <a:lstStyle/>
          <a:p>
            <a:pPr indent="0" marL="0">
              <a:buNone/>
            </a:pPr>
            <a:r>
              <a:rPr lang="en-US" sz="900" dirty="0">
                <a:solidFill>
                  <a:srgbClr val="DDEEFF"/>
                </a:solidFill>
                <a:latin typeface="Calibri" pitchFamily="34" charset="0"/>
                <a:ea typeface="Calibri" pitchFamily="34" charset="-122"/>
                <a:cs typeface="Calibri" pitchFamily="34" charset="-120"/>
              </a:rPr>
              <a:t>30-hour OAIC notification clock: STARTS at breach confirmation</a:t>
            </a:r>
            <a:endParaRPr lang="en-US" sz="900" dirty="0"/>
          </a:p>
        </p:txBody>
      </p:sp>
      <p:sp>
        <p:nvSpPr>
          <p:cNvPr id="45" name="Shape 43"/>
          <p:cNvSpPr/>
          <p:nvPr/>
        </p:nvSpPr>
        <p:spPr>
          <a:xfrm>
            <a:off x="4709160" y="3127248"/>
            <a:ext cx="109728" cy="109728"/>
          </a:xfrm>
          <a:prstGeom prst="rect">
            <a:avLst/>
          </a:prstGeom>
          <a:solidFill>
            <a:srgbClr val="C55A11"/>
          </a:solidFill>
          <a:ln w="12700">
            <a:solidFill>
              <a:srgbClr val="C55A11"/>
            </a:solidFill>
            <a:prstDash val="solid"/>
          </a:ln>
        </p:spPr>
      </p:sp>
      <p:sp>
        <p:nvSpPr>
          <p:cNvPr id="46" name="Text 44"/>
          <p:cNvSpPr/>
          <p:nvPr/>
        </p:nvSpPr>
        <p:spPr>
          <a:xfrm>
            <a:off x="4864608" y="3099816"/>
            <a:ext cx="1755648" cy="475488"/>
          </a:xfrm>
          <a:prstGeom prst="rect">
            <a:avLst/>
          </a:prstGeom>
          <a:noFill/>
          <a:ln/>
        </p:spPr>
        <p:txBody>
          <a:bodyPr wrap="square" lIns="0" tIns="0" rIns="0" bIns="0" rtlCol="0" anchor="t"/>
          <a:lstStyle/>
          <a:p>
            <a:pPr indent="0" marL="0">
              <a:buNone/>
            </a:pPr>
            <a:r>
              <a:rPr lang="en-US" sz="900" dirty="0">
                <a:solidFill>
                  <a:srgbClr val="DDEEFF"/>
                </a:solidFill>
                <a:latin typeface="Calibri" pitchFamily="34" charset="0"/>
                <a:ea typeface="Calibri" pitchFamily="34" charset="-122"/>
                <a:cs typeface="Calibri" pitchFamily="34" charset="-120"/>
              </a:rPr>
              <a:t>Notify external legal counsel re: regulatory exposure</a:t>
            </a:r>
            <a:endParaRPr lang="en-US" sz="900" dirty="0"/>
          </a:p>
        </p:txBody>
      </p:sp>
      <p:sp>
        <p:nvSpPr>
          <p:cNvPr id="47" name="Shape 45"/>
          <p:cNvSpPr/>
          <p:nvPr/>
        </p:nvSpPr>
        <p:spPr>
          <a:xfrm>
            <a:off x="4663440" y="4279392"/>
            <a:ext cx="1965960" cy="292608"/>
          </a:xfrm>
          <a:prstGeom prst="rect">
            <a:avLst/>
          </a:prstGeom>
          <a:solidFill>
            <a:srgbClr val="0D1E30"/>
          </a:solidFill>
          <a:ln w="12700">
            <a:solidFill>
              <a:srgbClr val="2A3F56"/>
            </a:solidFill>
            <a:prstDash val="solid"/>
          </a:ln>
        </p:spPr>
      </p:sp>
      <p:sp>
        <p:nvSpPr>
          <p:cNvPr id="48" name="Shape 46"/>
          <p:cNvSpPr/>
          <p:nvPr/>
        </p:nvSpPr>
        <p:spPr>
          <a:xfrm>
            <a:off x="4663440" y="4279392"/>
            <a:ext cx="54864" cy="292608"/>
          </a:xfrm>
          <a:prstGeom prst="rect">
            <a:avLst/>
          </a:prstGeom>
          <a:solidFill>
            <a:srgbClr val="C55A11"/>
          </a:solidFill>
          <a:ln w="12700">
            <a:solidFill>
              <a:srgbClr val="C55A11"/>
            </a:solidFill>
            <a:prstDash val="solid"/>
          </a:ln>
        </p:spPr>
      </p:sp>
      <p:sp>
        <p:nvSpPr>
          <p:cNvPr id="49" name="Text 47"/>
          <p:cNvSpPr/>
          <p:nvPr/>
        </p:nvSpPr>
        <p:spPr>
          <a:xfrm>
            <a:off x="4754880" y="4279392"/>
            <a:ext cx="1828800" cy="292608"/>
          </a:xfrm>
          <a:prstGeom prst="rect">
            <a:avLst/>
          </a:prstGeom>
          <a:noFill/>
          <a:ln/>
        </p:spPr>
        <p:txBody>
          <a:bodyPr wrap="square" lIns="0" tIns="0" rIns="0" bIns="0" rtlCol="0" anchor="ctr"/>
          <a:lstStyle/>
          <a:p>
            <a:pPr indent="0" marL="0">
              <a:buNone/>
            </a:pPr>
            <a:r>
              <a:rPr lang="en-US" sz="800" i="1" dirty="0">
                <a:solidFill>
                  <a:srgbClr val="AABBCC"/>
                </a:solidFill>
                <a:latin typeface="Calibri" pitchFamily="34" charset="0"/>
                <a:ea typeface="Calibri" pitchFamily="34" charset="-122"/>
                <a:cs typeface="Calibri" pitchFamily="34" charset="-120"/>
              </a:rPr>
              <a:t>NDB clock starts at breach confirmation</a:t>
            </a:r>
            <a:endParaRPr lang="en-US" sz="800" dirty="0"/>
          </a:p>
        </p:txBody>
      </p:sp>
      <p:sp>
        <p:nvSpPr>
          <p:cNvPr id="50" name="Shape 48"/>
          <p:cNvSpPr/>
          <p:nvPr/>
        </p:nvSpPr>
        <p:spPr>
          <a:xfrm>
            <a:off x="6803136" y="987552"/>
            <a:ext cx="2057400" cy="3657600"/>
          </a:xfrm>
          <a:prstGeom prst="rect">
            <a:avLst/>
          </a:prstGeom>
          <a:solidFill>
            <a:srgbClr val="15273A"/>
          </a:solidFill>
          <a:ln w="12700">
            <a:solidFill>
              <a:srgbClr val="2A3F56"/>
            </a:solidFill>
            <a:prstDash val="solid"/>
          </a:ln>
        </p:spPr>
      </p:sp>
      <p:sp>
        <p:nvSpPr>
          <p:cNvPr id="51" name="Shape 49"/>
          <p:cNvSpPr/>
          <p:nvPr/>
        </p:nvSpPr>
        <p:spPr>
          <a:xfrm>
            <a:off x="6803136" y="987552"/>
            <a:ext cx="2057400" cy="292608"/>
          </a:xfrm>
          <a:prstGeom prst="rect">
            <a:avLst/>
          </a:prstGeom>
          <a:solidFill>
            <a:srgbClr val="C0392B"/>
          </a:solidFill>
          <a:ln w="12700">
            <a:solidFill>
              <a:srgbClr val="C0392B"/>
            </a:solidFill>
            <a:prstDash val="solid"/>
          </a:ln>
        </p:spPr>
      </p:sp>
      <p:sp>
        <p:nvSpPr>
          <p:cNvPr id="52" name="Text 50"/>
          <p:cNvSpPr/>
          <p:nvPr/>
        </p:nvSpPr>
        <p:spPr>
          <a:xfrm>
            <a:off x="6848856" y="987552"/>
            <a:ext cx="196596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Incident Commander</a:t>
            </a:r>
            <a:endParaRPr lang="en-US" sz="1050" dirty="0"/>
          </a:p>
        </p:txBody>
      </p:sp>
      <p:sp>
        <p:nvSpPr>
          <p:cNvPr id="53" name="Text 51"/>
          <p:cNvSpPr/>
          <p:nvPr/>
        </p:nvSpPr>
        <p:spPr>
          <a:xfrm>
            <a:off x="6876288" y="1307592"/>
            <a:ext cx="1920240" cy="201168"/>
          </a:xfrm>
          <a:prstGeom prst="rect">
            <a:avLst/>
          </a:prstGeom>
          <a:noFill/>
          <a:ln/>
        </p:spPr>
        <p:txBody>
          <a:bodyPr wrap="square" lIns="0" tIns="0" rIns="0" bIns="0" rtlCol="0" anchor="ctr"/>
          <a:lstStyle/>
          <a:p>
            <a:pPr indent="0" marL="0">
              <a:buNone/>
            </a:pPr>
            <a:r>
              <a:rPr lang="en-US" sz="800" b="1" dirty="0">
                <a:solidFill>
                  <a:srgbClr val="C0392B"/>
                </a:solidFill>
                <a:latin typeface="Calibri" pitchFamily="34" charset="0"/>
                <a:ea typeface="Calibri" pitchFamily="34" charset="-122"/>
                <a:cs typeface="Calibri" pitchFamily="34" charset="-120"/>
              </a:rPr>
              <a:t>SPEAKS:  Mimy Thongphataysack</a:t>
            </a:r>
            <a:endParaRPr lang="en-US" sz="800" dirty="0"/>
          </a:p>
        </p:txBody>
      </p:sp>
      <p:sp>
        <p:nvSpPr>
          <p:cNvPr id="54" name="Shape 52"/>
          <p:cNvSpPr/>
          <p:nvPr/>
        </p:nvSpPr>
        <p:spPr>
          <a:xfrm>
            <a:off x="6894576" y="1536192"/>
            <a:ext cx="109728" cy="109728"/>
          </a:xfrm>
          <a:prstGeom prst="rect">
            <a:avLst/>
          </a:prstGeom>
          <a:solidFill>
            <a:srgbClr val="C0392B"/>
          </a:solidFill>
          <a:ln w="12700">
            <a:solidFill>
              <a:srgbClr val="C0392B"/>
            </a:solidFill>
            <a:prstDash val="solid"/>
          </a:ln>
        </p:spPr>
      </p:sp>
      <p:sp>
        <p:nvSpPr>
          <p:cNvPr id="55" name="Text 53"/>
          <p:cNvSpPr/>
          <p:nvPr/>
        </p:nvSpPr>
        <p:spPr>
          <a:xfrm>
            <a:off x="7050024" y="1508760"/>
            <a:ext cx="1755648" cy="475488"/>
          </a:xfrm>
          <a:prstGeom prst="rect">
            <a:avLst/>
          </a:prstGeom>
          <a:noFill/>
          <a:ln/>
        </p:spPr>
        <p:txBody>
          <a:bodyPr wrap="square" lIns="0" tIns="0" rIns="0" bIns="0" rtlCol="0" anchor="t"/>
          <a:lstStyle/>
          <a:p>
            <a:pPr indent="0" marL="0">
              <a:buNone/>
            </a:pPr>
            <a:r>
              <a:rPr lang="en-US" sz="900" dirty="0">
                <a:solidFill>
                  <a:srgbClr val="DDEEFF"/>
                </a:solidFill>
                <a:latin typeface="Calibri" pitchFamily="34" charset="0"/>
                <a:ea typeface="Calibri" pitchFamily="34" charset="-122"/>
                <a:cs typeface="Calibri" pitchFamily="34" charset="-120"/>
              </a:rPr>
              <a:t>Declare SEV 1 — 09:28 AEST</a:t>
            </a:r>
            <a:endParaRPr lang="en-US" sz="900" dirty="0"/>
          </a:p>
        </p:txBody>
      </p:sp>
      <p:sp>
        <p:nvSpPr>
          <p:cNvPr id="56" name="Shape 54"/>
          <p:cNvSpPr/>
          <p:nvPr/>
        </p:nvSpPr>
        <p:spPr>
          <a:xfrm>
            <a:off x="6894576" y="2066544"/>
            <a:ext cx="109728" cy="109728"/>
          </a:xfrm>
          <a:prstGeom prst="rect">
            <a:avLst/>
          </a:prstGeom>
          <a:solidFill>
            <a:srgbClr val="C0392B"/>
          </a:solidFill>
          <a:ln w="12700">
            <a:solidFill>
              <a:srgbClr val="C0392B"/>
            </a:solidFill>
            <a:prstDash val="solid"/>
          </a:ln>
        </p:spPr>
      </p:sp>
      <p:sp>
        <p:nvSpPr>
          <p:cNvPr id="57" name="Text 55"/>
          <p:cNvSpPr/>
          <p:nvPr/>
        </p:nvSpPr>
        <p:spPr>
          <a:xfrm>
            <a:off x="7050024" y="2039112"/>
            <a:ext cx="1755648" cy="475488"/>
          </a:xfrm>
          <a:prstGeom prst="rect">
            <a:avLst/>
          </a:prstGeom>
          <a:noFill/>
          <a:ln/>
        </p:spPr>
        <p:txBody>
          <a:bodyPr wrap="square" lIns="0" tIns="0" rIns="0" bIns="0" rtlCol="0" anchor="t"/>
          <a:lstStyle/>
          <a:p>
            <a:pPr indent="0" marL="0">
              <a:buNone/>
            </a:pPr>
            <a:r>
              <a:rPr lang="en-US" sz="900" dirty="0">
                <a:solidFill>
                  <a:srgbClr val="DDEEFF"/>
                </a:solidFill>
                <a:latin typeface="Calibri" pitchFamily="34" charset="0"/>
                <a:ea typeface="Calibri" pitchFamily="34" charset="-122"/>
                <a:cs typeface="Calibri" pitchFamily="34" charset="-120"/>
              </a:rPr>
              <a:t>Notify Board of Directors: call placed within 12 minutes of declaration</a:t>
            </a:r>
            <a:endParaRPr lang="en-US" sz="900" dirty="0"/>
          </a:p>
        </p:txBody>
      </p:sp>
      <p:sp>
        <p:nvSpPr>
          <p:cNvPr id="58" name="Shape 56"/>
          <p:cNvSpPr/>
          <p:nvPr/>
        </p:nvSpPr>
        <p:spPr>
          <a:xfrm>
            <a:off x="6894576" y="2596896"/>
            <a:ext cx="109728" cy="109728"/>
          </a:xfrm>
          <a:prstGeom prst="rect">
            <a:avLst/>
          </a:prstGeom>
          <a:solidFill>
            <a:srgbClr val="C0392B"/>
          </a:solidFill>
          <a:ln w="12700">
            <a:solidFill>
              <a:srgbClr val="C0392B"/>
            </a:solidFill>
            <a:prstDash val="solid"/>
          </a:ln>
        </p:spPr>
      </p:sp>
      <p:sp>
        <p:nvSpPr>
          <p:cNvPr id="59" name="Text 57"/>
          <p:cNvSpPr/>
          <p:nvPr/>
        </p:nvSpPr>
        <p:spPr>
          <a:xfrm>
            <a:off x="7050024" y="2569464"/>
            <a:ext cx="1755648" cy="475488"/>
          </a:xfrm>
          <a:prstGeom prst="rect">
            <a:avLst/>
          </a:prstGeom>
          <a:noFill/>
          <a:ln/>
        </p:spPr>
        <p:txBody>
          <a:bodyPr wrap="square" lIns="0" tIns="0" rIns="0" bIns="0" rtlCol="0" anchor="t"/>
          <a:lstStyle/>
          <a:p>
            <a:pPr indent="0" marL="0">
              <a:buNone/>
            </a:pPr>
            <a:r>
              <a:rPr lang="en-US" sz="900" dirty="0">
                <a:solidFill>
                  <a:srgbClr val="DDEEFF"/>
                </a:solidFill>
                <a:latin typeface="Calibri" pitchFamily="34" charset="0"/>
                <a:ea typeface="Calibri" pitchFamily="34" charset="-122"/>
                <a:cs typeface="Calibri" pitchFamily="34" charset="-120"/>
              </a:rPr>
              <a:t>Authorise resource allocation for full IRT activation</a:t>
            </a:r>
            <a:endParaRPr lang="en-US" sz="900" dirty="0"/>
          </a:p>
        </p:txBody>
      </p:sp>
      <p:sp>
        <p:nvSpPr>
          <p:cNvPr id="60" name="Shape 58"/>
          <p:cNvSpPr/>
          <p:nvPr/>
        </p:nvSpPr>
        <p:spPr>
          <a:xfrm>
            <a:off x="6894576" y="3127248"/>
            <a:ext cx="109728" cy="109728"/>
          </a:xfrm>
          <a:prstGeom prst="rect">
            <a:avLst/>
          </a:prstGeom>
          <a:solidFill>
            <a:srgbClr val="C0392B"/>
          </a:solidFill>
          <a:ln w="12700">
            <a:solidFill>
              <a:srgbClr val="C0392B"/>
            </a:solidFill>
            <a:prstDash val="solid"/>
          </a:ln>
        </p:spPr>
      </p:sp>
      <p:sp>
        <p:nvSpPr>
          <p:cNvPr id="61" name="Text 59"/>
          <p:cNvSpPr/>
          <p:nvPr/>
        </p:nvSpPr>
        <p:spPr>
          <a:xfrm>
            <a:off x="7050024" y="3099816"/>
            <a:ext cx="1755648" cy="475488"/>
          </a:xfrm>
          <a:prstGeom prst="rect">
            <a:avLst/>
          </a:prstGeom>
          <a:noFill/>
          <a:ln/>
        </p:spPr>
        <p:txBody>
          <a:bodyPr wrap="square" lIns="0" tIns="0" rIns="0" bIns="0" rtlCol="0" anchor="t"/>
          <a:lstStyle/>
          <a:p>
            <a:pPr indent="0" marL="0">
              <a:buNone/>
            </a:pPr>
            <a:r>
              <a:rPr lang="en-US" sz="900" dirty="0">
                <a:solidFill>
                  <a:srgbClr val="DDEEFF"/>
                </a:solidFill>
                <a:latin typeface="Calibri" pitchFamily="34" charset="0"/>
                <a:ea typeface="Calibri" pitchFamily="34" charset="-122"/>
                <a:cs typeface="Calibri" pitchFamily="34" charset="-120"/>
              </a:rPr>
              <a:t>"Patient data may be at risk — do NOT notify customers yet, pending Legal"</a:t>
            </a:r>
            <a:endParaRPr lang="en-US" sz="900" dirty="0"/>
          </a:p>
        </p:txBody>
      </p:sp>
      <p:sp>
        <p:nvSpPr>
          <p:cNvPr id="62" name="Shape 60"/>
          <p:cNvSpPr/>
          <p:nvPr/>
        </p:nvSpPr>
        <p:spPr>
          <a:xfrm>
            <a:off x="6848856" y="4279392"/>
            <a:ext cx="1965960" cy="292608"/>
          </a:xfrm>
          <a:prstGeom prst="rect">
            <a:avLst/>
          </a:prstGeom>
          <a:solidFill>
            <a:srgbClr val="0D1E30"/>
          </a:solidFill>
          <a:ln w="12700">
            <a:solidFill>
              <a:srgbClr val="2A3F56"/>
            </a:solidFill>
            <a:prstDash val="solid"/>
          </a:ln>
        </p:spPr>
      </p:sp>
      <p:sp>
        <p:nvSpPr>
          <p:cNvPr id="63" name="Shape 61"/>
          <p:cNvSpPr/>
          <p:nvPr/>
        </p:nvSpPr>
        <p:spPr>
          <a:xfrm>
            <a:off x="6848856" y="4279392"/>
            <a:ext cx="54864" cy="292608"/>
          </a:xfrm>
          <a:prstGeom prst="rect">
            <a:avLst/>
          </a:prstGeom>
          <a:solidFill>
            <a:srgbClr val="C0392B"/>
          </a:solidFill>
          <a:ln w="12700">
            <a:solidFill>
              <a:srgbClr val="C0392B"/>
            </a:solidFill>
            <a:prstDash val="solid"/>
          </a:ln>
        </p:spPr>
      </p:sp>
      <p:sp>
        <p:nvSpPr>
          <p:cNvPr id="64" name="Text 62"/>
          <p:cNvSpPr/>
          <p:nvPr/>
        </p:nvSpPr>
        <p:spPr>
          <a:xfrm>
            <a:off x="6940296" y="4279392"/>
            <a:ext cx="1828800" cy="292608"/>
          </a:xfrm>
          <a:prstGeom prst="rect">
            <a:avLst/>
          </a:prstGeom>
          <a:noFill/>
          <a:ln/>
        </p:spPr>
        <p:txBody>
          <a:bodyPr wrap="square" lIns="0" tIns="0" rIns="0" bIns="0" rtlCol="0" anchor="ctr"/>
          <a:lstStyle/>
          <a:p>
            <a:pPr indent="0" marL="0">
              <a:buNone/>
            </a:pPr>
            <a:r>
              <a:rPr lang="en-US" sz="800" i="1" dirty="0">
                <a:solidFill>
                  <a:srgbClr val="AABBCC"/>
                </a:solidFill>
                <a:latin typeface="Calibri" pitchFamily="34" charset="0"/>
                <a:ea typeface="Calibri" pitchFamily="34" charset="-122"/>
                <a:cs typeface="Calibri" pitchFamily="34" charset="-120"/>
              </a:rPr>
              <a:t>Board notified within 1 hour — Mimy Thongphataysack</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9"/>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054"/>
          </a:solidFill>
          <a:ln w="12700">
            <a:solidFill>
              <a:srgbClr val="1A3054"/>
            </a:solidFill>
            <a:prstDash val="solid"/>
          </a:ln>
        </p:spPr>
      </p:sp>
      <p:sp>
        <p:nvSpPr>
          <p:cNvPr id="3" name="Text 1"/>
          <p:cNvSpPr/>
          <p:nvPr/>
        </p:nvSpPr>
        <p:spPr>
          <a:xfrm>
            <a:off x="365760" y="73152"/>
            <a:ext cx="7772400" cy="4572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Forensic Analysis – What Happened?</a:t>
            </a:r>
            <a:endParaRPr lang="en-US" sz="2600" dirty="0"/>
          </a:p>
        </p:txBody>
      </p:sp>
      <p:sp>
        <p:nvSpPr>
          <p:cNvPr id="4" name="Text 2"/>
          <p:cNvSpPr/>
          <p:nvPr/>
        </p:nvSpPr>
        <p:spPr>
          <a:xfrm>
            <a:off x="365760" y="502920"/>
            <a:ext cx="7772400" cy="347472"/>
          </a:xfrm>
          <a:prstGeom prst="rect">
            <a:avLst/>
          </a:prstGeom>
          <a:noFill/>
          <a:ln/>
        </p:spPr>
        <p:txBody>
          <a:bodyPr wrap="square" lIns="0" tIns="0" rIns="0" bIns="0" rtlCol="0" anchor="t"/>
          <a:lstStyle/>
          <a:p>
            <a:pPr indent="0" marL="0">
              <a:buNone/>
            </a:pPr>
            <a:r>
              <a:rPr lang="en-US" sz="1300" i="1" dirty="0">
                <a:solidFill>
                  <a:srgbClr val="D4751B"/>
                </a:solidFill>
                <a:latin typeface="Calibri" pitchFamily="34" charset="0"/>
                <a:ea typeface="Calibri" pitchFamily="34" charset="-122"/>
                <a:cs typeface="Calibri" pitchFamily="34" charset="-120"/>
              </a:rPr>
              <a:t>Technical Analyst and Legal/Privacy Officer speak</a:t>
            </a:r>
            <a:endParaRPr lang="en-US" sz="1300" dirty="0"/>
          </a:p>
        </p:txBody>
      </p:sp>
      <p:sp>
        <p:nvSpPr>
          <p:cNvPr id="5" name="Text 3"/>
          <p:cNvSpPr/>
          <p:nvPr/>
        </p:nvSpPr>
        <p:spPr>
          <a:xfrm>
            <a:off x="0" y="4892040"/>
            <a:ext cx="9144000" cy="256032"/>
          </a:xfrm>
          <a:prstGeom prst="rect">
            <a:avLst/>
          </a:prstGeom>
          <a:noFill/>
          <a:ln/>
        </p:spPr>
        <p:txBody>
          <a:bodyPr wrap="square" lIns="0" tIns="0" rIns="2540" bIns="0" rtlCol="0" anchor="ctr"/>
          <a:lstStyle/>
          <a:p>
            <a:pPr algn="r" indent="0" marL="0">
              <a:buNone/>
            </a:pPr>
            <a:r>
              <a:rPr lang="en-US" sz="900" dirty="0">
                <a:solidFill>
                  <a:srgbClr val="D4751B"/>
                </a:solidFill>
                <a:latin typeface="Calibri" pitchFamily="34" charset="0"/>
                <a:ea typeface="Calibri" pitchFamily="34" charset="-122"/>
                <a:cs typeface="Calibri" pitchFamily="34" charset="-120"/>
              </a:rPr>
              <a:t>Incident Response Role Play  |  Group 3  |  IAB246</a:t>
            </a:r>
            <a:endParaRPr lang="en-US" sz="900" dirty="0"/>
          </a:p>
        </p:txBody>
      </p:sp>
      <p:sp>
        <p:nvSpPr>
          <p:cNvPr id="6" name="Shape 4"/>
          <p:cNvSpPr/>
          <p:nvPr/>
        </p:nvSpPr>
        <p:spPr>
          <a:xfrm>
            <a:off x="320040" y="1078992"/>
            <a:ext cx="1645920" cy="749808"/>
          </a:xfrm>
          <a:prstGeom prst="rect">
            <a:avLst/>
          </a:prstGeom>
          <a:solidFill>
            <a:srgbClr val="C0392B"/>
          </a:solidFill>
          <a:ln w="12700">
            <a:solidFill>
              <a:srgbClr val="C0392B"/>
            </a:solidFill>
            <a:prstDash val="solid"/>
          </a:ln>
          <a:effectLst>
            <a:outerShdw sx="100000" sy="100000" kx="0" ky="0" algn="bl" rotWithShape="0" blurRad="76200" dist="25400" dir="8100000">
              <a:srgbClr val="000000">
                <a:alpha val="25000"/>
              </a:srgbClr>
            </a:outerShdw>
          </a:effectLst>
        </p:spPr>
      </p:sp>
      <p:sp>
        <p:nvSpPr>
          <p:cNvPr id="7" name="Text 5"/>
          <p:cNvSpPr/>
          <p:nvPr/>
        </p:nvSpPr>
        <p:spPr>
          <a:xfrm>
            <a:off x="365760" y="1106424"/>
            <a:ext cx="1554480" cy="6949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ENTRY POINT</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Internet-facing</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RDP (port 3389)</a:t>
            </a:r>
            <a:endParaRPr lang="en-US" sz="850" dirty="0"/>
          </a:p>
        </p:txBody>
      </p:sp>
      <p:sp>
        <p:nvSpPr>
          <p:cNvPr id="8" name="Shape 6"/>
          <p:cNvSpPr/>
          <p:nvPr/>
        </p:nvSpPr>
        <p:spPr>
          <a:xfrm>
            <a:off x="1965960" y="1453896"/>
            <a:ext cx="164592" cy="0"/>
          </a:xfrm>
          <a:prstGeom prst="line">
            <a:avLst/>
          </a:prstGeom>
          <a:noFill/>
          <a:ln w="25400">
            <a:solidFill>
              <a:srgbClr val="FFFFFF"/>
            </a:solidFill>
            <a:prstDash val="solid"/>
          </a:ln>
        </p:spPr>
      </p:sp>
      <p:sp>
        <p:nvSpPr>
          <p:cNvPr id="9" name="Shape 7"/>
          <p:cNvSpPr/>
          <p:nvPr/>
        </p:nvSpPr>
        <p:spPr>
          <a:xfrm>
            <a:off x="2331720" y="1078992"/>
            <a:ext cx="1645920" cy="749808"/>
          </a:xfrm>
          <a:prstGeom prst="rect">
            <a:avLst/>
          </a:prstGeom>
          <a:solidFill>
            <a:srgbClr val="C55A11"/>
          </a:solidFill>
          <a:ln w="12700">
            <a:solidFill>
              <a:srgbClr val="C55A11"/>
            </a:solidFill>
            <a:prstDash val="solid"/>
          </a:ln>
          <a:effectLst>
            <a:outerShdw sx="100000" sy="100000" kx="0" ky="0" algn="bl" rotWithShape="0" blurRad="76200" dist="25400" dir="8100000">
              <a:srgbClr val="000000">
                <a:alpha val="25000"/>
              </a:srgbClr>
            </a:outerShdw>
          </a:effectLst>
        </p:spPr>
      </p:sp>
      <p:sp>
        <p:nvSpPr>
          <p:cNvPr id="10" name="Text 8"/>
          <p:cNvSpPr/>
          <p:nvPr/>
        </p:nvSpPr>
        <p:spPr>
          <a:xfrm>
            <a:off x="2377440" y="1106424"/>
            <a:ext cx="1554480" cy="6949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RDP SERVER</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Initial access</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06:41 AEST</a:t>
            </a:r>
            <a:endParaRPr lang="en-US" sz="850" dirty="0"/>
          </a:p>
        </p:txBody>
      </p:sp>
      <p:sp>
        <p:nvSpPr>
          <p:cNvPr id="11" name="Shape 9"/>
          <p:cNvSpPr/>
          <p:nvPr/>
        </p:nvSpPr>
        <p:spPr>
          <a:xfrm>
            <a:off x="3977640" y="1453896"/>
            <a:ext cx="164592" cy="0"/>
          </a:xfrm>
          <a:prstGeom prst="line">
            <a:avLst/>
          </a:prstGeom>
          <a:noFill/>
          <a:ln w="25400">
            <a:solidFill>
              <a:srgbClr val="FFFFFF"/>
            </a:solidFill>
            <a:prstDash val="solid"/>
          </a:ln>
        </p:spPr>
      </p:sp>
      <p:sp>
        <p:nvSpPr>
          <p:cNvPr id="12" name="Shape 10"/>
          <p:cNvSpPr/>
          <p:nvPr/>
        </p:nvSpPr>
        <p:spPr>
          <a:xfrm>
            <a:off x="4343400" y="1078992"/>
            <a:ext cx="1645920" cy="749808"/>
          </a:xfrm>
          <a:prstGeom prst="rect">
            <a:avLst/>
          </a:prstGeom>
          <a:solidFill>
            <a:srgbClr val="C55A11"/>
          </a:solidFill>
          <a:ln w="12700">
            <a:solidFill>
              <a:srgbClr val="C55A11"/>
            </a:solidFill>
            <a:prstDash val="solid"/>
          </a:ln>
          <a:effectLst>
            <a:outerShdw sx="100000" sy="100000" kx="0" ky="0" algn="bl" rotWithShape="0" blurRad="76200" dist="25400" dir="8100000">
              <a:srgbClr val="000000">
                <a:alpha val="25000"/>
              </a:srgbClr>
            </a:outerShdw>
          </a:effectLst>
        </p:spPr>
      </p:sp>
      <p:sp>
        <p:nvSpPr>
          <p:cNvPr id="13" name="Text 11"/>
          <p:cNvSpPr/>
          <p:nvPr/>
        </p:nvSpPr>
        <p:spPr>
          <a:xfrm>
            <a:off x="4389120" y="1106424"/>
            <a:ext cx="1554480" cy="6949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LATERAL MOVE</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Pass-the-Hash</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to EHR Server</a:t>
            </a:r>
            <a:endParaRPr lang="en-US" sz="850" dirty="0"/>
          </a:p>
        </p:txBody>
      </p:sp>
      <p:sp>
        <p:nvSpPr>
          <p:cNvPr id="14" name="Shape 12"/>
          <p:cNvSpPr/>
          <p:nvPr/>
        </p:nvSpPr>
        <p:spPr>
          <a:xfrm>
            <a:off x="5989320" y="1453896"/>
            <a:ext cx="164592" cy="0"/>
          </a:xfrm>
          <a:prstGeom prst="line">
            <a:avLst/>
          </a:prstGeom>
          <a:noFill/>
          <a:ln w="25400">
            <a:solidFill>
              <a:srgbClr val="FFFFFF"/>
            </a:solidFill>
            <a:prstDash val="solid"/>
          </a:ln>
        </p:spPr>
      </p:sp>
      <p:sp>
        <p:nvSpPr>
          <p:cNvPr id="15" name="Shape 13"/>
          <p:cNvSpPr/>
          <p:nvPr/>
        </p:nvSpPr>
        <p:spPr>
          <a:xfrm>
            <a:off x="6355080" y="1078992"/>
            <a:ext cx="1645920" cy="749808"/>
          </a:xfrm>
          <a:prstGeom prst="rect">
            <a:avLst/>
          </a:prstGeom>
          <a:solidFill>
            <a:srgbClr val="7B1515"/>
          </a:solidFill>
          <a:ln w="12700">
            <a:solidFill>
              <a:srgbClr val="7B1515"/>
            </a:solidFill>
            <a:prstDash val="solid"/>
          </a:ln>
          <a:effectLst>
            <a:outerShdw sx="100000" sy="100000" kx="0" ky="0" algn="bl" rotWithShape="0" blurRad="76200" dist="25400" dir="8100000">
              <a:srgbClr val="000000">
                <a:alpha val="25000"/>
              </a:srgbClr>
            </a:outerShdw>
          </a:effectLst>
        </p:spPr>
      </p:sp>
      <p:sp>
        <p:nvSpPr>
          <p:cNvPr id="16" name="Text 14"/>
          <p:cNvSpPr/>
          <p:nvPr/>
        </p:nvSpPr>
        <p:spPr>
          <a:xfrm>
            <a:off x="6400800" y="1106424"/>
            <a:ext cx="1554480" cy="6949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TARGET: EHR</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Priority 2 Asset</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Data accessed</a:t>
            </a:r>
            <a:endParaRPr lang="en-US" sz="850" dirty="0"/>
          </a:p>
        </p:txBody>
      </p:sp>
      <p:sp>
        <p:nvSpPr>
          <p:cNvPr id="17" name="Shape 15"/>
          <p:cNvSpPr/>
          <p:nvPr/>
        </p:nvSpPr>
        <p:spPr>
          <a:xfrm>
            <a:off x="7178040" y="1828800"/>
            <a:ext cx="0" cy="164592"/>
          </a:xfrm>
          <a:prstGeom prst="line">
            <a:avLst/>
          </a:prstGeom>
          <a:noFill/>
          <a:ln w="25400">
            <a:solidFill>
              <a:srgbClr val="FF7777"/>
            </a:solidFill>
            <a:prstDash val="solid"/>
          </a:ln>
        </p:spPr>
      </p:sp>
      <p:sp>
        <p:nvSpPr>
          <p:cNvPr id="18" name="Shape 16"/>
          <p:cNvSpPr/>
          <p:nvPr/>
        </p:nvSpPr>
        <p:spPr>
          <a:xfrm>
            <a:off x="7818120" y="2011680"/>
            <a:ext cx="1234440" cy="640080"/>
          </a:xfrm>
          <a:prstGeom prst="rect">
            <a:avLst/>
          </a:prstGeom>
          <a:solidFill>
            <a:srgbClr val="7B1515"/>
          </a:solidFill>
          <a:ln w="12700">
            <a:solidFill>
              <a:srgbClr val="7B1515"/>
            </a:solidFill>
            <a:prstDash val="solid"/>
          </a:ln>
        </p:spPr>
      </p:sp>
      <p:sp>
        <p:nvSpPr>
          <p:cNvPr id="19" name="Text 17"/>
          <p:cNvSpPr/>
          <p:nvPr/>
        </p:nvSpPr>
        <p:spPr>
          <a:xfrm>
            <a:off x="7863840" y="2029968"/>
            <a:ext cx="1143000" cy="60350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ENTRA ID</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Credentials</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Exposed</a:t>
            </a:r>
            <a:endParaRPr lang="en-US" sz="850" dirty="0"/>
          </a:p>
        </p:txBody>
      </p:sp>
      <p:sp>
        <p:nvSpPr>
          <p:cNvPr id="20" name="Shape 18"/>
          <p:cNvSpPr/>
          <p:nvPr/>
        </p:nvSpPr>
        <p:spPr>
          <a:xfrm>
            <a:off x="320040" y="2011680"/>
            <a:ext cx="1645920" cy="640080"/>
          </a:xfrm>
          <a:prstGeom prst="rect">
            <a:avLst/>
          </a:prstGeom>
          <a:solidFill>
            <a:srgbClr val="1E6B45"/>
          </a:solidFill>
          <a:ln w="12700">
            <a:solidFill>
              <a:srgbClr val="1E6B45"/>
            </a:solidFill>
            <a:prstDash val="solid"/>
          </a:ln>
        </p:spPr>
      </p:sp>
      <p:sp>
        <p:nvSpPr>
          <p:cNvPr id="21" name="Text 19"/>
          <p:cNvSpPr/>
          <p:nvPr/>
        </p:nvSpPr>
        <p:spPr>
          <a:xfrm>
            <a:off x="365760" y="2029968"/>
            <a:ext cx="1554480" cy="60350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ISOLATED</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Workstations</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Not affected</a:t>
            </a:r>
            <a:endParaRPr lang="en-US" sz="850" dirty="0"/>
          </a:p>
        </p:txBody>
      </p:sp>
      <p:sp>
        <p:nvSpPr>
          <p:cNvPr id="22" name="Shape 20"/>
          <p:cNvSpPr/>
          <p:nvPr/>
        </p:nvSpPr>
        <p:spPr>
          <a:xfrm>
            <a:off x="274320" y="2816352"/>
            <a:ext cx="5212080" cy="1664208"/>
          </a:xfrm>
          <a:prstGeom prst="rect">
            <a:avLst/>
          </a:prstGeom>
          <a:solidFill>
            <a:srgbClr val="FFFFFF"/>
          </a:solidFill>
          <a:ln w="12700">
            <a:solidFill>
              <a:srgbClr val="D8DDE6"/>
            </a:solidFill>
            <a:prstDash val="solid"/>
          </a:ln>
          <a:effectLst>
            <a:outerShdw sx="100000" sy="100000" kx="0" ky="0" algn="bl" rotWithShape="0" blurRad="63500" dist="25400" dir="8100000">
              <a:srgbClr val="000000">
                <a:alpha val="10000"/>
              </a:srgbClr>
            </a:outerShdw>
          </a:effectLst>
        </p:spPr>
      </p:sp>
      <p:sp>
        <p:nvSpPr>
          <p:cNvPr id="23" name="Shape 21"/>
          <p:cNvSpPr/>
          <p:nvPr/>
        </p:nvSpPr>
        <p:spPr>
          <a:xfrm>
            <a:off x="274320" y="2816352"/>
            <a:ext cx="5212080" cy="274320"/>
          </a:xfrm>
          <a:prstGeom prst="rect">
            <a:avLst/>
          </a:prstGeom>
          <a:solidFill>
            <a:srgbClr val="1A3054"/>
          </a:solidFill>
          <a:ln w="12700">
            <a:solidFill>
              <a:srgbClr val="1A3054"/>
            </a:solidFill>
            <a:prstDash val="solid"/>
          </a:ln>
        </p:spPr>
      </p:sp>
      <p:sp>
        <p:nvSpPr>
          <p:cNvPr id="24" name="Text 22"/>
          <p:cNvSpPr/>
          <p:nvPr/>
        </p:nvSpPr>
        <p:spPr>
          <a:xfrm>
            <a:off x="365760" y="2816352"/>
            <a:ext cx="502920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Forensic Findings  —  Technical Analyst (Nanami Fujita) Speaks</a:t>
            </a:r>
            <a:endParaRPr lang="en-US" sz="1050" dirty="0"/>
          </a:p>
        </p:txBody>
      </p:sp>
      <p:sp>
        <p:nvSpPr>
          <p:cNvPr id="25" name="Text 23"/>
          <p:cNvSpPr/>
          <p:nvPr/>
        </p:nvSpPr>
        <p:spPr>
          <a:xfrm>
            <a:off x="384048" y="3127248"/>
            <a:ext cx="1234440" cy="246888"/>
          </a:xfrm>
          <a:prstGeom prst="rect">
            <a:avLst/>
          </a:prstGeom>
          <a:noFill/>
          <a:ln/>
        </p:spPr>
        <p:txBody>
          <a:bodyPr wrap="square" lIns="0" tIns="0" rIns="0" bIns="0" rtlCol="0" anchor="ctr"/>
          <a:lstStyle/>
          <a:p>
            <a:pPr indent="0" marL="0">
              <a:buNone/>
            </a:pPr>
            <a:r>
              <a:rPr lang="en-US" sz="950" b="1" dirty="0">
                <a:solidFill>
                  <a:srgbClr val="1A3054"/>
                </a:solidFill>
                <a:latin typeface="Calibri" pitchFamily="34" charset="0"/>
                <a:ea typeface="Calibri" pitchFamily="34" charset="-122"/>
                <a:cs typeface="Calibri" pitchFamily="34" charset="-120"/>
              </a:rPr>
              <a:t>Entry point:</a:t>
            </a:r>
            <a:endParaRPr lang="en-US" sz="950" dirty="0"/>
          </a:p>
        </p:txBody>
      </p:sp>
      <p:sp>
        <p:nvSpPr>
          <p:cNvPr id="26" name="Text 24"/>
          <p:cNvSpPr/>
          <p:nvPr/>
        </p:nvSpPr>
        <p:spPr>
          <a:xfrm>
            <a:off x="1645920" y="3127248"/>
            <a:ext cx="3703320" cy="246888"/>
          </a:xfrm>
          <a:prstGeom prst="rect">
            <a:avLst/>
          </a:prstGeom>
          <a:noFill/>
          <a:ln/>
        </p:spPr>
        <p:txBody>
          <a:bodyPr wrap="square" lIns="0" tIns="0" rIns="0" bIns="0" rtlCol="0" anchor="ctr"/>
          <a:lstStyle/>
          <a:p>
            <a:pPr indent="0" marL="0">
              <a:buNone/>
            </a:pPr>
            <a:r>
              <a:rPr lang="en-US" sz="950" dirty="0">
                <a:solidFill>
                  <a:srgbClr val="1A2737"/>
                </a:solidFill>
                <a:latin typeface="Calibri" pitchFamily="34" charset="0"/>
                <a:ea typeface="Calibri" pitchFamily="34" charset="-122"/>
                <a:cs typeface="Calibri" pitchFamily="34" charset="-120"/>
              </a:rPr>
              <a:t>Automated RDP brute-force via internet-exposed port 3389 (no MFA)</a:t>
            </a:r>
            <a:endParaRPr lang="en-US" sz="950" dirty="0"/>
          </a:p>
        </p:txBody>
      </p:sp>
      <p:sp>
        <p:nvSpPr>
          <p:cNvPr id="27" name="Text 25"/>
          <p:cNvSpPr/>
          <p:nvPr/>
        </p:nvSpPr>
        <p:spPr>
          <a:xfrm>
            <a:off x="384048" y="3392424"/>
            <a:ext cx="1234440" cy="246888"/>
          </a:xfrm>
          <a:prstGeom prst="rect">
            <a:avLst/>
          </a:prstGeom>
          <a:noFill/>
          <a:ln/>
        </p:spPr>
        <p:txBody>
          <a:bodyPr wrap="square" lIns="0" tIns="0" rIns="0" bIns="0" rtlCol="0" anchor="ctr"/>
          <a:lstStyle/>
          <a:p>
            <a:pPr indent="0" marL="0">
              <a:buNone/>
            </a:pPr>
            <a:r>
              <a:rPr lang="en-US" sz="950" b="1" dirty="0">
                <a:solidFill>
                  <a:srgbClr val="1A3054"/>
                </a:solidFill>
                <a:latin typeface="Calibri" pitchFamily="34" charset="0"/>
                <a:ea typeface="Calibri" pitchFamily="34" charset="-122"/>
                <a:cs typeface="Calibri" pitchFamily="34" charset="-120"/>
              </a:rPr>
              <a:t>Initial access:</a:t>
            </a:r>
            <a:endParaRPr lang="en-US" sz="950" dirty="0"/>
          </a:p>
        </p:txBody>
      </p:sp>
      <p:sp>
        <p:nvSpPr>
          <p:cNvPr id="28" name="Text 26"/>
          <p:cNvSpPr/>
          <p:nvPr/>
        </p:nvSpPr>
        <p:spPr>
          <a:xfrm>
            <a:off x="1645920" y="3392424"/>
            <a:ext cx="3703320" cy="246888"/>
          </a:xfrm>
          <a:prstGeom prst="rect">
            <a:avLst/>
          </a:prstGeom>
          <a:noFill/>
          <a:ln/>
        </p:spPr>
        <p:txBody>
          <a:bodyPr wrap="square" lIns="0" tIns="0" rIns="0" bIns="0" rtlCol="0" anchor="ctr"/>
          <a:lstStyle/>
          <a:p>
            <a:pPr indent="0" marL="0">
              <a:buNone/>
            </a:pPr>
            <a:r>
              <a:rPr lang="en-US" sz="950" dirty="0">
                <a:solidFill>
                  <a:srgbClr val="1A2737"/>
                </a:solidFill>
                <a:latin typeface="Calibri" pitchFamily="34" charset="0"/>
                <a:ea typeface="Calibri" pitchFamily="34" charset="-122"/>
                <a:cs typeface="Calibri" pitchFamily="34" charset="-120"/>
              </a:rPr>
              <a:t>06:41 AEST – service account svc_rchc_ehr authenticated</a:t>
            </a:r>
            <a:endParaRPr lang="en-US" sz="950" dirty="0"/>
          </a:p>
        </p:txBody>
      </p:sp>
      <p:sp>
        <p:nvSpPr>
          <p:cNvPr id="29" name="Text 27"/>
          <p:cNvSpPr/>
          <p:nvPr/>
        </p:nvSpPr>
        <p:spPr>
          <a:xfrm>
            <a:off x="384048" y="3657600"/>
            <a:ext cx="1234440" cy="246888"/>
          </a:xfrm>
          <a:prstGeom prst="rect">
            <a:avLst/>
          </a:prstGeom>
          <a:noFill/>
          <a:ln/>
        </p:spPr>
        <p:txBody>
          <a:bodyPr wrap="square" lIns="0" tIns="0" rIns="0" bIns="0" rtlCol="0" anchor="ctr"/>
          <a:lstStyle/>
          <a:p>
            <a:pPr indent="0" marL="0">
              <a:buNone/>
            </a:pPr>
            <a:r>
              <a:rPr lang="en-US" sz="950" b="1" dirty="0">
                <a:solidFill>
                  <a:srgbClr val="1A3054"/>
                </a:solidFill>
                <a:latin typeface="Calibri" pitchFamily="34" charset="0"/>
                <a:ea typeface="Calibri" pitchFamily="34" charset="-122"/>
                <a:cs typeface="Calibri" pitchFamily="34" charset="-120"/>
              </a:rPr>
              <a:t>Lateral movement:</a:t>
            </a:r>
            <a:endParaRPr lang="en-US" sz="950" dirty="0"/>
          </a:p>
        </p:txBody>
      </p:sp>
      <p:sp>
        <p:nvSpPr>
          <p:cNvPr id="30" name="Text 28"/>
          <p:cNvSpPr/>
          <p:nvPr/>
        </p:nvSpPr>
        <p:spPr>
          <a:xfrm>
            <a:off x="1645920" y="3657600"/>
            <a:ext cx="3703320" cy="246888"/>
          </a:xfrm>
          <a:prstGeom prst="rect">
            <a:avLst/>
          </a:prstGeom>
          <a:noFill/>
          <a:ln/>
        </p:spPr>
        <p:txBody>
          <a:bodyPr wrap="square" lIns="0" tIns="0" rIns="0" bIns="0" rtlCol="0" anchor="ctr"/>
          <a:lstStyle/>
          <a:p>
            <a:pPr indent="0" marL="0">
              <a:buNone/>
            </a:pPr>
            <a:r>
              <a:rPr lang="en-US" sz="950" dirty="0">
                <a:solidFill>
                  <a:srgbClr val="1A2737"/>
                </a:solidFill>
                <a:latin typeface="Calibri" pitchFamily="34" charset="0"/>
                <a:ea typeface="Calibri" pitchFamily="34" charset="-122"/>
                <a:cs typeface="Calibri" pitchFamily="34" charset="-120"/>
              </a:rPr>
              <a:t>Pass-the-Hash using Mimikatz to pivot to EHR application server</a:t>
            </a:r>
            <a:endParaRPr lang="en-US" sz="950" dirty="0"/>
          </a:p>
        </p:txBody>
      </p:sp>
      <p:sp>
        <p:nvSpPr>
          <p:cNvPr id="31" name="Text 29"/>
          <p:cNvSpPr/>
          <p:nvPr/>
        </p:nvSpPr>
        <p:spPr>
          <a:xfrm>
            <a:off x="384048" y="3922776"/>
            <a:ext cx="1234440" cy="246888"/>
          </a:xfrm>
          <a:prstGeom prst="rect">
            <a:avLst/>
          </a:prstGeom>
          <a:noFill/>
          <a:ln/>
        </p:spPr>
        <p:txBody>
          <a:bodyPr wrap="square" lIns="0" tIns="0" rIns="0" bIns="0" rtlCol="0" anchor="ctr"/>
          <a:lstStyle/>
          <a:p>
            <a:pPr indent="0" marL="0">
              <a:buNone/>
            </a:pPr>
            <a:r>
              <a:rPr lang="en-US" sz="950" b="1" dirty="0">
                <a:solidFill>
                  <a:srgbClr val="1A3054"/>
                </a:solidFill>
                <a:latin typeface="Calibri" pitchFamily="34" charset="0"/>
                <a:ea typeface="Calibri" pitchFamily="34" charset="-122"/>
                <a:cs typeface="Calibri" pitchFamily="34" charset="-120"/>
              </a:rPr>
              <a:t>Data accessed:</a:t>
            </a:r>
            <a:endParaRPr lang="en-US" sz="950" dirty="0"/>
          </a:p>
        </p:txBody>
      </p:sp>
      <p:sp>
        <p:nvSpPr>
          <p:cNvPr id="32" name="Text 30"/>
          <p:cNvSpPr/>
          <p:nvPr/>
        </p:nvSpPr>
        <p:spPr>
          <a:xfrm>
            <a:off x="1645920" y="3922776"/>
            <a:ext cx="3703320" cy="246888"/>
          </a:xfrm>
          <a:prstGeom prst="rect">
            <a:avLst/>
          </a:prstGeom>
          <a:noFill/>
          <a:ln/>
        </p:spPr>
        <p:txBody>
          <a:bodyPr wrap="square" lIns="0" tIns="0" rIns="0" bIns="0" rtlCol="0" anchor="ctr"/>
          <a:lstStyle/>
          <a:p>
            <a:pPr indent="0" marL="0">
              <a:buNone/>
            </a:pPr>
            <a:r>
              <a:rPr lang="en-US" sz="950" dirty="0">
                <a:solidFill>
                  <a:srgbClr val="1A2737"/>
                </a:solidFill>
                <a:latin typeface="Calibri" pitchFamily="34" charset="0"/>
                <a:ea typeface="Calibri" pitchFamily="34" charset="-122"/>
                <a:cs typeface="Calibri" pitchFamily="34" charset="-120"/>
              </a:rPr>
              <a:t>~12,000 patient records in EHR (names, DOB, diagnoses, medications)</a:t>
            </a:r>
            <a:endParaRPr lang="en-US" sz="950" dirty="0"/>
          </a:p>
        </p:txBody>
      </p:sp>
      <p:sp>
        <p:nvSpPr>
          <p:cNvPr id="33" name="Text 31"/>
          <p:cNvSpPr/>
          <p:nvPr/>
        </p:nvSpPr>
        <p:spPr>
          <a:xfrm>
            <a:off x="384048" y="4187952"/>
            <a:ext cx="1234440" cy="246888"/>
          </a:xfrm>
          <a:prstGeom prst="rect">
            <a:avLst/>
          </a:prstGeom>
          <a:noFill/>
          <a:ln/>
        </p:spPr>
        <p:txBody>
          <a:bodyPr wrap="square" lIns="0" tIns="0" rIns="0" bIns="0" rtlCol="0" anchor="ctr"/>
          <a:lstStyle/>
          <a:p>
            <a:pPr indent="0" marL="0">
              <a:buNone/>
            </a:pPr>
            <a:r>
              <a:rPr lang="en-US" sz="950" b="1" dirty="0">
                <a:solidFill>
                  <a:srgbClr val="1A3054"/>
                </a:solidFill>
                <a:latin typeface="Calibri" pitchFamily="34" charset="0"/>
                <a:ea typeface="Calibri" pitchFamily="34" charset="-122"/>
                <a:cs typeface="Calibri" pitchFamily="34" charset="-120"/>
              </a:rPr>
              <a:t>Dwell time / Tools:</a:t>
            </a:r>
            <a:endParaRPr lang="en-US" sz="950" dirty="0"/>
          </a:p>
        </p:txBody>
      </p:sp>
      <p:sp>
        <p:nvSpPr>
          <p:cNvPr id="34" name="Text 32"/>
          <p:cNvSpPr/>
          <p:nvPr/>
        </p:nvSpPr>
        <p:spPr>
          <a:xfrm>
            <a:off x="1645920" y="4187952"/>
            <a:ext cx="3703320" cy="246888"/>
          </a:xfrm>
          <a:prstGeom prst="rect">
            <a:avLst/>
          </a:prstGeom>
          <a:noFill/>
          <a:ln/>
        </p:spPr>
        <p:txBody>
          <a:bodyPr wrap="square" lIns="0" tIns="0" rIns="0" bIns="0" rtlCol="0" anchor="ctr"/>
          <a:lstStyle/>
          <a:p>
            <a:pPr indent="0" marL="0">
              <a:buNone/>
            </a:pPr>
            <a:r>
              <a:rPr lang="en-US" sz="950" dirty="0">
                <a:solidFill>
                  <a:srgbClr val="1A2737"/>
                </a:solidFill>
                <a:latin typeface="Calibri" pitchFamily="34" charset="0"/>
                <a:ea typeface="Calibri" pitchFamily="34" charset="-122"/>
                <a:cs typeface="Calibri" pitchFamily="34" charset="-120"/>
              </a:rPr>
              <a:t>2 hrs 42 min before SIEM detection  |  Hydra, Mimikatz, native RDP</a:t>
            </a:r>
            <a:endParaRPr lang="en-US" sz="950" dirty="0"/>
          </a:p>
        </p:txBody>
      </p:sp>
      <p:sp>
        <p:nvSpPr>
          <p:cNvPr id="35" name="Shape 33"/>
          <p:cNvSpPr/>
          <p:nvPr/>
        </p:nvSpPr>
        <p:spPr>
          <a:xfrm>
            <a:off x="5650992" y="2816352"/>
            <a:ext cx="3218688" cy="1664208"/>
          </a:xfrm>
          <a:prstGeom prst="rect">
            <a:avLst/>
          </a:prstGeom>
          <a:solidFill>
            <a:srgbClr val="FFF8EE"/>
          </a:solidFill>
          <a:ln w="12700">
            <a:solidFill>
              <a:srgbClr val="C55A11"/>
            </a:solidFill>
            <a:prstDash val="solid"/>
          </a:ln>
          <a:effectLst>
            <a:outerShdw sx="100000" sy="100000" kx="0" ky="0" algn="bl" rotWithShape="0" blurRad="63500" dist="25400" dir="8100000">
              <a:srgbClr val="000000">
                <a:alpha val="10000"/>
              </a:srgbClr>
            </a:outerShdw>
          </a:effectLst>
        </p:spPr>
      </p:sp>
      <p:sp>
        <p:nvSpPr>
          <p:cNvPr id="36" name="Shape 34"/>
          <p:cNvSpPr/>
          <p:nvPr/>
        </p:nvSpPr>
        <p:spPr>
          <a:xfrm>
            <a:off x="5650992" y="2816352"/>
            <a:ext cx="3218688" cy="274320"/>
          </a:xfrm>
          <a:prstGeom prst="rect">
            <a:avLst/>
          </a:prstGeom>
          <a:solidFill>
            <a:srgbClr val="C55A11"/>
          </a:solidFill>
          <a:ln w="12700">
            <a:solidFill>
              <a:srgbClr val="C55A11"/>
            </a:solidFill>
            <a:prstDash val="solid"/>
          </a:ln>
        </p:spPr>
      </p:sp>
      <p:sp>
        <p:nvSpPr>
          <p:cNvPr id="37" name="Text 35"/>
          <p:cNvSpPr/>
          <p:nvPr/>
        </p:nvSpPr>
        <p:spPr>
          <a:xfrm>
            <a:off x="5742432" y="2816352"/>
            <a:ext cx="303580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Legal/Privacy Officer Adds  —  Samiha Suha</a:t>
            </a:r>
            <a:endParaRPr lang="en-US" sz="1000" dirty="0"/>
          </a:p>
        </p:txBody>
      </p:sp>
      <p:sp>
        <p:nvSpPr>
          <p:cNvPr id="38" name="Text 36"/>
          <p:cNvSpPr/>
          <p:nvPr/>
        </p:nvSpPr>
        <p:spPr>
          <a:xfrm>
            <a:off x="5742432" y="3127248"/>
            <a:ext cx="3035808" cy="1664208"/>
          </a:xfrm>
          <a:prstGeom prst="rect">
            <a:avLst/>
          </a:prstGeom>
          <a:noFill/>
          <a:ln/>
        </p:spPr>
        <p:txBody>
          <a:bodyPr wrap="square" lIns="0" tIns="0" rIns="0" bIns="0" rtlCol="0" anchor="t"/>
          <a:lstStyle/>
          <a:p>
            <a:pPr marL="342900" indent="-342900">
              <a:buSzPct val="100000"/>
              <a:buChar char="•"/>
            </a:pPr>
            <a:r>
              <a:rPr lang="en-US" sz="1000" dirty="0">
                <a:solidFill>
                  <a:srgbClr val="1A2737"/>
                </a:solidFill>
                <a:latin typeface="Calibri" pitchFamily="34" charset="0"/>
                <a:ea typeface="Calibri" pitchFamily="34" charset="-122"/>
                <a:cs typeface="Calibri" pitchFamily="34" charset="-120"/>
              </a:rPr>
              <a:t>~12,000 patient records accessed — NDB Scheme triggered</a:t>
            </a:r>
            <a:endParaRPr lang="en-US" sz="1000" dirty="0"/>
          </a:p>
          <a:p>
            <a:pPr marL="342900" indent="-342900">
              <a:buSzPct val="100000"/>
              <a:buChar char="•"/>
            </a:pPr>
            <a:r>
              <a:rPr lang="en-US" sz="1000" dirty="0">
                <a:solidFill>
                  <a:srgbClr val="1A2737"/>
                </a:solidFill>
                <a:latin typeface="Calibri" pitchFamily="34" charset="0"/>
                <a:ea typeface="Calibri" pitchFamily="34" charset="-122"/>
                <a:cs typeface="Calibri" pitchFamily="34" charset="-120"/>
              </a:rPr>
              <a:t>3-step NDB test commenced: (1) data breach occurred ✓, (2) personal info involved ✓, (3) serious harm assessment underway</a:t>
            </a:r>
            <a:endParaRPr lang="en-US" sz="1000" dirty="0"/>
          </a:p>
          <a:p>
            <a:pPr marL="342900" indent="-342900">
              <a:buSzPct val="100000"/>
              <a:buChar char="•"/>
            </a:pPr>
            <a:r>
              <a:rPr lang="en-US" sz="1000" dirty="0">
                <a:solidFill>
                  <a:srgbClr val="1A2737"/>
                </a:solidFill>
                <a:latin typeface="Calibri" pitchFamily="34" charset="0"/>
                <a:ea typeface="Calibri" pitchFamily="34" charset="-122"/>
                <a:cs typeface="Calibri" pitchFamily="34" charset="-120"/>
              </a:rPr>
              <a:t>Privacy Act 1988 APP11 — obligation to secure personal health information</a:t>
            </a:r>
            <a:endParaRPr lang="en-US" sz="1000" dirty="0"/>
          </a:p>
          <a:p>
            <a:pPr marL="342900" indent="-342900">
              <a:buSzPct val="100000"/>
              <a:buChar char="•"/>
            </a:pPr>
            <a:r>
              <a:rPr lang="en-US" sz="1000" dirty="0">
                <a:solidFill>
                  <a:srgbClr val="1A2737"/>
                </a:solidFill>
                <a:latin typeface="Calibri" pitchFamily="34" charset="0"/>
                <a:ea typeface="Calibri" pitchFamily="34" charset="-122"/>
                <a:cs typeface="Calibri" pitchFamily="34" charset="-120"/>
              </a:rPr>
              <a:t>OAIC notification target: within 30 hours of confirmed breach</a:t>
            </a:r>
            <a:endParaRPr lang="en-US" sz="1000" dirty="0"/>
          </a:p>
        </p:txBody>
      </p:sp>
      <p:sp>
        <p:nvSpPr>
          <p:cNvPr id="39" name="Text 37"/>
          <p:cNvSpPr/>
          <p:nvPr/>
        </p:nvSpPr>
        <p:spPr>
          <a:xfrm>
            <a:off x="274320" y="4462272"/>
            <a:ext cx="8595360" cy="201168"/>
          </a:xfrm>
          <a:prstGeom prst="rect">
            <a:avLst/>
          </a:prstGeom>
          <a:noFill/>
          <a:ln/>
        </p:spPr>
        <p:txBody>
          <a:bodyPr wrap="square" lIns="0" tIns="0" rIns="0" bIns="0" rtlCol="0" anchor="ctr"/>
          <a:lstStyle/>
          <a:p>
            <a:pPr indent="0" marL="0">
              <a:buNone/>
            </a:pPr>
            <a:r>
              <a:rPr lang="en-US" sz="850" i="1" dirty="0">
                <a:solidFill>
                  <a:srgbClr val="6B7A8D"/>
                </a:solidFill>
                <a:latin typeface="Calibri" pitchFamily="34" charset="0"/>
                <a:ea typeface="Calibri" pitchFamily="34" charset="-122"/>
                <a:cs typeface="Calibri" pitchFamily="34" charset="-120"/>
              </a:rPr>
              <a:t>Role: Nanami Fujita (Technical Analyst)  |  Samiha Suha (Legal/Privacy Officer)</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5F9"/>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054"/>
          </a:solidFill>
          <a:ln w="12700">
            <a:solidFill>
              <a:srgbClr val="1A3054"/>
            </a:solidFill>
            <a:prstDash val="solid"/>
          </a:ln>
        </p:spPr>
      </p:sp>
      <p:sp>
        <p:nvSpPr>
          <p:cNvPr id="3" name="Text 1"/>
          <p:cNvSpPr/>
          <p:nvPr/>
        </p:nvSpPr>
        <p:spPr>
          <a:xfrm>
            <a:off x="365760" y="73152"/>
            <a:ext cx="7772400" cy="4572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Containment  –  Eradication  –  Recovery</a:t>
            </a:r>
            <a:endParaRPr lang="en-US" sz="2600" dirty="0"/>
          </a:p>
        </p:txBody>
      </p:sp>
      <p:sp>
        <p:nvSpPr>
          <p:cNvPr id="4" name="Text 2"/>
          <p:cNvSpPr/>
          <p:nvPr/>
        </p:nvSpPr>
        <p:spPr>
          <a:xfrm>
            <a:off x="365760" y="502920"/>
            <a:ext cx="7772400" cy="347472"/>
          </a:xfrm>
          <a:prstGeom prst="rect">
            <a:avLst/>
          </a:prstGeom>
          <a:noFill/>
          <a:ln/>
        </p:spPr>
        <p:txBody>
          <a:bodyPr wrap="square" lIns="0" tIns="0" rIns="0" bIns="0" rtlCol="0" anchor="t"/>
          <a:lstStyle/>
          <a:p>
            <a:pPr indent="0" marL="0">
              <a:buNone/>
            </a:pPr>
            <a:r>
              <a:rPr lang="en-US" sz="1300" i="1" dirty="0">
                <a:solidFill>
                  <a:srgbClr val="D4751B"/>
                </a:solidFill>
                <a:latin typeface="Calibri" pitchFamily="34" charset="0"/>
                <a:ea typeface="Calibri" pitchFamily="34" charset="-122"/>
                <a:cs typeface="Calibri" pitchFamily="34" charset="-120"/>
              </a:rPr>
              <a:t>Technical Team and IR Lead speak</a:t>
            </a:r>
            <a:endParaRPr lang="en-US" sz="1300" dirty="0"/>
          </a:p>
        </p:txBody>
      </p:sp>
      <p:sp>
        <p:nvSpPr>
          <p:cNvPr id="5" name="Text 3"/>
          <p:cNvSpPr/>
          <p:nvPr/>
        </p:nvSpPr>
        <p:spPr>
          <a:xfrm>
            <a:off x="0" y="4892040"/>
            <a:ext cx="9144000" cy="256032"/>
          </a:xfrm>
          <a:prstGeom prst="rect">
            <a:avLst/>
          </a:prstGeom>
          <a:noFill/>
          <a:ln/>
        </p:spPr>
        <p:txBody>
          <a:bodyPr wrap="square" lIns="0" tIns="0" rIns="2540" bIns="0" rtlCol="0" anchor="ctr"/>
          <a:lstStyle/>
          <a:p>
            <a:pPr algn="r" indent="0" marL="0">
              <a:buNone/>
            </a:pPr>
            <a:r>
              <a:rPr lang="en-US" sz="900" dirty="0">
                <a:solidFill>
                  <a:srgbClr val="D4751B"/>
                </a:solidFill>
                <a:latin typeface="Calibri" pitchFamily="34" charset="0"/>
                <a:ea typeface="Calibri" pitchFamily="34" charset="-122"/>
                <a:cs typeface="Calibri" pitchFamily="34" charset="-120"/>
              </a:rPr>
              <a:t>Incident Response Role Play  |  Group 3  |  IAB246</a:t>
            </a:r>
            <a:endParaRPr lang="en-US" sz="900" dirty="0"/>
          </a:p>
        </p:txBody>
      </p:sp>
      <p:sp>
        <p:nvSpPr>
          <p:cNvPr id="6" name="Shape 4"/>
          <p:cNvSpPr/>
          <p:nvPr/>
        </p:nvSpPr>
        <p:spPr>
          <a:xfrm>
            <a:off x="246888" y="987552"/>
            <a:ext cx="2788920" cy="3840480"/>
          </a:xfrm>
          <a:prstGeom prst="rect">
            <a:avLst/>
          </a:prstGeom>
          <a:solidFill>
            <a:srgbClr val="FFFFFF"/>
          </a:solidFill>
          <a:ln w="12700">
            <a:solidFill>
              <a:srgbClr val="D8DDE6"/>
            </a:solidFill>
            <a:prstDash val="solid"/>
          </a:ln>
          <a:effectLst>
            <a:outerShdw sx="100000" sy="100000" kx="0" ky="0" algn="bl" rotWithShape="0" blurRad="63500" dist="25400" dir="8100000">
              <a:srgbClr val="000000">
                <a:alpha val="10000"/>
              </a:srgbClr>
            </a:outerShdw>
          </a:effectLst>
        </p:spPr>
      </p:sp>
      <p:sp>
        <p:nvSpPr>
          <p:cNvPr id="7" name="Shape 5"/>
          <p:cNvSpPr/>
          <p:nvPr/>
        </p:nvSpPr>
        <p:spPr>
          <a:xfrm>
            <a:off x="246888" y="987552"/>
            <a:ext cx="2788920" cy="292608"/>
          </a:xfrm>
          <a:prstGeom prst="rect">
            <a:avLst/>
          </a:prstGeom>
          <a:solidFill>
            <a:srgbClr val="C0392B"/>
          </a:solidFill>
          <a:ln w="12700">
            <a:solidFill>
              <a:srgbClr val="C0392B"/>
            </a:solidFill>
            <a:prstDash val="solid"/>
          </a:ln>
        </p:spPr>
      </p:sp>
      <p:sp>
        <p:nvSpPr>
          <p:cNvPr id="8" name="Text 6"/>
          <p:cNvSpPr/>
          <p:nvPr/>
        </p:nvSpPr>
        <p:spPr>
          <a:xfrm>
            <a:off x="292608" y="987552"/>
            <a:ext cx="269748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CONTAINMENT</a:t>
            </a:r>
            <a:endParaRPr lang="en-US" sz="1200" dirty="0"/>
          </a:p>
        </p:txBody>
      </p:sp>
      <p:sp>
        <p:nvSpPr>
          <p:cNvPr id="9" name="Text 7"/>
          <p:cNvSpPr/>
          <p:nvPr/>
        </p:nvSpPr>
        <p:spPr>
          <a:xfrm>
            <a:off x="338328" y="1316736"/>
            <a:ext cx="2606040" cy="347472"/>
          </a:xfrm>
          <a:prstGeom prst="rect">
            <a:avLst/>
          </a:prstGeom>
          <a:noFill/>
          <a:ln/>
        </p:spPr>
        <p:txBody>
          <a:bodyPr wrap="square" lIns="0" tIns="0" rIns="0" bIns="0" rtlCol="0" anchor="ctr"/>
          <a:lstStyle/>
          <a:p>
            <a:pPr indent="0" marL="0">
              <a:buNone/>
            </a:pPr>
            <a:r>
              <a:rPr lang="en-US" sz="850" b="1" dirty="0">
                <a:solidFill>
                  <a:srgbClr val="C0392B"/>
                </a:solidFill>
                <a:latin typeface="Calibri" pitchFamily="34" charset="0"/>
                <a:ea typeface="Calibri" pitchFamily="34" charset="-122"/>
                <a:cs typeface="Calibri" pitchFamily="34" charset="-120"/>
              </a:rPr>
              <a:t>TECHNICAL TEAM SPEAKS</a:t>
            </a:r>
            <a:endParaRPr lang="en-US" sz="850" dirty="0"/>
          </a:p>
          <a:p>
            <a:pPr indent="0" marL="0">
              <a:buNone/>
            </a:pPr>
            <a:r>
              <a:rPr lang="en-US" sz="850" b="1" dirty="0">
                <a:solidFill>
                  <a:srgbClr val="C0392B"/>
                </a:solidFill>
                <a:latin typeface="Calibri" pitchFamily="34" charset="0"/>
                <a:ea typeface="Calibri" pitchFamily="34" charset="-122"/>
                <a:cs typeface="Calibri" pitchFamily="34" charset="-120"/>
              </a:rPr>
              <a:t>Technical Team — Nanami Fujita</a:t>
            </a:r>
            <a:endParaRPr lang="en-US" sz="850" dirty="0"/>
          </a:p>
        </p:txBody>
      </p:sp>
      <p:sp>
        <p:nvSpPr>
          <p:cNvPr id="10" name="Text 8"/>
          <p:cNvSpPr/>
          <p:nvPr/>
        </p:nvSpPr>
        <p:spPr>
          <a:xfrm>
            <a:off x="338328" y="1700784"/>
            <a:ext cx="2606040" cy="420624"/>
          </a:xfrm>
          <a:prstGeom prst="rect">
            <a:avLst/>
          </a:prstGeom>
          <a:noFill/>
          <a:ln/>
        </p:spPr>
        <p:txBody>
          <a:bodyPr wrap="square" lIns="0" tIns="0" rIns="0" bIns="0" rtlCol="0" anchor="t"/>
          <a:lstStyle/>
          <a:p>
            <a:pPr marL="342900" indent="-342900">
              <a:buSzPct val="100000"/>
              <a:buChar char="•"/>
            </a:pPr>
            <a:r>
              <a:rPr lang="en-US" sz="950" dirty="0">
                <a:solidFill>
                  <a:srgbClr val="1A2737"/>
                </a:solidFill>
                <a:latin typeface="Calibri" pitchFamily="34" charset="0"/>
                <a:ea typeface="Calibri" pitchFamily="34" charset="-122"/>
                <a:cs typeface="Calibri" pitchFamily="34" charset="-120"/>
              </a:rPr>
              <a:t>Block external IP 185.234.219.47 and disable RDP (port 3389) access at firewall</a:t>
            </a:r>
            <a:endParaRPr lang="en-US" sz="950" dirty="0"/>
          </a:p>
        </p:txBody>
      </p:sp>
      <p:sp>
        <p:nvSpPr>
          <p:cNvPr id="11" name="Text 9"/>
          <p:cNvSpPr/>
          <p:nvPr/>
        </p:nvSpPr>
        <p:spPr>
          <a:xfrm>
            <a:off x="338328" y="2157984"/>
            <a:ext cx="2606040" cy="420624"/>
          </a:xfrm>
          <a:prstGeom prst="rect">
            <a:avLst/>
          </a:prstGeom>
          <a:noFill/>
          <a:ln/>
        </p:spPr>
        <p:txBody>
          <a:bodyPr wrap="square" lIns="0" tIns="0" rIns="0" bIns="0" rtlCol="0" anchor="t"/>
          <a:lstStyle/>
          <a:p>
            <a:pPr marL="342900" indent="-342900">
              <a:buSzPct val="100000"/>
              <a:buChar char="•"/>
            </a:pPr>
            <a:r>
              <a:rPr lang="en-US" sz="950" dirty="0">
                <a:solidFill>
                  <a:srgbClr val="1A2737"/>
                </a:solidFill>
                <a:latin typeface="Calibri" pitchFamily="34" charset="0"/>
                <a:ea typeface="Calibri" pitchFamily="34" charset="-122"/>
                <a:cs typeface="Calibri" pitchFamily="34" charset="-120"/>
              </a:rPr>
              <a:t>Isolate EHR application server from internal network (VLAN segregation)</a:t>
            </a:r>
            <a:endParaRPr lang="en-US" sz="950" dirty="0"/>
          </a:p>
        </p:txBody>
      </p:sp>
      <p:sp>
        <p:nvSpPr>
          <p:cNvPr id="12" name="Text 10"/>
          <p:cNvSpPr/>
          <p:nvPr/>
        </p:nvSpPr>
        <p:spPr>
          <a:xfrm>
            <a:off x="338328" y="2615184"/>
            <a:ext cx="2606040" cy="420624"/>
          </a:xfrm>
          <a:prstGeom prst="rect">
            <a:avLst/>
          </a:prstGeom>
          <a:noFill/>
          <a:ln/>
        </p:spPr>
        <p:txBody>
          <a:bodyPr wrap="square" lIns="0" tIns="0" rIns="0" bIns="0" rtlCol="0" anchor="t"/>
          <a:lstStyle/>
          <a:p>
            <a:pPr marL="342900" indent="-342900">
              <a:buSzPct val="100000"/>
              <a:buChar char="•"/>
            </a:pPr>
            <a:r>
              <a:rPr lang="en-US" sz="950" dirty="0">
                <a:solidFill>
                  <a:srgbClr val="1A2737"/>
                </a:solidFill>
                <a:latin typeface="Calibri" pitchFamily="34" charset="0"/>
                <a:ea typeface="Calibri" pitchFamily="34" charset="-122"/>
                <a:cs typeface="Calibri" pitchFamily="34" charset="-120"/>
              </a:rPr>
              <a:t>Revoke all active sessions for svc_rchc_ehr; disable compromised account</a:t>
            </a:r>
            <a:endParaRPr lang="en-US" sz="950" dirty="0"/>
          </a:p>
        </p:txBody>
      </p:sp>
      <p:sp>
        <p:nvSpPr>
          <p:cNvPr id="13" name="Text 11"/>
          <p:cNvSpPr/>
          <p:nvPr/>
        </p:nvSpPr>
        <p:spPr>
          <a:xfrm>
            <a:off x="338328" y="3072384"/>
            <a:ext cx="2606040" cy="420624"/>
          </a:xfrm>
          <a:prstGeom prst="rect">
            <a:avLst/>
          </a:prstGeom>
          <a:noFill/>
          <a:ln/>
        </p:spPr>
        <p:txBody>
          <a:bodyPr wrap="square" lIns="0" tIns="0" rIns="0" bIns="0" rtlCol="0" anchor="t"/>
          <a:lstStyle/>
          <a:p>
            <a:pPr marL="342900" indent="-342900">
              <a:buSzPct val="100000"/>
              <a:buChar char="•"/>
            </a:pPr>
            <a:r>
              <a:rPr lang="en-US" sz="950" dirty="0">
                <a:solidFill>
                  <a:srgbClr val="1A2737"/>
                </a:solidFill>
                <a:latin typeface="Calibri" pitchFamily="34" charset="0"/>
                <a:ea typeface="Calibri" pitchFamily="34" charset="-122"/>
                <a:cs typeface="Calibri" pitchFamily="34" charset="-120"/>
              </a:rPr>
              <a:t>Disconnect 3 workstations flagged by EDR from clinic network</a:t>
            </a:r>
            <a:endParaRPr lang="en-US" sz="950" dirty="0"/>
          </a:p>
        </p:txBody>
      </p:sp>
      <p:sp>
        <p:nvSpPr>
          <p:cNvPr id="14" name="Text 12"/>
          <p:cNvSpPr/>
          <p:nvPr/>
        </p:nvSpPr>
        <p:spPr>
          <a:xfrm>
            <a:off x="338328" y="3529584"/>
            <a:ext cx="2606040" cy="420624"/>
          </a:xfrm>
          <a:prstGeom prst="rect">
            <a:avLst/>
          </a:prstGeom>
          <a:noFill/>
          <a:ln/>
        </p:spPr>
        <p:txBody>
          <a:bodyPr wrap="square" lIns="0" tIns="0" rIns="0" bIns="0" rtlCol="0" anchor="t"/>
          <a:lstStyle/>
          <a:p>
            <a:pPr marL="342900" indent="-342900">
              <a:buSzPct val="100000"/>
              <a:buChar char="•"/>
            </a:pPr>
            <a:r>
              <a:rPr lang="en-US" sz="950" dirty="0">
                <a:solidFill>
                  <a:srgbClr val="1A2737"/>
                </a:solidFill>
                <a:latin typeface="Calibri" pitchFamily="34" charset="0"/>
                <a:ea typeface="Calibri" pitchFamily="34" charset="-122"/>
                <a:cs typeface="Calibri" pitchFamily="34" charset="-120"/>
              </a:rPr>
              <a:t>Emergency MFA enforcement on all Microsoft Entra ID accounts</a:t>
            </a:r>
            <a:endParaRPr lang="en-US" sz="950" dirty="0"/>
          </a:p>
        </p:txBody>
      </p:sp>
      <p:sp>
        <p:nvSpPr>
          <p:cNvPr id="15" name="Shape 13"/>
          <p:cNvSpPr/>
          <p:nvPr/>
        </p:nvSpPr>
        <p:spPr>
          <a:xfrm>
            <a:off x="338328" y="4407408"/>
            <a:ext cx="2606040" cy="274320"/>
          </a:xfrm>
          <a:prstGeom prst="rect">
            <a:avLst/>
          </a:prstGeom>
          <a:solidFill>
            <a:srgbClr val="C0392B"/>
          </a:solidFill>
          <a:ln w="12700">
            <a:solidFill>
              <a:srgbClr val="C0392B"/>
            </a:solidFill>
            <a:prstDash val="solid"/>
          </a:ln>
        </p:spPr>
      </p:sp>
      <p:sp>
        <p:nvSpPr>
          <p:cNvPr id="16" name="Text 14"/>
          <p:cNvSpPr/>
          <p:nvPr/>
        </p:nvSpPr>
        <p:spPr>
          <a:xfrm>
            <a:off x="384048" y="4407408"/>
            <a:ext cx="25146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Threat contained at T+22 min</a:t>
            </a:r>
            <a:endParaRPr lang="en-US" sz="900" dirty="0"/>
          </a:p>
        </p:txBody>
      </p:sp>
      <p:sp>
        <p:nvSpPr>
          <p:cNvPr id="17" name="Shape 15"/>
          <p:cNvSpPr/>
          <p:nvPr/>
        </p:nvSpPr>
        <p:spPr>
          <a:xfrm>
            <a:off x="3172968" y="987552"/>
            <a:ext cx="2788920" cy="3840480"/>
          </a:xfrm>
          <a:prstGeom prst="rect">
            <a:avLst/>
          </a:prstGeom>
          <a:solidFill>
            <a:srgbClr val="FFFFFF"/>
          </a:solidFill>
          <a:ln w="12700">
            <a:solidFill>
              <a:srgbClr val="D8DDE6"/>
            </a:solidFill>
            <a:prstDash val="solid"/>
          </a:ln>
          <a:effectLst>
            <a:outerShdw sx="100000" sy="100000" kx="0" ky="0" algn="bl" rotWithShape="0" blurRad="63500" dist="25400" dir="8100000">
              <a:srgbClr val="000000">
                <a:alpha val="10000"/>
              </a:srgbClr>
            </a:outerShdw>
          </a:effectLst>
        </p:spPr>
      </p:sp>
      <p:sp>
        <p:nvSpPr>
          <p:cNvPr id="18" name="Shape 16"/>
          <p:cNvSpPr/>
          <p:nvPr/>
        </p:nvSpPr>
        <p:spPr>
          <a:xfrm>
            <a:off x="3172968" y="987552"/>
            <a:ext cx="2788920" cy="292608"/>
          </a:xfrm>
          <a:prstGeom prst="rect">
            <a:avLst/>
          </a:prstGeom>
          <a:solidFill>
            <a:srgbClr val="C55A11"/>
          </a:solidFill>
          <a:ln w="12700">
            <a:solidFill>
              <a:srgbClr val="C55A11"/>
            </a:solidFill>
            <a:prstDash val="solid"/>
          </a:ln>
        </p:spPr>
      </p:sp>
      <p:sp>
        <p:nvSpPr>
          <p:cNvPr id="19" name="Text 17"/>
          <p:cNvSpPr/>
          <p:nvPr/>
        </p:nvSpPr>
        <p:spPr>
          <a:xfrm>
            <a:off x="3218688" y="987552"/>
            <a:ext cx="269748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ERADICATION</a:t>
            </a:r>
            <a:endParaRPr lang="en-US" sz="1200" dirty="0"/>
          </a:p>
        </p:txBody>
      </p:sp>
      <p:sp>
        <p:nvSpPr>
          <p:cNvPr id="20" name="Text 18"/>
          <p:cNvSpPr/>
          <p:nvPr/>
        </p:nvSpPr>
        <p:spPr>
          <a:xfrm>
            <a:off x="3264408" y="1316736"/>
            <a:ext cx="2606040" cy="347472"/>
          </a:xfrm>
          <a:prstGeom prst="rect">
            <a:avLst/>
          </a:prstGeom>
          <a:noFill/>
          <a:ln/>
        </p:spPr>
        <p:txBody>
          <a:bodyPr wrap="square" lIns="0" tIns="0" rIns="0" bIns="0" rtlCol="0" anchor="ctr"/>
          <a:lstStyle/>
          <a:p>
            <a:pPr indent="0" marL="0">
              <a:buNone/>
            </a:pPr>
            <a:r>
              <a:rPr lang="en-US" sz="850" b="1" dirty="0">
                <a:solidFill>
                  <a:srgbClr val="C55A11"/>
                </a:solidFill>
                <a:latin typeface="Calibri" pitchFamily="34" charset="0"/>
                <a:ea typeface="Calibri" pitchFamily="34" charset="-122"/>
                <a:cs typeface="Calibri" pitchFamily="34" charset="-120"/>
              </a:rPr>
              <a:t>TECHNICAL TEAM SPEAKS</a:t>
            </a:r>
            <a:endParaRPr lang="en-US" sz="850" dirty="0"/>
          </a:p>
          <a:p>
            <a:pPr indent="0" marL="0">
              <a:buNone/>
            </a:pPr>
            <a:r>
              <a:rPr lang="en-US" sz="850" b="1" dirty="0">
                <a:solidFill>
                  <a:srgbClr val="C55A11"/>
                </a:solidFill>
                <a:latin typeface="Calibri" pitchFamily="34" charset="0"/>
                <a:ea typeface="Calibri" pitchFamily="34" charset="-122"/>
                <a:cs typeface="Calibri" pitchFamily="34" charset="-120"/>
              </a:rPr>
              <a:t>Technical Team — Nanami Fujita</a:t>
            </a:r>
            <a:endParaRPr lang="en-US" sz="850" dirty="0"/>
          </a:p>
        </p:txBody>
      </p:sp>
      <p:sp>
        <p:nvSpPr>
          <p:cNvPr id="21" name="Text 19"/>
          <p:cNvSpPr/>
          <p:nvPr/>
        </p:nvSpPr>
        <p:spPr>
          <a:xfrm>
            <a:off x="3264408" y="1700784"/>
            <a:ext cx="2606040" cy="420624"/>
          </a:xfrm>
          <a:prstGeom prst="rect">
            <a:avLst/>
          </a:prstGeom>
          <a:noFill/>
          <a:ln/>
        </p:spPr>
        <p:txBody>
          <a:bodyPr wrap="square" lIns="0" tIns="0" rIns="0" bIns="0" rtlCol="0" anchor="t"/>
          <a:lstStyle/>
          <a:p>
            <a:pPr marL="342900" indent="-342900">
              <a:buSzPct val="100000"/>
              <a:buChar char="•"/>
            </a:pPr>
            <a:r>
              <a:rPr lang="en-US" sz="950" dirty="0">
                <a:solidFill>
                  <a:srgbClr val="1A2737"/>
                </a:solidFill>
                <a:latin typeface="Calibri" pitchFamily="34" charset="0"/>
                <a:ea typeface="Calibri" pitchFamily="34" charset="-122"/>
                <a:cs typeface="Calibri" pitchFamily="34" charset="-120"/>
              </a:rPr>
              <a:t>Run full EDR scan — remove Mimikatz artefacts and RDP persistence mechanisms</a:t>
            </a:r>
            <a:endParaRPr lang="en-US" sz="950" dirty="0"/>
          </a:p>
        </p:txBody>
      </p:sp>
      <p:sp>
        <p:nvSpPr>
          <p:cNvPr id="22" name="Text 20"/>
          <p:cNvSpPr/>
          <p:nvPr/>
        </p:nvSpPr>
        <p:spPr>
          <a:xfrm>
            <a:off x="3264408" y="2157984"/>
            <a:ext cx="2606040" cy="420624"/>
          </a:xfrm>
          <a:prstGeom prst="rect">
            <a:avLst/>
          </a:prstGeom>
          <a:noFill/>
          <a:ln/>
        </p:spPr>
        <p:txBody>
          <a:bodyPr wrap="square" lIns="0" tIns="0" rIns="0" bIns="0" rtlCol="0" anchor="t"/>
          <a:lstStyle/>
          <a:p>
            <a:pPr marL="342900" indent="-342900">
              <a:buSzPct val="100000"/>
              <a:buChar char="•"/>
            </a:pPr>
            <a:r>
              <a:rPr lang="en-US" sz="950" dirty="0">
                <a:solidFill>
                  <a:srgbClr val="1A2737"/>
                </a:solidFill>
                <a:latin typeface="Calibri" pitchFamily="34" charset="0"/>
                <a:ea typeface="Calibri" pitchFamily="34" charset="-122"/>
                <a:cs typeface="Calibri" pitchFamily="34" charset="-120"/>
              </a:rPr>
              <a:t>Patch CVE-2023-35352 (Windows RDP vulnerability) across all servers</a:t>
            </a:r>
            <a:endParaRPr lang="en-US" sz="950" dirty="0"/>
          </a:p>
        </p:txBody>
      </p:sp>
      <p:sp>
        <p:nvSpPr>
          <p:cNvPr id="23" name="Text 21"/>
          <p:cNvSpPr/>
          <p:nvPr/>
        </p:nvSpPr>
        <p:spPr>
          <a:xfrm>
            <a:off x="3264408" y="2615184"/>
            <a:ext cx="2606040" cy="420624"/>
          </a:xfrm>
          <a:prstGeom prst="rect">
            <a:avLst/>
          </a:prstGeom>
          <a:noFill/>
          <a:ln/>
        </p:spPr>
        <p:txBody>
          <a:bodyPr wrap="square" lIns="0" tIns="0" rIns="0" bIns="0" rtlCol="0" anchor="t"/>
          <a:lstStyle/>
          <a:p>
            <a:pPr marL="342900" indent="-342900">
              <a:buSzPct val="100000"/>
              <a:buChar char="•"/>
            </a:pPr>
            <a:r>
              <a:rPr lang="en-US" sz="950" dirty="0">
                <a:solidFill>
                  <a:srgbClr val="1A2737"/>
                </a:solidFill>
                <a:latin typeface="Calibri" pitchFamily="34" charset="0"/>
                <a:ea typeface="Calibri" pitchFamily="34" charset="-122"/>
                <a:cs typeface="Calibri" pitchFamily="34" charset="-120"/>
              </a:rPr>
              <a:t>Reset ALL privileged account credentials and enforce complexity policy</a:t>
            </a:r>
            <a:endParaRPr lang="en-US" sz="950" dirty="0"/>
          </a:p>
        </p:txBody>
      </p:sp>
      <p:sp>
        <p:nvSpPr>
          <p:cNvPr id="24" name="Text 22"/>
          <p:cNvSpPr/>
          <p:nvPr/>
        </p:nvSpPr>
        <p:spPr>
          <a:xfrm>
            <a:off x="3264408" y="3072384"/>
            <a:ext cx="2606040" cy="420624"/>
          </a:xfrm>
          <a:prstGeom prst="rect">
            <a:avLst/>
          </a:prstGeom>
          <a:noFill/>
          <a:ln/>
        </p:spPr>
        <p:txBody>
          <a:bodyPr wrap="square" lIns="0" tIns="0" rIns="0" bIns="0" rtlCol="0" anchor="t"/>
          <a:lstStyle/>
          <a:p>
            <a:pPr marL="342900" indent="-342900">
              <a:buSzPct val="100000"/>
              <a:buChar char="•"/>
            </a:pPr>
            <a:r>
              <a:rPr lang="en-US" sz="950" dirty="0">
                <a:solidFill>
                  <a:srgbClr val="1A2737"/>
                </a:solidFill>
                <a:latin typeface="Calibri" pitchFamily="34" charset="0"/>
                <a:ea typeface="Calibri" pitchFamily="34" charset="-122"/>
                <a:cs typeface="Calibri" pitchFamily="34" charset="-120"/>
              </a:rPr>
              <a:t>Remove svc_rchc_ehr service account; replace with managed identity</a:t>
            </a:r>
            <a:endParaRPr lang="en-US" sz="950" dirty="0"/>
          </a:p>
        </p:txBody>
      </p:sp>
      <p:sp>
        <p:nvSpPr>
          <p:cNvPr id="25" name="Text 23"/>
          <p:cNvSpPr/>
          <p:nvPr/>
        </p:nvSpPr>
        <p:spPr>
          <a:xfrm>
            <a:off x="3264408" y="3529584"/>
            <a:ext cx="2606040" cy="420624"/>
          </a:xfrm>
          <a:prstGeom prst="rect">
            <a:avLst/>
          </a:prstGeom>
          <a:noFill/>
          <a:ln/>
        </p:spPr>
        <p:txBody>
          <a:bodyPr wrap="square" lIns="0" tIns="0" rIns="0" bIns="0" rtlCol="0" anchor="t"/>
          <a:lstStyle/>
          <a:p>
            <a:pPr marL="342900" indent="-342900">
              <a:buSzPct val="100000"/>
              <a:buChar char="•"/>
            </a:pPr>
            <a:r>
              <a:rPr lang="en-US" sz="950" dirty="0">
                <a:solidFill>
                  <a:srgbClr val="1A2737"/>
                </a:solidFill>
                <a:latin typeface="Calibri" pitchFamily="34" charset="0"/>
                <a:ea typeface="Calibri" pitchFamily="34" charset="-122"/>
                <a:cs typeface="Calibri" pitchFamily="34" charset="-120"/>
              </a:rPr>
              <a:t>Independent validation scan by Systems Administrator before recovery</a:t>
            </a:r>
            <a:endParaRPr lang="en-US" sz="950" dirty="0"/>
          </a:p>
        </p:txBody>
      </p:sp>
      <p:sp>
        <p:nvSpPr>
          <p:cNvPr id="26" name="Shape 24"/>
          <p:cNvSpPr/>
          <p:nvPr/>
        </p:nvSpPr>
        <p:spPr>
          <a:xfrm>
            <a:off x="3264408" y="4407408"/>
            <a:ext cx="2606040" cy="274320"/>
          </a:xfrm>
          <a:prstGeom prst="rect">
            <a:avLst/>
          </a:prstGeom>
          <a:solidFill>
            <a:srgbClr val="C55A11"/>
          </a:solidFill>
          <a:ln w="12700">
            <a:solidFill>
              <a:srgbClr val="C55A11"/>
            </a:solidFill>
            <a:prstDash val="solid"/>
          </a:ln>
        </p:spPr>
      </p:sp>
      <p:sp>
        <p:nvSpPr>
          <p:cNvPr id="27" name="Text 25"/>
          <p:cNvSpPr/>
          <p:nvPr/>
        </p:nvSpPr>
        <p:spPr>
          <a:xfrm>
            <a:off x="3310128" y="4407408"/>
            <a:ext cx="25146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Eradication confirmed at T+4.5 hours</a:t>
            </a:r>
            <a:endParaRPr lang="en-US" sz="900" dirty="0"/>
          </a:p>
        </p:txBody>
      </p:sp>
      <p:sp>
        <p:nvSpPr>
          <p:cNvPr id="28" name="Shape 26"/>
          <p:cNvSpPr/>
          <p:nvPr/>
        </p:nvSpPr>
        <p:spPr>
          <a:xfrm>
            <a:off x="6099048" y="987552"/>
            <a:ext cx="2788920" cy="3840480"/>
          </a:xfrm>
          <a:prstGeom prst="rect">
            <a:avLst/>
          </a:prstGeom>
          <a:solidFill>
            <a:srgbClr val="FFFFFF"/>
          </a:solidFill>
          <a:ln w="12700">
            <a:solidFill>
              <a:srgbClr val="D8DDE6"/>
            </a:solidFill>
            <a:prstDash val="solid"/>
          </a:ln>
          <a:effectLst>
            <a:outerShdw sx="100000" sy="100000" kx="0" ky="0" algn="bl" rotWithShape="0" blurRad="63500" dist="25400" dir="8100000">
              <a:srgbClr val="000000">
                <a:alpha val="10000"/>
              </a:srgbClr>
            </a:outerShdw>
          </a:effectLst>
        </p:spPr>
      </p:sp>
      <p:sp>
        <p:nvSpPr>
          <p:cNvPr id="29" name="Shape 27"/>
          <p:cNvSpPr/>
          <p:nvPr/>
        </p:nvSpPr>
        <p:spPr>
          <a:xfrm>
            <a:off x="6099048" y="987552"/>
            <a:ext cx="2788920" cy="292608"/>
          </a:xfrm>
          <a:prstGeom prst="rect">
            <a:avLst/>
          </a:prstGeom>
          <a:solidFill>
            <a:srgbClr val="1E6B45"/>
          </a:solidFill>
          <a:ln w="12700">
            <a:solidFill>
              <a:srgbClr val="1E6B45"/>
            </a:solidFill>
            <a:prstDash val="solid"/>
          </a:ln>
        </p:spPr>
      </p:sp>
      <p:sp>
        <p:nvSpPr>
          <p:cNvPr id="30" name="Text 28"/>
          <p:cNvSpPr/>
          <p:nvPr/>
        </p:nvSpPr>
        <p:spPr>
          <a:xfrm>
            <a:off x="6144768" y="987552"/>
            <a:ext cx="269748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RECOVERY</a:t>
            </a:r>
            <a:endParaRPr lang="en-US" sz="1200" dirty="0"/>
          </a:p>
        </p:txBody>
      </p:sp>
      <p:sp>
        <p:nvSpPr>
          <p:cNvPr id="31" name="Text 29"/>
          <p:cNvSpPr/>
          <p:nvPr/>
        </p:nvSpPr>
        <p:spPr>
          <a:xfrm>
            <a:off x="6190488" y="1316736"/>
            <a:ext cx="2606040" cy="347472"/>
          </a:xfrm>
          <a:prstGeom prst="rect">
            <a:avLst/>
          </a:prstGeom>
          <a:noFill/>
          <a:ln/>
        </p:spPr>
        <p:txBody>
          <a:bodyPr wrap="square" lIns="0" tIns="0" rIns="0" bIns="0" rtlCol="0" anchor="ctr"/>
          <a:lstStyle/>
          <a:p>
            <a:pPr indent="0" marL="0">
              <a:buNone/>
            </a:pPr>
            <a:r>
              <a:rPr lang="en-US" sz="850" b="1" dirty="0">
                <a:solidFill>
                  <a:srgbClr val="1E6B45"/>
                </a:solidFill>
                <a:latin typeface="Calibri" pitchFamily="34" charset="0"/>
                <a:ea typeface="Calibri" pitchFamily="34" charset="-122"/>
                <a:cs typeface="Calibri" pitchFamily="34" charset="-120"/>
              </a:rPr>
              <a:t>TECHNICAL TEAM SPEAKS</a:t>
            </a:r>
            <a:endParaRPr lang="en-US" sz="850" dirty="0"/>
          </a:p>
          <a:p>
            <a:pPr indent="0" marL="0">
              <a:buNone/>
            </a:pPr>
            <a:r>
              <a:rPr lang="en-US" sz="850" b="1" dirty="0">
                <a:solidFill>
                  <a:srgbClr val="1E6B45"/>
                </a:solidFill>
                <a:latin typeface="Calibri" pitchFamily="34" charset="0"/>
                <a:ea typeface="Calibri" pitchFamily="34" charset="-122"/>
                <a:cs typeface="Calibri" pitchFamily="34" charset="-120"/>
              </a:rPr>
              <a:t>IR Lead — Nanami Fujita</a:t>
            </a:r>
            <a:endParaRPr lang="en-US" sz="850" dirty="0"/>
          </a:p>
        </p:txBody>
      </p:sp>
      <p:sp>
        <p:nvSpPr>
          <p:cNvPr id="32" name="Text 30"/>
          <p:cNvSpPr/>
          <p:nvPr/>
        </p:nvSpPr>
        <p:spPr>
          <a:xfrm>
            <a:off x="6190488" y="1700784"/>
            <a:ext cx="2606040" cy="420624"/>
          </a:xfrm>
          <a:prstGeom prst="rect">
            <a:avLst/>
          </a:prstGeom>
          <a:noFill/>
          <a:ln/>
        </p:spPr>
        <p:txBody>
          <a:bodyPr wrap="square" lIns="0" tIns="0" rIns="0" bIns="0" rtlCol="0" anchor="t"/>
          <a:lstStyle/>
          <a:p>
            <a:pPr marL="342900" indent="-342900">
              <a:buSzPct val="100000"/>
              <a:buChar char="•"/>
            </a:pPr>
            <a:r>
              <a:rPr lang="en-US" sz="950" dirty="0">
                <a:solidFill>
                  <a:srgbClr val="1A2737"/>
                </a:solidFill>
                <a:latin typeface="Calibri" pitchFamily="34" charset="0"/>
                <a:ea typeface="Calibri" pitchFamily="34" charset="-122"/>
                <a:cs typeface="Calibri" pitchFamily="34" charset="-120"/>
              </a:rPr>
              <a:t>Pri 1: Restore Microsoft Entra ID auth services — validate MFA active for all 45 staff</a:t>
            </a:r>
            <a:endParaRPr lang="en-US" sz="950" dirty="0"/>
          </a:p>
        </p:txBody>
      </p:sp>
      <p:sp>
        <p:nvSpPr>
          <p:cNvPr id="33" name="Text 31"/>
          <p:cNvSpPr/>
          <p:nvPr/>
        </p:nvSpPr>
        <p:spPr>
          <a:xfrm>
            <a:off x="6190488" y="2157984"/>
            <a:ext cx="2606040" cy="420624"/>
          </a:xfrm>
          <a:prstGeom prst="rect">
            <a:avLst/>
          </a:prstGeom>
          <a:noFill/>
          <a:ln/>
        </p:spPr>
        <p:txBody>
          <a:bodyPr wrap="square" lIns="0" tIns="0" rIns="0" bIns="0" rtlCol="0" anchor="t"/>
          <a:lstStyle/>
          <a:p>
            <a:pPr marL="342900" indent="-342900">
              <a:buSzPct val="100000"/>
              <a:buChar char="•"/>
            </a:pPr>
            <a:r>
              <a:rPr lang="en-US" sz="950" dirty="0">
                <a:solidFill>
                  <a:srgbClr val="1A2737"/>
                </a:solidFill>
                <a:latin typeface="Calibri" pitchFamily="34" charset="0"/>
                <a:ea typeface="Calibri" pitchFamily="34" charset="-122"/>
                <a:cs typeface="Calibri" pitchFamily="34" charset="-120"/>
              </a:rPr>
              <a:t>Pri 2: Restore EHR system from verified clean backup (02:00 AEST) — integrity check</a:t>
            </a:r>
            <a:endParaRPr lang="en-US" sz="950" dirty="0"/>
          </a:p>
        </p:txBody>
      </p:sp>
      <p:sp>
        <p:nvSpPr>
          <p:cNvPr id="34" name="Text 32"/>
          <p:cNvSpPr/>
          <p:nvPr/>
        </p:nvSpPr>
        <p:spPr>
          <a:xfrm>
            <a:off x="6190488" y="2615184"/>
            <a:ext cx="2606040" cy="420624"/>
          </a:xfrm>
          <a:prstGeom prst="rect">
            <a:avLst/>
          </a:prstGeom>
          <a:noFill/>
          <a:ln/>
        </p:spPr>
        <p:txBody>
          <a:bodyPr wrap="square" lIns="0" tIns="0" rIns="0" bIns="0" rtlCol="0" anchor="t"/>
          <a:lstStyle/>
          <a:p>
            <a:pPr marL="342900" indent="-342900">
              <a:buSzPct val="100000"/>
              <a:buChar char="•"/>
            </a:pPr>
            <a:r>
              <a:rPr lang="en-US" sz="950" dirty="0">
                <a:solidFill>
                  <a:srgbClr val="1A2737"/>
                </a:solidFill>
                <a:latin typeface="Calibri" pitchFamily="34" charset="0"/>
                <a:ea typeface="Calibri" pitchFamily="34" charset="-122"/>
                <a:cs typeface="Calibri" pitchFamily="34" charset="-120"/>
              </a:rPr>
              <a:t>Pri 3: Transition staff from paper-based workarounds back to digital; backfill records</a:t>
            </a:r>
            <a:endParaRPr lang="en-US" sz="950" dirty="0"/>
          </a:p>
        </p:txBody>
      </p:sp>
      <p:sp>
        <p:nvSpPr>
          <p:cNvPr id="35" name="Text 33"/>
          <p:cNvSpPr/>
          <p:nvPr/>
        </p:nvSpPr>
        <p:spPr>
          <a:xfrm>
            <a:off x="6190488" y="3072384"/>
            <a:ext cx="2606040" cy="420624"/>
          </a:xfrm>
          <a:prstGeom prst="rect">
            <a:avLst/>
          </a:prstGeom>
          <a:noFill/>
          <a:ln/>
        </p:spPr>
        <p:txBody>
          <a:bodyPr wrap="square" lIns="0" tIns="0" rIns="0" bIns="0" rtlCol="0" anchor="t"/>
          <a:lstStyle/>
          <a:p>
            <a:pPr marL="342900" indent="-342900">
              <a:buSzPct val="100000"/>
              <a:buChar char="•"/>
            </a:pPr>
            <a:r>
              <a:rPr lang="en-US" sz="950" dirty="0">
                <a:solidFill>
                  <a:srgbClr val="1A2737"/>
                </a:solidFill>
                <a:latin typeface="Calibri" pitchFamily="34" charset="0"/>
                <a:ea typeface="Calibri" pitchFamily="34" charset="-122"/>
                <a:cs typeface="Calibri" pitchFamily="34" charset="-120"/>
              </a:rPr>
              <a:t>Pri 4: Re-image 3 compromised clinical workstations; redeploy via Microsoft Intune</a:t>
            </a:r>
            <a:endParaRPr lang="en-US" sz="950" dirty="0"/>
          </a:p>
        </p:txBody>
      </p:sp>
      <p:sp>
        <p:nvSpPr>
          <p:cNvPr id="36" name="Text 34"/>
          <p:cNvSpPr/>
          <p:nvPr/>
        </p:nvSpPr>
        <p:spPr>
          <a:xfrm>
            <a:off x="6190488" y="3529584"/>
            <a:ext cx="2606040" cy="420624"/>
          </a:xfrm>
          <a:prstGeom prst="rect">
            <a:avLst/>
          </a:prstGeom>
          <a:noFill/>
          <a:ln/>
        </p:spPr>
        <p:txBody>
          <a:bodyPr wrap="square" lIns="0" tIns="0" rIns="0" bIns="0" rtlCol="0" anchor="t"/>
          <a:lstStyle/>
          <a:p>
            <a:pPr marL="342900" indent="-342900">
              <a:buSzPct val="100000"/>
              <a:buChar char="•"/>
            </a:pPr>
            <a:r>
              <a:rPr lang="en-US" sz="950" dirty="0">
                <a:solidFill>
                  <a:srgbClr val="1A2737"/>
                </a:solidFill>
                <a:latin typeface="Calibri" pitchFamily="34" charset="0"/>
                <a:ea typeface="Calibri" pitchFamily="34" charset="-122"/>
                <a:cs typeface="Calibri" pitchFamily="34" charset="-120"/>
              </a:rPr>
              <a:t>Customer-facing services fully restored — enhanced monitoring active</a:t>
            </a:r>
            <a:endParaRPr lang="en-US" sz="950" dirty="0"/>
          </a:p>
        </p:txBody>
      </p:sp>
      <p:sp>
        <p:nvSpPr>
          <p:cNvPr id="37" name="Shape 35"/>
          <p:cNvSpPr/>
          <p:nvPr/>
        </p:nvSpPr>
        <p:spPr>
          <a:xfrm>
            <a:off x="6190488" y="4407408"/>
            <a:ext cx="2606040" cy="274320"/>
          </a:xfrm>
          <a:prstGeom prst="rect">
            <a:avLst/>
          </a:prstGeom>
          <a:solidFill>
            <a:srgbClr val="1E6B45"/>
          </a:solidFill>
          <a:ln w="12700">
            <a:solidFill>
              <a:srgbClr val="1E6B45"/>
            </a:solidFill>
            <a:prstDash val="solid"/>
          </a:ln>
        </p:spPr>
      </p:sp>
      <p:sp>
        <p:nvSpPr>
          <p:cNvPr id="38" name="Text 36"/>
          <p:cNvSpPr/>
          <p:nvPr/>
        </p:nvSpPr>
        <p:spPr>
          <a:xfrm>
            <a:off x="6236208" y="4407408"/>
            <a:ext cx="25146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Full recovery at T+18 hours</a:t>
            </a:r>
            <a:endParaRPr lang="en-US" sz="900" dirty="0"/>
          </a:p>
        </p:txBody>
      </p:sp>
      <p:sp>
        <p:nvSpPr>
          <p:cNvPr id="39" name="Text 37"/>
          <p:cNvSpPr/>
          <p:nvPr/>
        </p:nvSpPr>
        <p:spPr>
          <a:xfrm>
            <a:off x="274320" y="4919472"/>
            <a:ext cx="8595360" cy="201168"/>
          </a:xfrm>
          <a:prstGeom prst="rect">
            <a:avLst/>
          </a:prstGeom>
          <a:noFill/>
          <a:ln/>
        </p:spPr>
        <p:txBody>
          <a:bodyPr wrap="square" lIns="0" tIns="0" rIns="0" bIns="0" rtlCol="0" anchor="ctr"/>
          <a:lstStyle/>
          <a:p>
            <a:pPr indent="0" marL="0">
              <a:buNone/>
            </a:pPr>
            <a:r>
              <a:rPr lang="en-US" sz="850" i="1" dirty="0">
                <a:solidFill>
                  <a:srgbClr val="6B7A8D"/>
                </a:solidFill>
                <a:latin typeface="Calibri" pitchFamily="34" charset="0"/>
                <a:ea typeface="Calibri" pitchFamily="34" charset="-122"/>
                <a:cs typeface="Calibri" pitchFamily="34" charset="-120"/>
              </a:rPr>
              <a:t>Role: Nanami Fujita (Technical Team / IR Lead)</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5F9"/>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054"/>
          </a:solidFill>
          <a:ln w="12700">
            <a:solidFill>
              <a:srgbClr val="1A3054"/>
            </a:solidFill>
            <a:prstDash val="solid"/>
          </a:ln>
        </p:spPr>
      </p:sp>
      <p:sp>
        <p:nvSpPr>
          <p:cNvPr id="3" name="Text 1"/>
          <p:cNvSpPr/>
          <p:nvPr/>
        </p:nvSpPr>
        <p:spPr>
          <a:xfrm>
            <a:off x="365760" y="73152"/>
            <a:ext cx="7772400" cy="4572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Incident Closed</a:t>
            </a:r>
            <a:endParaRPr lang="en-US" sz="2600" dirty="0"/>
          </a:p>
        </p:txBody>
      </p:sp>
      <p:sp>
        <p:nvSpPr>
          <p:cNvPr id="4" name="Text 2"/>
          <p:cNvSpPr/>
          <p:nvPr/>
        </p:nvSpPr>
        <p:spPr>
          <a:xfrm>
            <a:off x="365760" y="502920"/>
            <a:ext cx="7772400" cy="347472"/>
          </a:xfrm>
          <a:prstGeom prst="rect">
            <a:avLst/>
          </a:prstGeom>
          <a:noFill/>
          <a:ln/>
        </p:spPr>
        <p:txBody>
          <a:bodyPr wrap="square" lIns="0" tIns="0" rIns="0" bIns="0" rtlCol="0" anchor="t"/>
          <a:lstStyle/>
          <a:p>
            <a:pPr indent="0" marL="0">
              <a:buNone/>
            </a:pPr>
            <a:r>
              <a:rPr lang="en-US" sz="1300" i="1" dirty="0">
                <a:solidFill>
                  <a:srgbClr val="D4751B"/>
                </a:solidFill>
                <a:latin typeface="Calibri" pitchFamily="34" charset="0"/>
                <a:ea typeface="Calibri" pitchFamily="34" charset="-122"/>
                <a:cs typeface="Calibri" pitchFamily="34" charset="-120"/>
              </a:rPr>
              <a:t>Declaration and status summary</a:t>
            </a:r>
            <a:endParaRPr lang="en-US" sz="1300" dirty="0"/>
          </a:p>
        </p:txBody>
      </p:sp>
      <p:sp>
        <p:nvSpPr>
          <p:cNvPr id="5" name="Text 3"/>
          <p:cNvSpPr/>
          <p:nvPr/>
        </p:nvSpPr>
        <p:spPr>
          <a:xfrm>
            <a:off x="0" y="4892040"/>
            <a:ext cx="9144000" cy="256032"/>
          </a:xfrm>
          <a:prstGeom prst="rect">
            <a:avLst/>
          </a:prstGeom>
          <a:noFill/>
          <a:ln/>
        </p:spPr>
        <p:txBody>
          <a:bodyPr wrap="square" lIns="0" tIns="0" rIns="2540" bIns="0" rtlCol="0" anchor="ctr"/>
          <a:lstStyle/>
          <a:p>
            <a:pPr algn="r" indent="0" marL="0">
              <a:buNone/>
            </a:pPr>
            <a:r>
              <a:rPr lang="en-US" sz="900" dirty="0">
                <a:solidFill>
                  <a:srgbClr val="D4751B"/>
                </a:solidFill>
                <a:latin typeface="Calibri" pitchFamily="34" charset="0"/>
                <a:ea typeface="Calibri" pitchFamily="34" charset="-122"/>
                <a:cs typeface="Calibri" pitchFamily="34" charset="-120"/>
              </a:rPr>
              <a:t>Incident Response Role Play  |  Group 3  |  IAB246</a:t>
            </a:r>
            <a:endParaRPr lang="en-US" sz="900" dirty="0"/>
          </a:p>
        </p:txBody>
      </p:sp>
      <p:sp>
        <p:nvSpPr>
          <p:cNvPr id="6" name="Shape 4"/>
          <p:cNvSpPr/>
          <p:nvPr/>
        </p:nvSpPr>
        <p:spPr>
          <a:xfrm>
            <a:off x="274320" y="1005840"/>
            <a:ext cx="8595360" cy="365760"/>
          </a:xfrm>
          <a:prstGeom prst="rect">
            <a:avLst/>
          </a:prstGeom>
          <a:solidFill>
            <a:srgbClr val="1E6B45"/>
          </a:solidFill>
          <a:ln w="12700">
            <a:solidFill>
              <a:srgbClr val="1E6B45"/>
            </a:solidFill>
            <a:prstDash val="solid"/>
          </a:ln>
        </p:spPr>
      </p:sp>
      <p:sp>
        <p:nvSpPr>
          <p:cNvPr id="7" name="Text 5"/>
          <p:cNvSpPr/>
          <p:nvPr/>
        </p:nvSpPr>
        <p:spPr>
          <a:xfrm>
            <a:off x="365760" y="1005840"/>
            <a:ext cx="841248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INCIDENT DECLARED CLOSED — Thursday 15 May 2025, 03:25 AEST  |  Declared by: Mimy Thongphataysack, Incident Commander</a:t>
            </a:r>
            <a:endParaRPr lang="en-US" sz="1050" dirty="0"/>
          </a:p>
        </p:txBody>
      </p:sp>
      <p:sp>
        <p:nvSpPr>
          <p:cNvPr id="8" name="Shape 6"/>
          <p:cNvSpPr/>
          <p:nvPr/>
        </p:nvSpPr>
        <p:spPr>
          <a:xfrm>
            <a:off x="274320" y="1481328"/>
            <a:ext cx="4206240" cy="749808"/>
          </a:xfrm>
          <a:prstGeom prst="rect">
            <a:avLst/>
          </a:prstGeom>
          <a:solidFill>
            <a:srgbClr val="FFFFFF"/>
          </a:solidFill>
          <a:ln w="12700">
            <a:solidFill>
              <a:srgbClr val="D8DDE6"/>
            </a:solidFill>
            <a:prstDash val="solid"/>
          </a:ln>
        </p:spPr>
      </p:sp>
      <p:sp>
        <p:nvSpPr>
          <p:cNvPr id="9" name="Shape 7"/>
          <p:cNvSpPr/>
          <p:nvPr/>
        </p:nvSpPr>
        <p:spPr>
          <a:xfrm>
            <a:off x="274320" y="1481328"/>
            <a:ext cx="91440" cy="749808"/>
          </a:xfrm>
          <a:prstGeom prst="rect">
            <a:avLst/>
          </a:prstGeom>
          <a:solidFill>
            <a:srgbClr val="C0392B"/>
          </a:solidFill>
          <a:ln w="12700">
            <a:solidFill>
              <a:srgbClr val="C0392B"/>
            </a:solidFill>
            <a:prstDash val="solid"/>
          </a:ln>
        </p:spPr>
      </p:sp>
      <p:sp>
        <p:nvSpPr>
          <p:cNvPr id="10" name="Text 8"/>
          <p:cNvSpPr/>
          <p:nvPr/>
        </p:nvSpPr>
        <p:spPr>
          <a:xfrm>
            <a:off x="438912" y="1517904"/>
            <a:ext cx="3931920" cy="219456"/>
          </a:xfrm>
          <a:prstGeom prst="rect">
            <a:avLst/>
          </a:prstGeom>
          <a:noFill/>
          <a:ln/>
        </p:spPr>
        <p:txBody>
          <a:bodyPr wrap="square" lIns="0" tIns="0" rIns="0" bIns="0" rtlCol="0" anchor="ctr"/>
          <a:lstStyle/>
          <a:p>
            <a:pPr indent="0" marL="0">
              <a:buNone/>
            </a:pPr>
            <a:r>
              <a:rPr lang="en-US" sz="1000" b="1" dirty="0">
                <a:solidFill>
                  <a:srgbClr val="C0392B"/>
                </a:solidFill>
                <a:latin typeface="Calibri" pitchFamily="34" charset="0"/>
                <a:ea typeface="Calibri" pitchFamily="34" charset="-122"/>
                <a:cs typeface="Calibri" pitchFamily="34" charset="-120"/>
              </a:rPr>
              <a:t>Incident Type</a:t>
            </a:r>
            <a:endParaRPr lang="en-US" sz="1000" dirty="0"/>
          </a:p>
        </p:txBody>
      </p:sp>
      <p:sp>
        <p:nvSpPr>
          <p:cNvPr id="11" name="Text 9"/>
          <p:cNvSpPr/>
          <p:nvPr/>
        </p:nvSpPr>
        <p:spPr>
          <a:xfrm>
            <a:off x="438912" y="1737360"/>
            <a:ext cx="3931920" cy="475488"/>
          </a:xfrm>
          <a:prstGeom prst="rect">
            <a:avLst/>
          </a:prstGeom>
          <a:noFill/>
          <a:ln/>
        </p:spPr>
        <p:txBody>
          <a:bodyPr wrap="square" lIns="0" tIns="0" rIns="0" bIns="0" rtlCol="0" anchor="t"/>
          <a:lstStyle/>
          <a:p>
            <a:pPr indent="0" marL="0">
              <a:buNone/>
            </a:pPr>
            <a:r>
              <a:rPr lang="en-US" sz="950" dirty="0">
                <a:solidFill>
                  <a:srgbClr val="1A2737"/>
                </a:solidFill>
                <a:latin typeface="Calibri" pitchFamily="34" charset="0"/>
                <a:ea typeface="Calibri" pitchFamily="34" charset="-122"/>
                <a:cs typeface="Calibri" pitchFamily="34" charset="-120"/>
              </a:rPr>
              <a:t>RDP Brute Force → EHR Data Breach (credential abuse + data exfiltration)</a:t>
            </a:r>
            <a:endParaRPr lang="en-US" sz="950" dirty="0"/>
          </a:p>
        </p:txBody>
      </p:sp>
      <p:sp>
        <p:nvSpPr>
          <p:cNvPr id="12" name="Shape 10"/>
          <p:cNvSpPr/>
          <p:nvPr/>
        </p:nvSpPr>
        <p:spPr>
          <a:xfrm>
            <a:off x="274320" y="2286000"/>
            <a:ext cx="4206240" cy="749808"/>
          </a:xfrm>
          <a:prstGeom prst="rect">
            <a:avLst/>
          </a:prstGeom>
          <a:solidFill>
            <a:srgbClr val="FFFFFF"/>
          </a:solidFill>
          <a:ln w="12700">
            <a:solidFill>
              <a:srgbClr val="D8DDE6"/>
            </a:solidFill>
            <a:prstDash val="solid"/>
          </a:ln>
        </p:spPr>
      </p:sp>
      <p:sp>
        <p:nvSpPr>
          <p:cNvPr id="13" name="Shape 11"/>
          <p:cNvSpPr/>
          <p:nvPr/>
        </p:nvSpPr>
        <p:spPr>
          <a:xfrm>
            <a:off x="274320" y="2286000"/>
            <a:ext cx="91440" cy="749808"/>
          </a:xfrm>
          <a:prstGeom prst="rect">
            <a:avLst/>
          </a:prstGeom>
          <a:solidFill>
            <a:srgbClr val="027A8A"/>
          </a:solidFill>
          <a:ln w="12700">
            <a:solidFill>
              <a:srgbClr val="027A8A"/>
            </a:solidFill>
            <a:prstDash val="solid"/>
          </a:ln>
        </p:spPr>
      </p:sp>
      <p:sp>
        <p:nvSpPr>
          <p:cNvPr id="14" name="Text 12"/>
          <p:cNvSpPr/>
          <p:nvPr/>
        </p:nvSpPr>
        <p:spPr>
          <a:xfrm>
            <a:off x="438912" y="2322576"/>
            <a:ext cx="3931920" cy="219456"/>
          </a:xfrm>
          <a:prstGeom prst="rect">
            <a:avLst/>
          </a:prstGeom>
          <a:noFill/>
          <a:ln/>
        </p:spPr>
        <p:txBody>
          <a:bodyPr wrap="square" lIns="0" tIns="0" rIns="0" bIns="0" rtlCol="0" anchor="ctr"/>
          <a:lstStyle/>
          <a:p>
            <a:pPr indent="0" marL="0">
              <a:buNone/>
            </a:pPr>
            <a:r>
              <a:rPr lang="en-US" sz="1000" b="1" dirty="0">
                <a:solidFill>
                  <a:srgbClr val="027A8A"/>
                </a:solidFill>
                <a:latin typeface="Calibri" pitchFamily="34" charset="0"/>
                <a:ea typeface="Calibri" pitchFamily="34" charset="-122"/>
                <a:cs typeface="Calibri" pitchFamily="34" charset="-120"/>
              </a:rPr>
              <a:t>Duration</a:t>
            </a:r>
            <a:endParaRPr lang="en-US" sz="1000" dirty="0"/>
          </a:p>
        </p:txBody>
      </p:sp>
      <p:sp>
        <p:nvSpPr>
          <p:cNvPr id="15" name="Text 13"/>
          <p:cNvSpPr/>
          <p:nvPr/>
        </p:nvSpPr>
        <p:spPr>
          <a:xfrm>
            <a:off x="438912" y="2542032"/>
            <a:ext cx="3931920" cy="475488"/>
          </a:xfrm>
          <a:prstGeom prst="rect">
            <a:avLst/>
          </a:prstGeom>
          <a:noFill/>
          <a:ln/>
        </p:spPr>
        <p:txBody>
          <a:bodyPr wrap="square" lIns="0" tIns="0" rIns="0" bIns="0" rtlCol="0" anchor="t"/>
          <a:lstStyle/>
          <a:p>
            <a:pPr indent="0" marL="0">
              <a:buNone/>
            </a:pPr>
            <a:r>
              <a:rPr lang="en-US" sz="950" dirty="0">
                <a:solidFill>
                  <a:srgbClr val="1A2737"/>
                </a:solidFill>
                <a:latin typeface="Calibri" pitchFamily="34" charset="0"/>
                <a:ea typeface="Calibri" pitchFamily="34" charset="-122"/>
                <a:cs typeface="Calibri" pitchFamily="34" charset="-120"/>
              </a:rPr>
              <a:t>Detected: 09:23 AEST 14 May → Resolved: 03:25 AEST 15 May  |  Total: 18 hours 2 min</a:t>
            </a:r>
            <a:endParaRPr lang="en-US" sz="950" dirty="0"/>
          </a:p>
        </p:txBody>
      </p:sp>
      <p:sp>
        <p:nvSpPr>
          <p:cNvPr id="16" name="Shape 14"/>
          <p:cNvSpPr/>
          <p:nvPr/>
        </p:nvSpPr>
        <p:spPr>
          <a:xfrm>
            <a:off x="274320" y="3090672"/>
            <a:ext cx="4206240" cy="749808"/>
          </a:xfrm>
          <a:prstGeom prst="rect">
            <a:avLst/>
          </a:prstGeom>
          <a:solidFill>
            <a:srgbClr val="FFFFFF"/>
          </a:solidFill>
          <a:ln w="12700">
            <a:solidFill>
              <a:srgbClr val="D8DDE6"/>
            </a:solidFill>
            <a:prstDash val="solid"/>
          </a:ln>
        </p:spPr>
      </p:sp>
      <p:sp>
        <p:nvSpPr>
          <p:cNvPr id="17" name="Shape 15"/>
          <p:cNvSpPr/>
          <p:nvPr/>
        </p:nvSpPr>
        <p:spPr>
          <a:xfrm>
            <a:off x="274320" y="3090672"/>
            <a:ext cx="91440" cy="749808"/>
          </a:xfrm>
          <a:prstGeom prst="rect">
            <a:avLst/>
          </a:prstGeom>
          <a:solidFill>
            <a:srgbClr val="1A3054"/>
          </a:solidFill>
          <a:ln w="12700">
            <a:solidFill>
              <a:srgbClr val="1A3054"/>
            </a:solidFill>
            <a:prstDash val="solid"/>
          </a:ln>
        </p:spPr>
      </p:sp>
      <p:sp>
        <p:nvSpPr>
          <p:cNvPr id="18" name="Text 16"/>
          <p:cNvSpPr/>
          <p:nvPr/>
        </p:nvSpPr>
        <p:spPr>
          <a:xfrm>
            <a:off x="438912" y="3127248"/>
            <a:ext cx="3931920" cy="219456"/>
          </a:xfrm>
          <a:prstGeom prst="rect">
            <a:avLst/>
          </a:prstGeom>
          <a:noFill/>
          <a:ln/>
        </p:spPr>
        <p:txBody>
          <a:bodyPr wrap="square" lIns="0" tIns="0" rIns="0" bIns="0" rtlCol="0" anchor="ctr"/>
          <a:lstStyle/>
          <a:p>
            <a:pPr indent="0" marL="0">
              <a:buNone/>
            </a:pPr>
            <a:r>
              <a:rPr lang="en-US" sz="1000" b="1" dirty="0">
                <a:solidFill>
                  <a:srgbClr val="1A3054"/>
                </a:solidFill>
                <a:latin typeface="Calibri" pitchFamily="34" charset="0"/>
                <a:ea typeface="Calibri" pitchFamily="34" charset="-122"/>
                <a:cs typeface="Calibri" pitchFamily="34" charset="-120"/>
              </a:rPr>
              <a:t>Systems Affected</a:t>
            </a:r>
            <a:endParaRPr lang="en-US" sz="1000" dirty="0"/>
          </a:p>
        </p:txBody>
      </p:sp>
      <p:sp>
        <p:nvSpPr>
          <p:cNvPr id="19" name="Text 17"/>
          <p:cNvSpPr/>
          <p:nvPr/>
        </p:nvSpPr>
        <p:spPr>
          <a:xfrm>
            <a:off x="438912" y="3346704"/>
            <a:ext cx="3931920" cy="475488"/>
          </a:xfrm>
          <a:prstGeom prst="rect">
            <a:avLst/>
          </a:prstGeom>
          <a:noFill/>
          <a:ln/>
        </p:spPr>
        <p:txBody>
          <a:bodyPr wrap="square" lIns="0" tIns="0" rIns="0" bIns="0" rtlCol="0" anchor="t"/>
          <a:lstStyle/>
          <a:p>
            <a:pPr indent="0" marL="0">
              <a:buNone/>
            </a:pPr>
            <a:r>
              <a:rPr lang="en-US" sz="950" dirty="0">
                <a:solidFill>
                  <a:srgbClr val="1A2737"/>
                </a:solidFill>
                <a:latin typeface="Calibri" pitchFamily="34" charset="0"/>
                <a:ea typeface="Calibri" pitchFamily="34" charset="-122"/>
                <a:cs typeface="Calibri" pitchFamily="34" charset="-120"/>
              </a:rPr>
              <a:t>EHR Application Server (restored), RDP Gateway (decommissioned), 3 Workstations (re-imaged)</a:t>
            </a:r>
            <a:endParaRPr lang="en-US" sz="950" dirty="0"/>
          </a:p>
        </p:txBody>
      </p:sp>
      <p:sp>
        <p:nvSpPr>
          <p:cNvPr id="20" name="Shape 18"/>
          <p:cNvSpPr/>
          <p:nvPr/>
        </p:nvSpPr>
        <p:spPr>
          <a:xfrm>
            <a:off x="4617720" y="1481328"/>
            <a:ext cx="4206240" cy="749808"/>
          </a:xfrm>
          <a:prstGeom prst="rect">
            <a:avLst/>
          </a:prstGeom>
          <a:solidFill>
            <a:srgbClr val="FFFFFF"/>
          </a:solidFill>
          <a:ln w="12700">
            <a:solidFill>
              <a:srgbClr val="D8DDE6"/>
            </a:solidFill>
            <a:prstDash val="solid"/>
          </a:ln>
        </p:spPr>
      </p:sp>
      <p:sp>
        <p:nvSpPr>
          <p:cNvPr id="21" name="Shape 19"/>
          <p:cNvSpPr/>
          <p:nvPr/>
        </p:nvSpPr>
        <p:spPr>
          <a:xfrm>
            <a:off x="4617720" y="1481328"/>
            <a:ext cx="91440" cy="749808"/>
          </a:xfrm>
          <a:prstGeom prst="rect">
            <a:avLst/>
          </a:prstGeom>
          <a:solidFill>
            <a:srgbClr val="C0392B"/>
          </a:solidFill>
          <a:ln w="12700">
            <a:solidFill>
              <a:srgbClr val="C0392B"/>
            </a:solidFill>
            <a:prstDash val="solid"/>
          </a:ln>
        </p:spPr>
      </p:sp>
      <p:sp>
        <p:nvSpPr>
          <p:cNvPr id="22" name="Text 20"/>
          <p:cNvSpPr/>
          <p:nvPr/>
        </p:nvSpPr>
        <p:spPr>
          <a:xfrm>
            <a:off x="4782312" y="1517904"/>
            <a:ext cx="3931920" cy="219456"/>
          </a:xfrm>
          <a:prstGeom prst="rect">
            <a:avLst/>
          </a:prstGeom>
          <a:noFill/>
          <a:ln/>
        </p:spPr>
        <p:txBody>
          <a:bodyPr wrap="square" lIns="0" tIns="0" rIns="0" bIns="0" rtlCol="0" anchor="ctr"/>
          <a:lstStyle/>
          <a:p>
            <a:pPr indent="0" marL="0">
              <a:buNone/>
            </a:pPr>
            <a:r>
              <a:rPr lang="en-US" sz="1000" b="1" dirty="0">
                <a:solidFill>
                  <a:srgbClr val="C0392B"/>
                </a:solidFill>
                <a:latin typeface="Calibri" pitchFamily="34" charset="0"/>
                <a:ea typeface="Calibri" pitchFamily="34" charset="-122"/>
                <a:cs typeface="Calibri" pitchFamily="34" charset="-120"/>
              </a:rPr>
              <a:t>Data Impact</a:t>
            </a:r>
            <a:endParaRPr lang="en-US" sz="1000" dirty="0"/>
          </a:p>
        </p:txBody>
      </p:sp>
      <p:sp>
        <p:nvSpPr>
          <p:cNvPr id="23" name="Text 21"/>
          <p:cNvSpPr/>
          <p:nvPr/>
        </p:nvSpPr>
        <p:spPr>
          <a:xfrm>
            <a:off x="4782312" y="1737360"/>
            <a:ext cx="3931920" cy="475488"/>
          </a:xfrm>
          <a:prstGeom prst="rect">
            <a:avLst/>
          </a:prstGeom>
          <a:noFill/>
          <a:ln/>
        </p:spPr>
        <p:txBody>
          <a:bodyPr wrap="square" lIns="0" tIns="0" rIns="0" bIns="0" rtlCol="0" anchor="t"/>
          <a:lstStyle/>
          <a:p>
            <a:pPr indent="0" marL="0">
              <a:buNone/>
            </a:pPr>
            <a:r>
              <a:rPr lang="en-US" sz="950" dirty="0">
                <a:solidFill>
                  <a:srgbClr val="1A2737"/>
                </a:solidFill>
                <a:latin typeface="Calibri" pitchFamily="34" charset="0"/>
                <a:ea typeface="Calibri" pitchFamily="34" charset="-122"/>
                <a:cs typeface="Calibri" pitchFamily="34" charset="-120"/>
              </a:rPr>
              <a:t>~12,000 patient records accessed — names, DOB, diagnoses, medications. No confirmed exfiltration confirmed via egress monitoring.</a:t>
            </a:r>
            <a:endParaRPr lang="en-US" sz="950" dirty="0"/>
          </a:p>
        </p:txBody>
      </p:sp>
      <p:sp>
        <p:nvSpPr>
          <p:cNvPr id="24" name="Shape 22"/>
          <p:cNvSpPr/>
          <p:nvPr/>
        </p:nvSpPr>
        <p:spPr>
          <a:xfrm>
            <a:off x="4617720" y="2286000"/>
            <a:ext cx="4206240" cy="749808"/>
          </a:xfrm>
          <a:prstGeom prst="rect">
            <a:avLst/>
          </a:prstGeom>
          <a:solidFill>
            <a:srgbClr val="FFFFFF"/>
          </a:solidFill>
          <a:ln w="12700">
            <a:solidFill>
              <a:srgbClr val="D8DDE6"/>
            </a:solidFill>
            <a:prstDash val="solid"/>
          </a:ln>
        </p:spPr>
      </p:sp>
      <p:sp>
        <p:nvSpPr>
          <p:cNvPr id="25" name="Shape 23"/>
          <p:cNvSpPr/>
          <p:nvPr/>
        </p:nvSpPr>
        <p:spPr>
          <a:xfrm>
            <a:off x="4617720" y="2286000"/>
            <a:ext cx="91440" cy="749808"/>
          </a:xfrm>
          <a:prstGeom prst="rect">
            <a:avLst/>
          </a:prstGeom>
          <a:solidFill>
            <a:srgbClr val="C55A11"/>
          </a:solidFill>
          <a:ln w="12700">
            <a:solidFill>
              <a:srgbClr val="C55A11"/>
            </a:solidFill>
            <a:prstDash val="solid"/>
          </a:ln>
        </p:spPr>
      </p:sp>
      <p:sp>
        <p:nvSpPr>
          <p:cNvPr id="26" name="Text 24"/>
          <p:cNvSpPr/>
          <p:nvPr/>
        </p:nvSpPr>
        <p:spPr>
          <a:xfrm>
            <a:off x="4782312" y="2322576"/>
            <a:ext cx="3931920" cy="219456"/>
          </a:xfrm>
          <a:prstGeom prst="rect">
            <a:avLst/>
          </a:prstGeom>
          <a:noFill/>
          <a:ln/>
        </p:spPr>
        <p:txBody>
          <a:bodyPr wrap="square" lIns="0" tIns="0" rIns="0" bIns="0" rtlCol="0" anchor="ctr"/>
          <a:lstStyle/>
          <a:p>
            <a:pPr indent="0" marL="0">
              <a:buNone/>
            </a:pPr>
            <a:r>
              <a:rPr lang="en-US" sz="1000" b="1" dirty="0">
                <a:solidFill>
                  <a:srgbClr val="C55A11"/>
                </a:solidFill>
                <a:latin typeface="Calibri" pitchFamily="34" charset="0"/>
                <a:ea typeface="Calibri" pitchFamily="34" charset="-122"/>
                <a:cs typeface="Calibri" pitchFamily="34" charset="-120"/>
              </a:rPr>
              <a:t>Customers Notified</a:t>
            </a:r>
            <a:endParaRPr lang="en-US" sz="1000" dirty="0"/>
          </a:p>
        </p:txBody>
      </p:sp>
      <p:sp>
        <p:nvSpPr>
          <p:cNvPr id="27" name="Text 25"/>
          <p:cNvSpPr/>
          <p:nvPr/>
        </p:nvSpPr>
        <p:spPr>
          <a:xfrm>
            <a:off x="4782312" y="2542032"/>
            <a:ext cx="3931920" cy="475488"/>
          </a:xfrm>
          <a:prstGeom prst="rect">
            <a:avLst/>
          </a:prstGeom>
          <a:noFill/>
          <a:ln/>
        </p:spPr>
        <p:txBody>
          <a:bodyPr wrap="square" lIns="0" tIns="0" rIns="0" bIns="0" rtlCol="0" anchor="t"/>
          <a:lstStyle/>
          <a:p>
            <a:pPr indent="0" marL="0">
              <a:buNone/>
            </a:pPr>
            <a:r>
              <a:rPr lang="en-US" sz="950" dirty="0">
                <a:solidFill>
                  <a:srgbClr val="1A2737"/>
                </a:solidFill>
                <a:latin typeface="Calibri" pitchFamily="34" charset="0"/>
                <a:ea typeface="Calibri" pitchFamily="34" charset="-122"/>
                <a:cs typeface="Calibri" pitchFamily="34" charset="-120"/>
              </a:rPr>
              <a:t>Yes — ~12,000 patients notified via written notice 15 May 2025 per OAIC guidance, following Legal sign-off</a:t>
            </a:r>
            <a:endParaRPr lang="en-US" sz="950" dirty="0"/>
          </a:p>
        </p:txBody>
      </p:sp>
      <p:sp>
        <p:nvSpPr>
          <p:cNvPr id="28" name="Shape 26"/>
          <p:cNvSpPr/>
          <p:nvPr/>
        </p:nvSpPr>
        <p:spPr>
          <a:xfrm>
            <a:off x="4617720" y="3090672"/>
            <a:ext cx="4206240" cy="749808"/>
          </a:xfrm>
          <a:prstGeom prst="rect">
            <a:avLst/>
          </a:prstGeom>
          <a:solidFill>
            <a:srgbClr val="FFFFFF"/>
          </a:solidFill>
          <a:ln w="12700">
            <a:solidFill>
              <a:srgbClr val="D8DDE6"/>
            </a:solidFill>
            <a:prstDash val="solid"/>
          </a:ln>
        </p:spPr>
      </p:sp>
      <p:sp>
        <p:nvSpPr>
          <p:cNvPr id="29" name="Shape 27"/>
          <p:cNvSpPr/>
          <p:nvPr/>
        </p:nvSpPr>
        <p:spPr>
          <a:xfrm>
            <a:off x="4617720" y="3090672"/>
            <a:ext cx="91440" cy="749808"/>
          </a:xfrm>
          <a:prstGeom prst="rect">
            <a:avLst/>
          </a:prstGeom>
          <a:solidFill>
            <a:srgbClr val="1A3054"/>
          </a:solidFill>
          <a:ln w="12700">
            <a:solidFill>
              <a:srgbClr val="1A3054"/>
            </a:solidFill>
            <a:prstDash val="solid"/>
          </a:ln>
        </p:spPr>
      </p:sp>
      <p:sp>
        <p:nvSpPr>
          <p:cNvPr id="30" name="Text 28"/>
          <p:cNvSpPr/>
          <p:nvPr/>
        </p:nvSpPr>
        <p:spPr>
          <a:xfrm>
            <a:off x="4782312" y="3127248"/>
            <a:ext cx="3931920" cy="219456"/>
          </a:xfrm>
          <a:prstGeom prst="rect">
            <a:avLst/>
          </a:prstGeom>
          <a:noFill/>
          <a:ln/>
        </p:spPr>
        <p:txBody>
          <a:bodyPr wrap="square" lIns="0" tIns="0" rIns="0" bIns="0" rtlCol="0" anchor="ctr"/>
          <a:lstStyle/>
          <a:p>
            <a:pPr indent="0" marL="0">
              <a:buNone/>
            </a:pPr>
            <a:r>
              <a:rPr lang="en-US" sz="1000" b="1" dirty="0">
                <a:solidFill>
                  <a:srgbClr val="1A3054"/>
                </a:solidFill>
                <a:latin typeface="Calibri" pitchFamily="34" charset="0"/>
                <a:ea typeface="Calibri" pitchFamily="34" charset="-122"/>
                <a:cs typeface="Calibri" pitchFamily="34" charset="-120"/>
              </a:rPr>
              <a:t>Regulators Notified</a:t>
            </a:r>
            <a:endParaRPr lang="en-US" sz="1000" dirty="0"/>
          </a:p>
        </p:txBody>
      </p:sp>
      <p:sp>
        <p:nvSpPr>
          <p:cNvPr id="31" name="Text 29"/>
          <p:cNvSpPr/>
          <p:nvPr/>
        </p:nvSpPr>
        <p:spPr>
          <a:xfrm>
            <a:off x="4782312" y="3346704"/>
            <a:ext cx="3931920" cy="475488"/>
          </a:xfrm>
          <a:prstGeom prst="rect">
            <a:avLst/>
          </a:prstGeom>
          <a:noFill/>
          <a:ln/>
        </p:spPr>
        <p:txBody>
          <a:bodyPr wrap="square" lIns="0" tIns="0" rIns="0" bIns="0" rtlCol="0" anchor="t"/>
          <a:lstStyle/>
          <a:p>
            <a:pPr indent="0" marL="0">
              <a:buNone/>
            </a:pPr>
            <a:r>
              <a:rPr lang="en-US" sz="950" dirty="0">
                <a:solidFill>
                  <a:srgbClr val="1A2737"/>
                </a:solidFill>
                <a:latin typeface="Calibri" pitchFamily="34" charset="0"/>
                <a:ea typeface="Calibri" pitchFamily="34" charset="-122"/>
                <a:cs typeface="Calibri" pitchFamily="34" charset="-120"/>
              </a:rPr>
              <a:t>OAIC: Yes — notified within 28 hours of breach confirmation. ASD: Yes — incident reported via ReportCyber. APRA: N/A.</a:t>
            </a:r>
            <a:endParaRPr lang="en-US" sz="950" dirty="0"/>
          </a:p>
        </p:txBody>
      </p:sp>
      <p:sp>
        <p:nvSpPr>
          <p:cNvPr id="32" name="Shape 30"/>
          <p:cNvSpPr/>
          <p:nvPr/>
        </p:nvSpPr>
        <p:spPr>
          <a:xfrm>
            <a:off x="274320" y="3968496"/>
            <a:ext cx="8595360" cy="685800"/>
          </a:xfrm>
          <a:prstGeom prst="rect">
            <a:avLst/>
          </a:prstGeom>
          <a:solidFill>
            <a:srgbClr val="FFFBE6"/>
          </a:solidFill>
          <a:ln w="12700">
            <a:solidFill>
              <a:srgbClr val="D4751B"/>
            </a:solidFill>
            <a:prstDash val="solid"/>
          </a:ln>
        </p:spPr>
      </p:sp>
      <p:sp>
        <p:nvSpPr>
          <p:cNvPr id="33" name="Shape 31"/>
          <p:cNvSpPr/>
          <p:nvPr/>
        </p:nvSpPr>
        <p:spPr>
          <a:xfrm>
            <a:off x="274320" y="3968496"/>
            <a:ext cx="73152" cy="685800"/>
          </a:xfrm>
          <a:prstGeom prst="rect">
            <a:avLst/>
          </a:prstGeom>
          <a:solidFill>
            <a:srgbClr val="D4751B"/>
          </a:solidFill>
          <a:ln w="12700">
            <a:solidFill>
              <a:srgbClr val="D4751B"/>
            </a:solidFill>
            <a:prstDash val="solid"/>
          </a:ln>
        </p:spPr>
      </p:sp>
      <p:sp>
        <p:nvSpPr>
          <p:cNvPr id="34" name="Text 32"/>
          <p:cNvSpPr/>
          <p:nvPr/>
        </p:nvSpPr>
        <p:spPr>
          <a:xfrm>
            <a:off x="438912" y="3995928"/>
            <a:ext cx="8321040" cy="621792"/>
          </a:xfrm>
          <a:prstGeom prst="rect">
            <a:avLst/>
          </a:prstGeom>
          <a:noFill/>
          <a:ln/>
        </p:spPr>
        <p:txBody>
          <a:bodyPr wrap="square" lIns="0" tIns="0" rIns="0" bIns="0" rtlCol="0" anchor="ctr"/>
          <a:lstStyle/>
          <a:p>
            <a:pPr indent="0" marL="0">
              <a:buNone/>
            </a:pPr>
            <a:r>
              <a:rPr lang="en-US" sz="1000" dirty="0">
                <a:solidFill>
                  <a:srgbClr val="1A2737"/>
                </a:solidFill>
                <a:latin typeface="Calibri" pitchFamily="34" charset="0"/>
                <a:ea typeface="Calibri" pitchFamily="34" charset="-122"/>
                <a:cs typeface="Calibri" pitchFamily="34" charset="-120"/>
              </a:rPr>
              <a:t>Residual monitoring: 24/7 SOC watch for 30 days on Entra ID and EHR telemetry; enhanced SIEM rules for RDP anomalies; third-party forensic review of full patient record access logs; mandatory MFA now enforced on all accounts.</a:t>
            </a:r>
            <a:endParaRPr lang="en-US" sz="1000" dirty="0"/>
          </a:p>
        </p:txBody>
      </p:sp>
      <p:sp>
        <p:nvSpPr>
          <p:cNvPr id="35" name="Text 33"/>
          <p:cNvSpPr/>
          <p:nvPr/>
        </p:nvSpPr>
        <p:spPr>
          <a:xfrm>
            <a:off x="274320" y="4919472"/>
            <a:ext cx="8595360" cy="201168"/>
          </a:xfrm>
          <a:prstGeom prst="rect">
            <a:avLst/>
          </a:prstGeom>
          <a:noFill/>
          <a:ln/>
        </p:spPr>
        <p:txBody>
          <a:bodyPr wrap="square" lIns="0" tIns="0" rIns="0" bIns="0" rtlCol="0" anchor="ctr"/>
          <a:lstStyle/>
          <a:p>
            <a:pPr indent="0" marL="0">
              <a:buNone/>
            </a:pPr>
            <a:r>
              <a:rPr lang="en-US" sz="850" i="1" dirty="0">
                <a:solidFill>
                  <a:srgbClr val="6B7A8D"/>
                </a:solidFill>
                <a:latin typeface="Calibri" pitchFamily="34" charset="0"/>
                <a:ea typeface="Calibri" pitchFamily="34" charset="-122"/>
                <a:cs typeface="Calibri" pitchFamily="34" charset="-120"/>
              </a:rPr>
              <a:t>Role: Mimy Thongphataysack (Incident Commander)</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5F9"/>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054"/>
          </a:solidFill>
          <a:ln w="12700">
            <a:solidFill>
              <a:srgbClr val="1A3054"/>
            </a:solidFill>
            <a:prstDash val="solid"/>
          </a:ln>
        </p:spPr>
      </p:sp>
      <p:sp>
        <p:nvSpPr>
          <p:cNvPr id="3" name="Text 1"/>
          <p:cNvSpPr/>
          <p:nvPr/>
        </p:nvSpPr>
        <p:spPr>
          <a:xfrm>
            <a:off x="365760" y="73152"/>
            <a:ext cx="7772400" cy="4572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Lessons Learned and Action Plan</a:t>
            </a:r>
            <a:endParaRPr lang="en-US" sz="2600" dirty="0"/>
          </a:p>
        </p:txBody>
      </p:sp>
      <p:sp>
        <p:nvSpPr>
          <p:cNvPr id="4" name="Text 2"/>
          <p:cNvSpPr/>
          <p:nvPr/>
        </p:nvSpPr>
        <p:spPr>
          <a:xfrm>
            <a:off x="365760" y="502920"/>
            <a:ext cx="7772400" cy="347472"/>
          </a:xfrm>
          <a:prstGeom prst="rect">
            <a:avLst/>
          </a:prstGeom>
          <a:noFill/>
          <a:ln/>
        </p:spPr>
        <p:txBody>
          <a:bodyPr wrap="square" lIns="0" tIns="0" rIns="0" bIns="0" rtlCol="0" anchor="t"/>
          <a:lstStyle/>
          <a:p>
            <a:pPr indent="0" marL="0">
              <a:buNone/>
            </a:pPr>
            <a:r>
              <a:rPr lang="en-US" sz="1300" i="1" dirty="0">
                <a:solidFill>
                  <a:srgbClr val="D4751B"/>
                </a:solidFill>
                <a:latin typeface="Calibri" pitchFamily="34" charset="0"/>
                <a:ea typeface="Calibri" pitchFamily="34" charset="-122"/>
                <a:cs typeface="Calibri" pitchFamily="34" charset="-120"/>
              </a:rPr>
              <a:t>What we will do differently – immediate, short-term, and ongoing</a:t>
            </a:r>
            <a:endParaRPr lang="en-US" sz="1300" dirty="0"/>
          </a:p>
        </p:txBody>
      </p:sp>
      <p:sp>
        <p:nvSpPr>
          <p:cNvPr id="5" name="Text 3"/>
          <p:cNvSpPr/>
          <p:nvPr/>
        </p:nvSpPr>
        <p:spPr>
          <a:xfrm>
            <a:off x="0" y="4892040"/>
            <a:ext cx="9144000" cy="256032"/>
          </a:xfrm>
          <a:prstGeom prst="rect">
            <a:avLst/>
          </a:prstGeom>
          <a:noFill/>
          <a:ln/>
        </p:spPr>
        <p:txBody>
          <a:bodyPr wrap="square" lIns="0" tIns="0" rIns="2540" bIns="0" rtlCol="0" anchor="ctr"/>
          <a:lstStyle/>
          <a:p>
            <a:pPr algn="r" indent="0" marL="0">
              <a:buNone/>
            </a:pPr>
            <a:r>
              <a:rPr lang="en-US" sz="900" dirty="0">
                <a:solidFill>
                  <a:srgbClr val="D4751B"/>
                </a:solidFill>
                <a:latin typeface="Calibri" pitchFamily="34" charset="0"/>
                <a:ea typeface="Calibri" pitchFamily="34" charset="-122"/>
                <a:cs typeface="Calibri" pitchFamily="34" charset="-120"/>
              </a:rPr>
              <a:t>Incident Response Role Play  |  Group 3  |  IAB246</a:t>
            </a:r>
            <a:endParaRPr lang="en-US" sz="900" dirty="0"/>
          </a:p>
        </p:txBody>
      </p:sp>
      <p:sp>
        <p:nvSpPr>
          <p:cNvPr id="6" name="Shape 4"/>
          <p:cNvSpPr/>
          <p:nvPr/>
        </p:nvSpPr>
        <p:spPr>
          <a:xfrm>
            <a:off x="256032" y="987552"/>
            <a:ext cx="2834640" cy="3493008"/>
          </a:xfrm>
          <a:prstGeom prst="rect">
            <a:avLst/>
          </a:prstGeom>
          <a:solidFill>
            <a:srgbClr val="FFFFFF"/>
          </a:solidFill>
          <a:ln w="12700">
            <a:solidFill>
              <a:srgbClr val="D8DDE6"/>
            </a:solidFill>
            <a:prstDash val="solid"/>
          </a:ln>
          <a:effectLst>
            <a:outerShdw sx="100000" sy="100000" kx="0" ky="0" algn="bl" rotWithShape="0" blurRad="63500" dist="25400" dir="8100000">
              <a:srgbClr val="000000">
                <a:alpha val="10000"/>
              </a:srgbClr>
            </a:outerShdw>
          </a:effectLst>
        </p:spPr>
      </p:sp>
      <p:sp>
        <p:nvSpPr>
          <p:cNvPr id="7" name="Shape 5"/>
          <p:cNvSpPr/>
          <p:nvPr/>
        </p:nvSpPr>
        <p:spPr>
          <a:xfrm>
            <a:off x="256032" y="987552"/>
            <a:ext cx="2834640" cy="274320"/>
          </a:xfrm>
          <a:prstGeom prst="rect">
            <a:avLst/>
          </a:prstGeom>
          <a:solidFill>
            <a:srgbClr val="027A8A"/>
          </a:solidFill>
          <a:ln w="12700">
            <a:solidFill>
              <a:srgbClr val="027A8A"/>
            </a:solidFill>
            <a:prstDash val="solid"/>
          </a:ln>
        </p:spPr>
      </p:sp>
      <p:sp>
        <p:nvSpPr>
          <p:cNvPr id="8" name="Text 6"/>
          <p:cNvSpPr/>
          <p:nvPr/>
        </p:nvSpPr>
        <p:spPr>
          <a:xfrm>
            <a:off x="301752" y="987552"/>
            <a:ext cx="274320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Technical</a:t>
            </a:r>
            <a:endParaRPr lang="en-US" sz="1200" dirty="0"/>
          </a:p>
        </p:txBody>
      </p:sp>
      <p:sp>
        <p:nvSpPr>
          <p:cNvPr id="9" name="Shape 7"/>
          <p:cNvSpPr/>
          <p:nvPr/>
        </p:nvSpPr>
        <p:spPr>
          <a:xfrm>
            <a:off x="347472" y="1316736"/>
            <a:ext cx="237744" cy="237744"/>
          </a:xfrm>
          <a:prstGeom prst="rect">
            <a:avLst/>
          </a:prstGeom>
          <a:solidFill>
            <a:srgbClr val="027A8A"/>
          </a:solidFill>
          <a:ln w="12700">
            <a:solidFill>
              <a:srgbClr val="027A8A"/>
            </a:solidFill>
            <a:prstDash val="solid"/>
          </a:ln>
        </p:spPr>
      </p:sp>
      <p:sp>
        <p:nvSpPr>
          <p:cNvPr id="10" name="Text 8"/>
          <p:cNvSpPr/>
          <p:nvPr/>
        </p:nvSpPr>
        <p:spPr>
          <a:xfrm>
            <a:off x="347472" y="1316736"/>
            <a:ext cx="23774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a:t>
            </a:r>
            <a:endParaRPr lang="en-US" sz="950" dirty="0"/>
          </a:p>
        </p:txBody>
      </p:sp>
      <p:sp>
        <p:nvSpPr>
          <p:cNvPr id="11" name="Text 9"/>
          <p:cNvSpPr/>
          <p:nvPr/>
        </p:nvSpPr>
        <p:spPr>
          <a:xfrm>
            <a:off x="640080" y="1316736"/>
            <a:ext cx="2359152" cy="658368"/>
          </a:xfrm>
          <a:prstGeom prst="rect">
            <a:avLst/>
          </a:prstGeom>
          <a:noFill/>
          <a:ln/>
        </p:spPr>
        <p:txBody>
          <a:bodyPr wrap="square" lIns="0" tIns="0" rIns="0" bIns="0" rtlCol="0" anchor="t"/>
          <a:lstStyle/>
          <a:p>
            <a:pPr indent="0" marL="0">
              <a:buNone/>
            </a:pPr>
            <a:r>
              <a:rPr lang="en-US" sz="950" dirty="0">
                <a:solidFill>
                  <a:srgbClr val="1A2737"/>
                </a:solidFill>
                <a:latin typeface="Calibri" pitchFamily="34" charset="0"/>
                <a:ea typeface="Calibri" pitchFamily="34" charset="-122"/>
                <a:cs typeface="Calibri" pitchFamily="34" charset="-120"/>
              </a:rPr>
              <a:t>Enforce MFA on all accounts and disable legacy RDP within 7 days (Microsoft Entra ID Conditional Access)</a:t>
            </a:r>
            <a:endParaRPr lang="en-US" sz="950" dirty="0"/>
          </a:p>
        </p:txBody>
      </p:sp>
      <p:sp>
        <p:nvSpPr>
          <p:cNvPr id="12" name="Shape 10"/>
          <p:cNvSpPr/>
          <p:nvPr/>
        </p:nvSpPr>
        <p:spPr>
          <a:xfrm>
            <a:off x="347472" y="2029968"/>
            <a:ext cx="237744" cy="237744"/>
          </a:xfrm>
          <a:prstGeom prst="rect">
            <a:avLst/>
          </a:prstGeom>
          <a:solidFill>
            <a:srgbClr val="027A8A"/>
          </a:solidFill>
          <a:ln w="12700">
            <a:solidFill>
              <a:srgbClr val="027A8A"/>
            </a:solidFill>
            <a:prstDash val="solid"/>
          </a:ln>
        </p:spPr>
      </p:sp>
      <p:sp>
        <p:nvSpPr>
          <p:cNvPr id="13" name="Text 11"/>
          <p:cNvSpPr/>
          <p:nvPr/>
        </p:nvSpPr>
        <p:spPr>
          <a:xfrm>
            <a:off x="347472" y="2029968"/>
            <a:ext cx="23774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a:t>
            </a:r>
            <a:endParaRPr lang="en-US" sz="950" dirty="0"/>
          </a:p>
        </p:txBody>
      </p:sp>
      <p:sp>
        <p:nvSpPr>
          <p:cNvPr id="14" name="Text 12"/>
          <p:cNvSpPr/>
          <p:nvPr/>
        </p:nvSpPr>
        <p:spPr>
          <a:xfrm>
            <a:off x="640080" y="2029968"/>
            <a:ext cx="2359152" cy="658368"/>
          </a:xfrm>
          <a:prstGeom prst="rect">
            <a:avLst/>
          </a:prstGeom>
          <a:noFill/>
          <a:ln/>
        </p:spPr>
        <p:txBody>
          <a:bodyPr wrap="square" lIns="0" tIns="0" rIns="0" bIns="0" rtlCol="0" anchor="t"/>
          <a:lstStyle/>
          <a:p>
            <a:pPr indent="0" marL="0">
              <a:buNone/>
            </a:pPr>
            <a:r>
              <a:rPr lang="en-US" sz="950" dirty="0">
                <a:solidFill>
                  <a:srgbClr val="1A2737"/>
                </a:solidFill>
                <a:latin typeface="Calibri" pitchFamily="34" charset="0"/>
                <a:ea typeface="Calibri" pitchFamily="34" charset="-122"/>
                <a:cs typeface="Calibri" pitchFamily="34" charset="-120"/>
              </a:rPr>
              <a:t>Implement Privileged Access Workstations (PAW) for all admin RDP access</a:t>
            </a:r>
            <a:endParaRPr lang="en-US" sz="950" dirty="0"/>
          </a:p>
        </p:txBody>
      </p:sp>
      <p:sp>
        <p:nvSpPr>
          <p:cNvPr id="15" name="Shape 13"/>
          <p:cNvSpPr/>
          <p:nvPr/>
        </p:nvSpPr>
        <p:spPr>
          <a:xfrm>
            <a:off x="347472" y="2743200"/>
            <a:ext cx="237744" cy="237744"/>
          </a:xfrm>
          <a:prstGeom prst="rect">
            <a:avLst/>
          </a:prstGeom>
          <a:solidFill>
            <a:srgbClr val="027A8A"/>
          </a:solidFill>
          <a:ln w="12700">
            <a:solidFill>
              <a:srgbClr val="027A8A"/>
            </a:solidFill>
            <a:prstDash val="solid"/>
          </a:ln>
        </p:spPr>
      </p:sp>
      <p:sp>
        <p:nvSpPr>
          <p:cNvPr id="16" name="Text 14"/>
          <p:cNvSpPr/>
          <p:nvPr/>
        </p:nvSpPr>
        <p:spPr>
          <a:xfrm>
            <a:off x="347472" y="2743200"/>
            <a:ext cx="23774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a:t>
            </a:r>
            <a:endParaRPr lang="en-US" sz="950" dirty="0"/>
          </a:p>
        </p:txBody>
      </p:sp>
      <p:sp>
        <p:nvSpPr>
          <p:cNvPr id="17" name="Text 15"/>
          <p:cNvSpPr/>
          <p:nvPr/>
        </p:nvSpPr>
        <p:spPr>
          <a:xfrm>
            <a:off x="640080" y="2743200"/>
            <a:ext cx="2359152" cy="658368"/>
          </a:xfrm>
          <a:prstGeom prst="rect">
            <a:avLst/>
          </a:prstGeom>
          <a:noFill/>
          <a:ln/>
        </p:spPr>
        <p:txBody>
          <a:bodyPr wrap="square" lIns="0" tIns="0" rIns="0" bIns="0" rtlCol="0" anchor="t"/>
          <a:lstStyle/>
          <a:p>
            <a:pPr indent="0" marL="0">
              <a:buNone/>
            </a:pPr>
            <a:r>
              <a:rPr lang="en-US" sz="950" dirty="0">
                <a:solidFill>
                  <a:srgbClr val="1A2737"/>
                </a:solidFill>
                <a:latin typeface="Calibri" pitchFamily="34" charset="0"/>
                <a:ea typeface="Calibri" pitchFamily="34" charset="-122"/>
                <a:cs typeface="Calibri" pitchFamily="34" charset="-120"/>
              </a:rPr>
              <a:t>Patch CVE-2023-35352 and all critical CVEs within 72-hour SLA</a:t>
            </a:r>
            <a:endParaRPr lang="en-US" sz="950" dirty="0"/>
          </a:p>
        </p:txBody>
      </p:sp>
      <p:sp>
        <p:nvSpPr>
          <p:cNvPr id="18" name="Shape 16"/>
          <p:cNvSpPr/>
          <p:nvPr/>
        </p:nvSpPr>
        <p:spPr>
          <a:xfrm>
            <a:off x="347472" y="3456432"/>
            <a:ext cx="237744" cy="237744"/>
          </a:xfrm>
          <a:prstGeom prst="rect">
            <a:avLst/>
          </a:prstGeom>
          <a:solidFill>
            <a:srgbClr val="027A8A"/>
          </a:solidFill>
          <a:ln w="12700">
            <a:solidFill>
              <a:srgbClr val="027A8A"/>
            </a:solidFill>
            <a:prstDash val="solid"/>
          </a:ln>
        </p:spPr>
      </p:sp>
      <p:sp>
        <p:nvSpPr>
          <p:cNvPr id="19" name="Text 17"/>
          <p:cNvSpPr/>
          <p:nvPr/>
        </p:nvSpPr>
        <p:spPr>
          <a:xfrm>
            <a:off x="347472" y="3456432"/>
            <a:ext cx="23774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4</a:t>
            </a:r>
            <a:endParaRPr lang="en-US" sz="950" dirty="0"/>
          </a:p>
        </p:txBody>
      </p:sp>
      <p:sp>
        <p:nvSpPr>
          <p:cNvPr id="20" name="Text 18"/>
          <p:cNvSpPr/>
          <p:nvPr/>
        </p:nvSpPr>
        <p:spPr>
          <a:xfrm>
            <a:off x="640080" y="3456432"/>
            <a:ext cx="2359152" cy="658368"/>
          </a:xfrm>
          <a:prstGeom prst="rect">
            <a:avLst/>
          </a:prstGeom>
          <a:noFill/>
          <a:ln/>
        </p:spPr>
        <p:txBody>
          <a:bodyPr wrap="square" lIns="0" tIns="0" rIns="0" bIns="0" rtlCol="0" anchor="t"/>
          <a:lstStyle/>
          <a:p>
            <a:pPr indent="0" marL="0">
              <a:buNone/>
            </a:pPr>
            <a:r>
              <a:rPr lang="en-US" sz="950" dirty="0">
                <a:solidFill>
                  <a:srgbClr val="1A2737"/>
                </a:solidFill>
                <a:latin typeface="Calibri" pitchFamily="34" charset="0"/>
                <a:ea typeface="Calibri" pitchFamily="34" charset="-122"/>
                <a:cs typeface="Calibri" pitchFamily="34" charset="-120"/>
              </a:rPr>
              <a:t>Enhance SIEM alerting: correlate high-volume failed RDP with geo-anomaly rules</a:t>
            </a:r>
            <a:endParaRPr lang="en-US" sz="950" dirty="0"/>
          </a:p>
        </p:txBody>
      </p:sp>
      <p:sp>
        <p:nvSpPr>
          <p:cNvPr id="21" name="Shape 19"/>
          <p:cNvSpPr/>
          <p:nvPr/>
        </p:nvSpPr>
        <p:spPr>
          <a:xfrm>
            <a:off x="301752" y="4169664"/>
            <a:ext cx="2743200" cy="256032"/>
          </a:xfrm>
          <a:prstGeom prst="rect">
            <a:avLst/>
          </a:prstGeom>
          <a:solidFill>
            <a:srgbClr val="027A8A"/>
          </a:solidFill>
          <a:ln w="12700">
            <a:solidFill>
              <a:srgbClr val="027A8A"/>
            </a:solidFill>
            <a:prstDash val="solid"/>
          </a:ln>
        </p:spPr>
      </p:sp>
      <p:sp>
        <p:nvSpPr>
          <p:cNvPr id="22" name="Text 20"/>
          <p:cNvSpPr/>
          <p:nvPr/>
        </p:nvSpPr>
        <p:spPr>
          <a:xfrm>
            <a:off x="347472" y="4169664"/>
            <a:ext cx="265176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Owner: IT Operations / Security Team</a:t>
            </a:r>
            <a:endParaRPr lang="en-US" sz="900" dirty="0"/>
          </a:p>
        </p:txBody>
      </p:sp>
      <p:sp>
        <p:nvSpPr>
          <p:cNvPr id="23" name="Shape 21"/>
          <p:cNvSpPr/>
          <p:nvPr/>
        </p:nvSpPr>
        <p:spPr>
          <a:xfrm>
            <a:off x="3182112" y="987552"/>
            <a:ext cx="2834640" cy="3493008"/>
          </a:xfrm>
          <a:prstGeom prst="rect">
            <a:avLst/>
          </a:prstGeom>
          <a:solidFill>
            <a:srgbClr val="FFFFFF"/>
          </a:solidFill>
          <a:ln w="12700">
            <a:solidFill>
              <a:srgbClr val="D8DDE6"/>
            </a:solidFill>
            <a:prstDash val="solid"/>
          </a:ln>
          <a:effectLst>
            <a:outerShdw sx="100000" sy="100000" kx="0" ky="0" algn="bl" rotWithShape="0" blurRad="63500" dist="25400" dir="8100000">
              <a:srgbClr val="000000">
                <a:alpha val="10000"/>
              </a:srgbClr>
            </a:outerShdw>
          </a:effectLst>
        </p:spPr>
      </p:sp>
      <p:sp>
        <p:nvSpPr>
          <p:cNvPr id="24" name="Shape 22"/>
          <p:cNvSpPr/>
          <p:nvPr/>
        </p:nvSpPr>
        <p:spPr>
          <a:xfrm>
            <a:off x="3182112" y="987552"/>
            <a:ext cx="2834640" cy="274320"/>
          </a:xfrm>
          <a:prstGeom prst="rect">
            <a:avLst/>
          </a:prstGeom>
          <a:solidFill>
            <a:srgbClr val="1A3054"/>
          </a:solidFill>
          <a:ln w="12700">
            <a:solidFill>
              <a:srgbClr val="1A3054"/>
            </a:solidFill>
            <a:prstDash val="solid"/>
          </a:ln>
        </p:spPr>
      </p:sp>
      <p:sp>
        <p:nvSpPr>
          <p:cNvPr id="25" name="Text 23"/>
          <p:cNvSpPr/>
          <p:nvPr/>
        </p:nvSpPr>
        <p:spPr>
          <a:xfrm>
            <a:off x="3227832" y="987552"/>
            <a:ext cx="274320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Policy and Process</a:t>
            </a:r>
            <a:endParaRPr lang="en-US" sz="1200" dirty="0"/>
          </a:p>
        </p:txBody>
      </p:sp>
      <p:sp>
        <p:nvSpPr>
          <p:cNvPr id="26" name="Shape 24"/>
          <p:cNvSpPr/>
          <p:nvPr/>
        </p:nvSpPr>
        <p:spPr>
          <a:xfrm>
            <a:off x="3273552" y="1316736"/>
            <a:ext cx="237744" cy="237744"/>
          </a:xfrm>
          <a:prstGeom prst="rect">
            <a:avLst/>
          </a:prstGeom>
          <a:solidFill>
            <a:srgbClr val="1A3054"/>
          </a:solidFill>
          <a:ln w="12700">
            <a:solidFill>
              <a:srgbClr val="1A3054"/>
            </a:solidFill>
            <a:prstDash val="solid"/>
          </a:ln>
        </p:spPr>
      </p:sp>
      <p:sp>
        <p:nvSpPr>
          <p:cNvPr id="27" name="Text 25"/>
          <p:cNvSpPr/>
          <p:nvPr/>
        </p:nvSpPr>
        <p:spPr>
          <a:xfrm>
            <a:off x="3273552" y="1316736"/>
            <a:ext cx="23774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a:t>
            </a:r>
            <a:endParaRPr lang="en-US" sz="950" dirty="0"/>
          </a:p>
        </p:txBody>
      </p:sp>
      <p:sp>
        <p:nvSpPr>
          <p:cNvPr id="28" name="Text 26"/>
          <p:cNvSpPr/>
          <p:nvPr/>
        </p:nvSpPr>
        <p:spPr>
          <a:xfrm>
            <a:off x="3566160" y="1316736"/>
            <a:ext cx="2359152" cy="658368"/>
          </a:xfrm>
          <a:prstGeom prst="rect">
            <a:avLst/>
          </a:prstGeom>
          <a:noFill/>
          <a:ln/>
        </p:spPr>
        <p:txBody>
          <a:bodyPr wrap="square" lIns="0" tIns="0" rIns="0" bIns="0" rtlCol="0" anchor="t"/>
          <a:lstStyle/>
          <a:p>
            <a:pPr indent="0" marL="0">
              <a:buNone/>
            </a:pPr>
            <a:r>
              <a:rPr lang="en-US" sz="950" dirty="0">
                <a:solidFill>
                  <a:srgbClr val="1A2737"/>
                </a:solidFill>
                <a:latin typeface="Calibri" pitchFamily="34" charset="0"/>
                <a:ea typeface="Calibri" pitchFamily="34" charset="-122"/>
                <a:cs typeface="Calibri" pitchFamily="34" charset="-120"/>
              </a:rPr>
              <a:t>Update IR Policy to mandate RDP exposure review before any server deployment</a:t>
            </a:r>
            <a:endParaRPr lang="en-US" sz="950" dirty="0"/>
          </a:p>
        </p:txBody>
      </p:sp>
      <p:sp>
        <p:nvSpPr>
          <p:cNvPr id="29" name="Shape 27"/>
          <p:cNvSpPr/>
          <p:nvPr/>
        </p:nvSpPr>
        <p:spPr>
          <a:xfrm>
            <a:off x="3273552" y="2029968"/>
            <a:ext cx="237744" cy="237744"/>
          </a:xfrm>
          <a:prstGeom prst="rect">
            <a:avLst/>
          </a:prstGeom>
          <a:solidFill>
            <a:srgbClr val="1A3054"/>
          </a:solidFill>
          <a:ln w="12700">
            <a:solidFill>
              <a:srgbClr val="1A3054"/>
            </a:solidFill>
            <a:prstDash val="solid"/>
          </a:ln>
        </p:spPr>
      </p:sp>
      <p:sp>
        <p:nvSpPr>
          <p:cNvPr id="30" name="Text 28"/>
          <p:cNvSpPr/>
          <p:nvPr/>
        </p:nvSpPr>
        <p:spPr>
          <a:xfrm>
            <a:off x="3273552" y="2029968"/>
            <a:ext cx="23774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a:t>
            </a:r>
            <a:endParaRPr lang="en-US" sz="950" dirty="0"/>
          </a:p>
        </p:txBody>
      </p:sp>
      <p:sp>
        <p:nvSpPr>
          <p:cNvPr id="31" name="Text 29"/>
          <p:cNvSpPr/>
          <p:nvPr/>
        </p:nvSpPr>
        <p:spPr>
          <a:xfrm>
            <a:off x="3566160" y="2029968"/>
            <a:ext cx="2359152" cy="658368"/>
          </a:xfrm>
          <a:prstGeom prst="rect">
            <a:avLst/>
          </a:prstGeom>
          <a:noFill/>
          <a:ln/>
        </p:spPr>
        <p:txBody>
          <a:bodyPr wrap="square" lIns="0" tIns="0" rIns="0" bIns="0" rtlCol="0" anchor="t"/>
          <a:lstStyle/>
          <a:p>
            <a:pPr indent="0" marL="0">
              <a:buNone/>
            </a:pPr>
            <a:r>
              <a:rPr lang="en-US" sz="950" dirty="0">
                <a:solidFill>
                  <a:srgbClr val="1A2737"/>
                </a:solidFill>
                <a:latin typeface="Calibri" pitchFamily="34" charset="0"/>
                <a:ea typeface="Calibri" pitchFamily="34" charset="-122"/>
                <a:cs typeface="Calibri" pitchFamily="34" charset="-120"/>
              </a:rPr>
              <a:t>Formalise 30-hour OAIC notification workflow as a documented checklist</a:t>
            </a:r>
            <a:endParaRPr lang="en-US" sz="950" dirty="0"/>
          </a:p>
        </p:txBody>
      </p:sp>
      <p:sp>
        <p:nvSpPr>
          <p:cNvPr id="32" name="Shape 30"/>
          <p:cNvSpPr/>
          <p:nvPr/>
        </p:nvSpPr>
        <p:spPr>
          <a:xfrm>
            <a:off x="3273552" y="2743200"/>
            <a:ext cx="237744" cy="237744"/>
          </a:xfrm>
          <a:prstGeom prst="rect">
            <a:avLst/>
          </a:prstGeom>
          <a:solidFill>
            <a:srgbClr val="1A3054"/>
          </a:solidFill>
          <a:ln w="12700">
            <a:solidFill>
              <a:srgbClr val="1A3054"/>
            </a:solidFill>
            <a:prstDash val="solid"/>
          </a:ln>
        </p:spPr>
      </p:sp>
      <p:sp>
        <p:nvSpPr>
          <p:cNvPr id="33" name="Text 31"/>
          <p:cNvSpPr/>
          <p:nvPr/>
        </p:nvSpPr>
        <p:spPr>
          <a:xfrm>
            <a:off x="3273552" y="2743200"/>
            <a:ext cx="23774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a:t>
            </a:r>
            <a:endParaRPr lang="en-US" sz="950" dirty="0"/>
          </a:p>
        </p:txBody>
      </p:sp>
      <p:sp>
        <p:nvSpPr>
          <p:cNvPr id="34" name="Text 32"/>
          <p:cNvSpPr/>
          <p:nvPr/>
        </p:nvSpPr>
        <p:spPr>
          <a:xfrm>
            <a:off x="3566160" y="2743200"/>
            <a:ext cx="2359152" cy="658368"/>
          </a:xfrm>
          <a:prstGeom prst="rect">
            <a:avLst/>
          </a:prstGeom>
          <a:noFill/>
          <a:ln/>
        </p:spPr>
        <p:txBody>
          <a:bodyPr wrap="square" lIns="0" tIns="0" rIns="0" bIns="0" rtlCol="0" anchor="t"/>
          <a:lstStyle/>
          <a:p>
            <a:pPr indent="0" marL="0">
              <a:buNone/>
            </a:pPr>
            <a:r>
              <a:rPr lang="en-US" sz="950" dirty="0">
                <a:solidFill>
                  <a:srgbClr val="1A2737"/>
                </a:solidFill>
                <a:latin typeface="Calibri" pitchFamily="34" charset="0"/>
                <a:ea typeface="Calibri" pitchFamily="34" charset="-122"/>
                <a:cs typeface="Calibri" pitchFamily="34" charset="-120"/>
              </a:rPr>
              <a:t>Conduct quarterly tabletop exercises targeting credential-based attack scenarios</a:t>
            </a:r>
            <a:endParaRPr lang="en-US" sz="950" dirty="0"/>
          </a:p>
        </p:txBody>
      </p:sp>
      <p:sp>
        <p:nvSpPr>
          <p:cNvPr id="35" name="Shape 33"/>
          <p:cNvSpPr/>
          <p:nvPr/>
        </p:nvSpPr>
        <p:spPr>
          <a:xfrm>
            <a:off x="3273552" y="3456432"/>
            <a:ext cx="237744" cy="237744"/>
          </a:xfrm>
          <a:prstGeom prst="rect">
            <a:avLst/>
          </a:prstGeom>
          <a:solidFill>
            <a:srgbClr val="1A3054"/>
          </a:solidFill>
          <a:ln w="12700">
            <a:solidFill>
              <a:srgbClr val="1A3054"/>
            </a:solidFill>
            <a:prstDash val="solid"/>
          </a:ln>
        </p:spPr>
      </p:sp>
      <p:sp>
        <p:nvSpPr>
          <p:cNvPr id="36" name="Text 34"/>
          <p:cNvSpPr/>
          <p:nvPr/>
        </p:nvSpPr>
        <p:spPr>
          <a:xfrm>
            <a:off x="3273552" y="3456432"/>
            <a:ext cx="23774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4</a:t>
            </a:r>
            <a:endParaRPr lang="en-US" sz="950" dirty="0"/>
          </a:p>
        </p:txBody>
      </p:sp>
      <p:sp>
        <p:nvSpPr>
          <p:cNvPr id="37" name="Text 35"/>
          <p:cNvSpPr/>
          <p:nvPr/>
        </p:nvSpPr>
        <p:spPr>
          <a:xfrm>
            <a:off x="3566160" y="3456432"/>
            <a:ext cx="2359152" cy="658368"/>
          </a:xfrm>
          <a:prstGeom prst="rect">
            <a:avLst/>
          </a:prstGeom>
          <a:noFill/>
          <a:ln/>
        </p:spPr>
        <p:txBody>
          <a:bodyPr wrap="square" lIns="0" tIns="0" rIns="0" bIns="0" rtlCol="0" anchor="t"/>
          <a:lstStyle/>
          <a:p>
            <a:pPr indent="0" marL="0">
              <a:buNone/>
            </a:pPr>
            <a:r>
              <a:rPr lang="en-US" sz="950" dirty="0">
                <a:solidFill>
                  <a:srgbClr val="1A2737"/>
                </a:solidFill>
                <a:latin typeface="Calibri" pitchFamily="34" charset="0"/>
                <a:ea typeface="Calibri" pitchFamily="34" charset="-122"/>
                <a:cs typeface="Calibri" pitchFamily="34" charset="-120"/>
              </a:rPr>
              <a:t>Review all service account password policies; migrate to managed identities</a:t>
            </a:r>
            <a:endParaRPr lang="en-US" sz="950" dirty="0"/>
          </a:p>
        </p:txBody>
      </p:sp>
      <p:sp>
        <p:nvSpPr>
          <p:cNvPr id="38" name="Shape 36"/>
          <p:cNvSpPr/>
          <p:nvPr/>
        </p:nvSpPr>
        <p:spPr>
          <a:xfrm>
            <a:off x="3227832" y="4169664"/>
            <a:ext cx="2743200" cy="256032"/>
          </a:xfrm>
          <a:prstGeom prst="rect">
            <a:avLst/>
          </a:prstGeom>
          <a:solidFill>
            <a:srgbClr val="1A3054"/>
          </a:solidFill>
          <a:ln w="12700">
            <a:solidFill>
              <a:srgbClr val="1A3054"/>
            </a:solidFill>
            <a:prstDash val="solid"/>
          </a:ln>
        </p:spPr>
      </p:sp>
      <p:sp>
        <p:nvSpPr>
          <p:cNvPr id="39" name="Text 37"/>
          <p:cNvSpPr/>
          <p:nvPr/>
        </p:nvSpPr>
        <p:spPr>
          <a:xfrm>
            <a:off x="3273552" y="4169664"/>
            <a:ext cx="265176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Owner: CISO / Legal / Compliance</a:t>
            </a:r>
            <a:endParaRPr lang="en-US" sz="900" dirty="0"/>
          </a:p>
        </p:txBody>
      </p:sp>
      <p:sp>
        <p:nvSpPr>
          <p:cNvPr id="40" name="Shape 38"/>
          <p:cNvSpPr/>
          <p:nvPr/>
        </p:nvSpPr>
        <p:spPr>
          <a:xfrm>
            <a:off x="6108192" y="987552"/>
            <a:ext cx="2834640" cy="3493008"/>
          </a:xfrm>
          <a:prstGeom prst="rect">
            <a:avLst/>
          </a:prstGeom>
          <a:solidFill>
            <a:srgbClr val="FFFFFF"/>
          </a:solidFill>
          <a:ln w="12700">
            <a:solidFill>
              <a:srgbClr val="D8DDE6"/>
            </a:solidFill>
            <a:prstDash val="solid"/>
          </a:ln>
          <a:effectLst>
            <a:outerShdw sx="100000" sy="100000" kx="0" ky="0" algn="bl" rotWithShape="0" blurRad="63500" dist="25400" dir="8100000">
              <a:srgbClr val="000000">
                <a:alpha val="10000"/>
              </a:srgbClr>
            </a:outerShdw>
          </a:effectLst>
        </p:spPr>
      </p:sp>
      <p:sp>
        <p:nvSpPr>
          <p:cNvPr id="41" name="Shape 39"/>
          <p:cNvSpPr/>
          <p:nvPr/>
        </p:nvSpPr>
        <p:spPr>
          <a:xfrm>
            <a:off x="6108192" y="987552"/>
            <a:ext cx="2834640" cy="274320"/>
          </a:xfrm>
          <a:prstGeom prst="rect">
            <a:avLst/>
          </a:prstGeom>
          <a:solidFill>
            <a:srgbClr val="7B1569"/>
          </a:solidFill>
          <a:ln w="12700">
            <a:solidFill>
              <a:srgbClr val="7B1569"/>
            </a:solidFill>
            <a:prstDash val="solid"/>
          </a:ln>
        </p:spPr>
      </p:sp>
      <p:sp>
        <p:nvSpPr>
          <p:cNvPr id="42" name="Text 40"/>
          <p:cNvSpPr/>
          <p:nvPr/>
        </p:nvSpPr>
        <p:spPr>
          <a:xfrm>
            <a:off x="6153912" y="987552"/>
            <a:ext cx="274320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People and Awareness</a:t>
            </a:r>
            <a:endParaRPr lang="en-US" sz="1200" dirty="0"/>
          </a:p>
        </p:txBody>
      </p:sp>
      <p:sp>
        <p:nvSpPr>
          <p:cNvPr id="43" name="Shape 41"/>
          <p:cNvSpPr/>
          <p:nvPr/>
        </p:nvSpPr>
        <p:spPr>
          <a:xfrm>
            <a:off x="6199632" y="1316736"/>
            <a:ext cx="237744" cy="237744"/>
          </a:xfrm>
          <a:prstGeom prst="rect">
            <a:avLst/>
          </a:prstGeom>
          <a:solidFill>
            <a:srgbClr val="7B1569"/>
          </a:solidFill>
          <a:ln w="12700">
            <a:solidFill>
              <a:srgbClr val="7B1569"/>
            </a:solidFill>
            <a:prstDash val="solid"/>
          </a:ln>
        </p:spPr>
      </p:sp>
      <p:sp>
        <p:nvSpPr>
          <p:cNvPr id="44" name="Text 42"/>
          <p:cNvSpPr/>
          <p:nvPr/>
        </p:nvSpPr>
        <p:spPr>
          <a:xfrm>
            <a:off x="6199632" y="1316736"/>
            <a:ext cx="23774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a:t>
            </a:r>
            <a:endParaRPr lang="en-US" sz="950" dirty="0"/>
          </a:p>
        </p:txBody>
      </p:sp>
      <p:sp>
        <p:nvSpPr>
          <p:cNvPr id="45" name="Text 43"/>
          <p:cNvSpPr/>
          <p:nvPr/>
        </p:nvSpPr>
        <p:spPr>
          <a:xfrm>
            <a:off x="6492240" y="1316736"/>
            <a:ext cx="2359152" cy="658368"/>
          </a:xfrm>
          <a:prstGeom prst="rect">
            <a:avLst/>
          </a:prstGeom>
          <a:noFill/>
          <a:ln/>
        </p:spPr>
        <p:txBody>
          <a:bodyPr wrap="square" lIns="0" tIns="0" rIns="0" bIns="0" rtlCol="0" anchor="t"/>
          <a:lstStyle/>
          <a:p>
            <a:pPr indent="0" marL="0">
              <a:buNone/>
            </a:pPr>
            <a:r>
              <a:rPr lang="en-US" sz="950" dirty="0">
                <a:solidFill>
                  <a:srgbClr val="1A2737"/>
                </a:solidFill>
                <a:latin typeface="Calibri" pitchFamily="34" charset="0"/>
                <a:ea typeface="Calibri" pitchFamily="34" charset="-122"/>
                <a:cs typeface="Calibri" pitchFamily="34" charset="-120"/>
              </a:rPr>
              <a:t>Mandatory phishing and credential hygiene training for all 45 staff within 30 days</a:t>
            </a:r>
            <a:endParaRPr lang="en-US" sz="950" dirty="0"/>
          </a:p>
        </p:txBody>
      </p:sp>
      <p:sp>
        <p:nvSpPr>
          <p:cNvPr id="46" name="Shape 44"/>
          <p:cNvSpPr/>
          <p:nvPr/>
        </p:nvSpPr>
        <p:spPr>
          <a:xfrm>
            <a:off x="6199632" y="2029968"/>
            <a:ext cx="237744" cy="237744"/>
          </a:xfrm>
          <a:prstGeom prst="rect">
            <a:avLst/>
          </a:prstGeom>
          <a:solidFill>
            <a:srgbClr val="7B1569"/>
          </a:solidFill>
          <a:ln w="12700">
            <a:solidFill>
              <a:srgbClr val="7B1569"/>
            </a:solidFill>
            <a:prstDash val="solid"/>
          </a:ln>
        </p:spPr>
      </p:sp>
      <p:sp>
        <p:nvSpPr>
          <p:cNvPr id="47" name="Text 45"/>
          <p:cNvSpPr/>
          <p:nvPr/>
        </p:nvSpPr>
        <p:spPr>
          <a:xfrm>
            <a:off x="6199632" y="2029968"/>
            <a:ext cx="23774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a:t>
            </a:r>
            <a:endParaRPr lang="en-US" sz="950" dirty="0"/>
          </a:p>
        </p:txBody>
      </p:sp>
      <p:sp>
        <p:nvSpPr>
          <p:cNvPr id="48" name="Text 46"/>
          <p:cNvSpPr/>
          <p:nvPr/>
        </p:nvSpPr>
        <p:spPr>
          <a:xfrm>
            <a:off x="6492240" y="2029968"/>
            <a:ext cx="2359152" cy="658368"/>
          </a:xfrm>
          <a:prstGeom prst="rect">
            <a:avLst/>
          </a:prstGeom>
          <a:noFill/>
          <a:ln/>
        </p:spPr>
        <p:txBody>
          <a:bodyPr wrap="square" lIns="0" tIns="0" rIns="0" bIns="0" rtlCol="0" anchor="t"/>
          <a:lstStyle/>
          <a:p>
            <a:pPr indent="0" marL="0">
              <a:buNone/>
            </a:pPr>
            <a:r>
              <a:rPr lang="en-US" sz="950" dirty="0">
                <a:solidFill>
                  <a:srgbClr val="1A2737"/>
                </a:solidFill>
                <a:latin typeface="Calibri" pitchFamily="34" charset="0"/>
                <a:ea typeface="Calibri" pitchFamily="34" charset="-122"/>
                <a:cs typeface="Calibri" pitchFamily="34" charset="-120"/>
              </a:rPr>
              <a:t>IRT refresher session on revised severity matrix and RDP attack vectors</a:t>
            </a:r>
            <a:endParaRPr lang="en-US" sz="950" dirty="0"/>
          </a:p>
        </p:txBody>
      </p:sp>
      <p:sp>
        <p:nvSpPr>
          <p:cNvPr id="49" name="Shape 47"/>
          <p:cNvSpPr/>
          <p:nvPr/>
        </p:nvSpPr>
        <p:spPr>
          <a:xfrm>
            <a:off x="6199632" y="2743200"/>
            <a:ext cx="237744" cy="237744"/>
          </a:xfrm>
          <a:prstGeom prst="rect">
            <a:avLst/>
          </a:prstGeom>
          <a:solidFill>
            <a:srgbClr val="7B1569"/>
          </a:solidFill>
          <a:ln w="12700">
            <a:solidFill>
              <a:srgbClr val="7B1569"/>
            </a:solidFill>
            <a:prstDash val="solid"/>
          </a:ln>
        </p:spPr>
      </p:sp>
      <p:sp>
        <p:nvSpPr>
          <p:cNvPr id="50" name="Text 48"/>
          <p:cNvSpPr/>
          <p:nvPr/>
        </p:nvSpPr>
        <p:spPr>
          <a:xfrm>
            <a:off x="6199632" y="2743200"/>
            <a:ext cx="23774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a:t>
            </a:r>
            <a:endParaRPr lang="en-US" sz="950" dirty="0"/>
          </a:p>
        </p:txBody>
      </p:sp>
      <p:sp>
        <p:nvSpPr>
          <p:cNvPr id="51" name="Text 49"/>
          <p:cNvSpPr/>
          <p:nvPr/>
        </p:nvSpPr>
        <p:spPr>
          <a:xfrm>
            <a:off x="6492240" y="2743200"/>
            <a:ext cx="2359152" cy="658368"/>
          </a:xfrm>
          <a:prstGeom prst="rect">
            <a:avLst/>
          </a:prstGeom>
          <a:noFill/>
          <a:ln/>
        </p:spPr>
        <p:txBody>
          <a:bodyPr wrap="square" lIns="0" tIns="0" rIns="0" bIns="0" rtlCol="0" anchor="t"/>
          <a:lstStyle/>
          <a:p>
            <a:pPr indent="0" marL="0">
              <a:buNone/>
            </a:pPr>
            <a:r>
              <a:rPr lang="en-US" sz="950" dirty="0">
                <a:solidFill>
                  <a:srgbClr val="1A2737"/>
                </a:solidFill>
                <a:latin typeface="Calibri" pitchFamily="34" charset="0"/>
                <a:ea typeface="Calibri" pitchFamily="34" charset="-122"/>
                <a:cs typeface="Calibri" pitchFamily="34" charset="-120"/>
              </a:rPr>
              <a:t>Brief Board on updated IR authority and pre-approved containment actions</a:t>
            </a:r>
            <a:endParaRPr lang="en-US" sz="950" dirty="0"/>
          </a:p>
        </p:txBody>
      </p:sp>
      <p:sp>
        <p:nvSpPr>
          <p:cNvPr id="52" name="Shape 50"/>
          <p:cNvSpPr/>
          <p:nvPr/>
        </p:nvSpPr>
        <p:spPr>
          <a:xfrm>
            <a:off x="6199632" y="3456432"/>
            <a:ext cx="237744" cy="237744"/>
          </a:xfrm>
          <a:prstGeom prst="rect">
            <a:avLst/>
          </a:prstGeom>
          <a:solidFill>
            <a:srgbClr val="7B1569"/>
          </a:solidFill>
          <a:ln w="12700">
            <a:solidFill>
              <a:srgbClr val="7B1569"/>
            </a:solidFill>
            <a:prstDash val="solid"/>
          </a:ln>
        </p:spPr>
      </p:sp>
      <p:sp>
        <p:nvSpPr>
          <p:cNvPr id="53" name="Text 51"/>
          <p:cNvSpPr/>
          <p:nvPr/>
        </p:nvSpPr>
        <p:spPr>
          <a:xfrm>
            <a:off x="6199632" y="3456432"/>
            <a:ext cx="23774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4</a:t>
            </a:r>
            <a:endParaRPr lang="en-US" sz="950" dirty="0"/>
          </a:p>
        </p:txBody>
      </p:sp>
      <p:sp>
        <p:nvSpPr>
          <p:cNvPr id="54" name="Text 52"/>
          <p:cNvSpPr/>
          <p:nvPr/>
        </p:nvSpPr>
        <p:spPr>
          <a:xfrm>
            <a:off x="6492240" y="3456432"/>
            <a:ext cx="2359152" cy="658368"/>
          </a:xfrm>
          <a:prstGeom prst="rect">
            <a:avLst/>
          </a:prstGeom>
          <a:noFill/>
          <a:ln/>
        </p:spPr>
        <p:txBody>
          <a:bodyPr wrap="square" lIns="0" tIns="0" rIns="0" bIns="0" rtlCol="0" anchor="t"/>
          <a:lstStyle/>
          <a:p>
            <a:pPr indent="0" marL="0">
              <a:buNone/>
            </a:pPr>
            <a:r>
              <a:rPr lang="en-US" sz="950" dirty="0">
                <a:solidFill>
                  <a:srgbClr val="1A2737"/>
                </a:solidFill>
                <a:latin typeface="Calibri" pitchFamily="34" charset="0"/>
                <a:ea typeface="Calibri" pitchFamily="34" charset="-122"/>
                <a:cs typeface="Calibri" pitchFamily="34" charset="-120"/>
              </a:rPr>
              <a:t>Establish 'report suspicious activity' culture — formal reporting channel for all staff</a:t>
            </a:r>
            <a:endParaRPr lang="en-US" sz="950" dirty="0"/>
          </a:p>
        </p:txBody>
      </p:sp>
      <p:sp>
        <p:nvSpPr>
          <p:cNvPr id="55" name="Shape 53"/>
          <p:cNvSpPr/>
          <p:nvPr/>
        </p:nvSpPr>
        <p:spPr>
          <a:xfrm>
            <a:off x="6153912" y="4169664"/>
            <a:ext cx="2743200" cy="256032"/>
          </a:xfrm>
          <a:prstGeom prst="rect">
            <a:avLst/>
          </a:prstGeom>
          <a:solidFill>
            <a:srgbClr val="7B1569"/>
          </a:solidFill>
          <a:ln w="12700">
            <a:solidFill>
              <a:srgbClr val="7B1569"/>
            </a:solidFill>
            <a:prstDash val="solid"/>
          </a:ln>
        </p:spPr>
      </p:sp>
      <p:sp>
        <p:nvSpPr>
          <p:cNvPr id="56" name="Text 54"/>
          <p:cNvSpPr/>
          <p:nvPr/>
        </p:nvSpPr>
        <p:spPr>
          <a:xfrm>
            <a:off x="6199632" y="4169664"/>
            <a:ext cx="265176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Owner: HR / Training / Executive</a:t>
            </a:r>
            <a:endParaRPr lang="en-US" sz="900" dirty="0"/>
          </a:p>
        </p:txBody>
      </p:sp>
      <p:sp>
        <p:nvSpPr>
          <p:cNvPr id="57" name="Shape 55"/>
          <p:cNvSpPr/>
          <p:nvPr/>
        </p:nvSpPr>
        <p:spPr>
          <a:xfrm>
            <a:off x="256032" y="4480560"/>
            <a:ext cx="8631936" cy="329184"/>
          </a:xfrm>
          <a:prstGeom prst="rect">
            <a:avLst/>
          </a:prstGeom>
          <a:solidFill>
            <a:srgbClr val="E8EDF4"/>
          </a:solidFill>
          <a:ln w="12700">
            <a:solidFill>
              <a:srgbClr val="C0C8D6"/>
            </a:solidFill>
            <a:prstDash val="solid"/>
          </a:ln>
        </p:spPr>
      </p:sp>
      <p:sp>
        <p:nvSpPr>
          <p:cNvPr id="58" name="Shape 56"/>
          <p:cNvSpPr/>
          <p:nvPr/>
        </p:nvSpPr>
        <p:spPr>
          <a:xfrm>
            <a:off x="256032" y="4480560"/>
            <a:ext cx="54864" cy="329184"/>
          </a:xfrm>
          <a:prstGeom prst="rect">
            <a:avLst/>
          </a:prstGeom>
          <a:solidFill>
            <a:srgbClr val="1A3054"/>
          </a:solidFill>
          <a:ln w="12700">
            <a:solidFill>
              <a:srgbClr val="1A3054"/>
            </a:solidFill>
            <a:prstDash val="solid"/>
          </a:ln>
        </p:spPr>
      </p:sp>
      <p:sp>
        <p:nvSpPr>
          <p:cNvPr id="59" name="Text 57"/>
          <p:cNvSpPr/>
          <p:nvPr/>
        </p:nvSpPr>
        <p:spPr>
          <a:xfrm>
            <a:off x="384048" y="4489704"/>
            <a:ext cx="8412480" cy="310896"/>
          </a:xfrm>
          <a:prstGeom prst="rect">
            <a:avLst/>
          </a:prstGeom>
          <a:noFill/>
          <a:ln/>
        </p:spPr>
        <p:txBody>
          <a:bodyPr wrap="square" lIns="0" tIns="0" rIns="0" bIns="0" rtlCol="0" anchor="ctr"/>
          <a:lstStyle/>
          <a:p>
            <a:pPr indent="0" marL="0">
              <a:buNone/>
            </a:pPr>
            <a:r>
              <a:rPr lang="en-US" sz="950" i="1" dirty="0">
                <a:solidFill>
                  <a:srgbClr val="1A2737"/>
                </a:solidFill>
                <a:latin typeface="Calibri" pitchFamily="34" charset="0"/>
                <a:ea typeface="Calibri" pitchFamily="34" charset="-122"/>
                <a:cs typeface="Calibri" pitchFamily="34" charset="-120"/>
              </a:rPr>
              <a:t>Team reflection: Our response was effective in containing the breach quickly, but we identified that the absence of MFA and the unmonitored RDP exposure were entirely preventable — we will prioritise these fixes before any future deployment.</a:t>
            </a:r>
            <a:endParaRPr lang="en-US" sz="950" dirty="0"/>
          </a:p>
        </p:txBody>
      </p:sp>
      <p:sp>
        <p:nvSpPr>
          <p:cNvPr id="60" name="Text 58"/>
          <p:cNvSpPr/>
          <p:nvPr/>
        </p:nvSpPr>
        <p:spPr>
          <a:xfrm>
            <a:off x="274320" y="4919472"/>
            <a:ext cx="8595360" cy="201168"/>
          </a:xfrm>
          <a:prstGeom prst="rect">
            <a:avLst/>
          </a:prstGeom>
          <a:noFill/>
          <a:ln/>
        </p:spPr>
        <p:txBody>
          <a:bodyPr wrap="square" lIns="0" tIns="0" rIns="0" bIns="0" rtlCol="0" anchor="ctr"/>
          <a:lstStyle/>
          <a:p>
            <a:pPr indent="0" marL="0">
              <a:buNone/>
            </a:pPr>
            <a:r>
              <a:rPr lang="en-US" sz="850" i="1" dirty="0">
                <a:solidFill>
                  <a:srgbClr val="6B7A8D"/>
                </a:solidFill>
                <a:latin typeface="Calibri" pitchFamily="34" charset="0"/>
                <a:ea typeface="Calibri" pitchFamily="34" charset="-122"/>
                <a:cs typeface="Calibri" pitchFamily="34" charset="-120"/>
              </a:rPr>
              <a:t>Role: All members contribute | Mimy Thongphataysack (Incident Commander) leads</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3054"/>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1E30"/>
          </a:solidFill>
          <a:ln w="12700">
            <a:solidFill>
              <a:srgbClr val="0D1E30"/>
            </a:solidFill>
            <a:prstDash val="solid"/>
          </a:ln>
        </p:spPr>
      </p:sp>
      <p:sp>
        <p:nvSpPr>
          <p:cNvPr id="3" name="Text 1"/>
          <p:cNvSpPr/>
          <p:nvPr/>
        </p:nvSpPr>
        <p:spPr>
          <a:xfrm>
            <a:off x="457200" y="164592"/>
            <a:ext cx="8229600" cy="548640"/>
          </a:xfrm>
          <a:prstGeom prst="rect">
            <a:avLst/>
          </a:prstGeom>
          <a:noFill/>
          <a:ln/>
        </p:spPr>
        <p:txBody>
          <a:bodyPr wrap="square" lIns="0" tIns="0" rIns="0" bIns="0" rtlCol="0" anchor="ctr"/>
          <a:lstStyle/>
          <a:p>
            <a:pPr algn="ctr" indent="0" marL="0">
              <a:buNone/>
            </a:pPr>
            <a:r>
              <a:rPr lang="en-US" sz="2400" b="1" spc="400" kern="0" dirty="0">
                <a:solidFill>
                  <a:srgbClr val="FFFFFF"/>
                </a:solidFill>
                <a:latin typeface="Calibri" pitchFamily="34" charset="0"/>
                <a:ea typeface="Calibri" pitchFamily="34" charset="-122"/>
                <a:cs typeface="Calibri" pitchFamily="34" charset="-120"/>
              </a:rPr>
              <a:t>STATEMENT TO THE BOARD</a:t>
            </a:r>
            <a:endParaRPr lang="en-US" sz="2400" dirty="0"/>
          </a:p>
        </p:txBody>
      </p:sp>
      <p:sp>
        <p:nvSpPr>
          <p:cNvPr id="4" name="Text 2"/>
          <p:cNvSpPr/>
          <p:nvPr/>
        </p:nvSpPr>
        <p:spPr>
          <a:xfrm>
            <a:off x="457200" y="694944"/>
            <a:ext cx="8229600" cy="292608"/>
          </a:xfrm>
          <a:prstGeom prst="rect">
            <a:avLst/>
          </a:prstGeom>
          <a:noFill/>
          <a:ln/>
        </p:spPr>
        <p:txBody>
          <a:bodyPr wrap="square" lIns="0" tIns="0" rIns="0" bIns="0" rtlCol="0" anchor="ctr"/>
          <a:lstStyle/>
          <a:p>
            <a:pPr algn="ctr" indent="0" marL="0">
              <a:buNone/>
            </a:pPr>
            <a:r>
              <a:rPr lang="en-US" sz="1100" i="1" dirty="0">
                <a:solidFill>
                  <a:srgbClr val="D4751B"/>
                </a:solidFill>
                <a:latin typeface="Calibri" pitchFamily="34" charset="0"/>
                <a:ea typeface="Calibri" pitchFamily="34" charset="-122"/>
                <a:cs typeface="Calibri" pitchFamily="34" charset="-120"/>
              </a:rPr>
              <a:t>Incident Commander / Executive closes  —  Mimy Thongphataysack</a:t>
            </a:r>
            <a:endParaRPr lang="en-US" sz="1100" dirty="0"/>
          </a:p>
        </p:txBody>
      </p:sp>
      <p:sp>
        <p:nvSpPr>
          <p:cNvPr id="5" name="Shape 3"/>
          <p:cNvSpPr/>
          <p:nvPr/>
        </p:nvSpPr>
        <p:spPr>
          <a:xfrm>
            <a:off x="457200" y="1097280"/>
            <a:ext cx="8229600" cy="1353312"/>
          </a:xfrm>
          <a:prstGeom prst="rect">
            <a:avLst/>
          </a:prstGeom>
          <a:solidFill>
            <a:srgbClr val="162640"/>
          </a:solidFill>
          <a:ln w="12700">
            <a:solidFill>
              <a:srgbClr val="2A4060"/>
            </a:solidFill>
            <a:prstDash val="solid"/>
          </a:ln>
        </p:spPr>
      </p:sp>
      <p:sp>
        <p:nvSpPr>
          <p:cNvPr id="6" name="Text 4"/>
          <p:cNvSpPr/>
          <p:nvPr/>
        </p:nvSpPr>
        <p:spPr>
          <a:xfrm>
            <a:off x="594360" y="1152144"/>
            <a:ext cx="7955280" cy="1234440"/>
          </a:xfrm>
          <a:prstGeom prst="rect">
            <a:avLst/>
          </a:prstGeom>
          <a:noFill/>
          <a:ln/>
        </p:spPr>
        <p:txBody>
          <a:bodyPr wrap="square" lIns="0" tIns="0" rIns="0" bIns="0" rtlCol="0" anchor="ctr"/>
          <a:lstStyle/>
          <a:p>
            <a:pPr algn="ctr" indent="0" marL="0">
              <a:buNone/>
            </a:pPr>
            <a:r>
              <a:rPr lang="en-US" sz="1150" i="1" dirty="0">
                <a:solidFill>
                  <a:srgbClr val="FFFFFF"/>
                </a:solidFill>
                <a:latin typeface="Calibri" pitchFamily="34" charset="0"/>
                <a:ea typeface="Calibri" pitchFamily="34" charset="-122"/>
                <a:cs typeface="Calibri" pitchFamily="34" charset="-120"/>
              </a:rPr>
              <a:t>"The incident has been successfully handled. At 09:23 AEST on 14 May, our SIEM detected a successful RDP brute-force attack against our EHR system. Our Incident Response Team activated immediately, containing the threat within 22 minutes, eradicating the attacker's presence within 4.5 hours, and fully restoring all clinical services by 03:25 AEST on 15 May. Affected patients have been notified and OAIC has been informed within our 30-hour obligation. We have already enforced MFA across all accounts and decommissioned the exposed RDP endpoint. This incident will not recur."</a:t>
            </a:r>
            <a:endParaRPr lang="en-US" sz="1150" dirty="0"/>
          </a:p>
        </p:txBody>
      </p:sp>
      <p:sp>
        <p:nvSpPr>
          <p:cNvPr id="7" name="Shape 5"/>
          <p:cNvSpPr/>
          <p:nvPr/>
        </p:nvSpPr>
        <p:spPr>
          <a:xfrm>
            <a:off x="457200" y="2578608"/>
            <a:ext cx="2633472" cy="1554480"/>
          </a:xfrm>
          <a:prstGeom prst="rect">
            <a:avLst/>
          </a:prstGeom>
          <a:solidFill>
            <a:srgbClr val="162640"/>
          </a:solidFill>
          <a:ln w="12700">
            <a:solidFill>
              <a:srgbClr val="1E6B45"/>
            </a:solidFill>
            <a:prstDash val="solid"/>
          </a:ln>
        </p:spPr>
      </p:sp>
      <p:sp>
        <p:nvSpPr>
          <p:cNvPr id="8" name="Shape 6"/>
          <p:cNvSpPr/>
          <p:nvPr/>
        </p:nvSpPr>
        <p:spPr>
          <a:xfrm>
            <a:off x="457200" y="2578608"/>
            <a:ext cx="2633472" cy="310896"/>
          </a:xfrm>
          <a:prstGeom prst="rect">
            <a:avLst/>
          </a:prstGeom>
          <a:solidFill>
            <a:srgbClr val="1E6B45"/>
          </a:solidFill>
          <a:ln w="12700">
            <a:solidFill>
              <a:srgbClr val="1E6B45"/>
            </a:solidFill>
            <a:prstDash val="solid"/>
          </a:ln>
        </p:spPr>
      </p:sp>
      <p:sp>
        <p:nvSpPr>
          <p:cNvPr id="9" name="Text 7"/>
          <p:cNvSpPr/>
          <p:nvPr/>
        </p:nvSpPr>
        <p:spPr>
          <a:xfrm>
            <a:off x="502920" y="2578608"/>
            <a:ext cx="254203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CONTROLLED</a:t>
            </a:r>
            <a:endParaRPr lang="en-US" sz="1200" dirty="0"/>
          </a:p>
        </p:txBody>
      </p:sp>
      <p:sp>
        <p:nvSpPr>
          <p:cNvPr id="10" name="Text 8"/>
          <p:cNvSpPr/>
          <p:nvPr/>
        </p:nvSpPr>
        <p:spPr>
          <a:xfrm>
            <a:off x="548640" y="2926080"/>
            <a:ext cx="2450592" cy="1143000"/>
          </a:xfrm>
          <a:prstGeom prst="rect">
            <a:avLst/>
          </a:prstGeom>
          <a:noFill/>
          <a:ln/>
        </p:spPr>
        <p:txBody>
          <a:bodyPr wrap="square" lIns="0" tIns="0" rIns="0" bIns="0" rtlCol="0" anchor="ctr"/>
          <a:lstStyle/>
          <a:p>
            <a:pPr algn="ctr" indent="0" marL="0">
              <a:buNone/>
            </a:pPr>
            <a:r>
              <a:rPr lang="en-US" sz="1050" dirty="0">
                <a:solidFill>
                  <a:srgbClr val="DDEEFF"/>
                </a:solidFill>
                <a:latin typeface="Calibri" pitchFamily="34" charset="0"/>
                <a:ea typeface="Calibri" pitchFamily="34" charset="-122"/>
                <a:cs typeface="Calibri" pitchFamily="34" charset="-120"/>
              </a:rPr>
              <a:t>The threat is fully eradicated and no attacker presence remains in our systems — all services are stable.</a:t>
            </a:r>
            <a:endParaRPr lang="en-US" sz="1050" dirty="0"/>
          </a:p>
        </p:txBody>
      </p:sp>
      <p:sp>
        <p:nvSpPr>
          <p:cNvPr id="11" name="Shape 9"/>
          <p:cNvSpPr/>
          <p:nvPr/>
        </p:nvSpPr>
        <p:spPr>
          <a:xfrm>
            <a:off x="3273552" y="2578608"/>
            <a:ext cx="2633472" cy="1554480"/>
          </a:xfrm>
          <a:prstGeom prst="rect">
            <a:avLst/>
          </a:prstGeom>
          <a:solidFill>
            <a:srgbClr val="162640"/>
          </a:solidFill>
          <a:ln w="12700">
            <a:solidFill>
              <a:srgbClr val="027A8A"/>
            </a:solidFill>
            <a:prstDash val="solid"/>
          </a:ln>
        </p:spPr>
      </p:sp>
      <p:sp>
        <p:nvSpPr>
          <p:cNvPr id="12" name="Shape 10"/>
          <p:cNvSpPr/>
          <p:nvPr/>
        </p:nvSpPr>
        <p:spPr>
          <a:xfrm>
            <a:off x="3273552" y="2578608"/>
            <a:ext cx="2633472" cy="310896"/>
          </a:xfrm>
          <a:prstGeom prst="rect">
            <a:avLst/>
          </a:prstGeom>
          <a:solidFill>
            <a:srgbClr val="027A8A"/>
          </a:solidFill>
          <a:ln w="12700">
            <a:solidFill>
              <a:srgbClr val="027A8A"/>
            </a:solidFill>
            <a:prstDash val="solid"/>
          </a:ln>
        </p:spPr>
      </p:sp>
      <p:sp>
        <p:nvSpPr>
          <p:cNvPr id="13" name="Text 11"/>
          <p:cNvSpPr/>
          <p:nvPr/>
        </p:nvSpPr>
        <p:spPr>
          <a:xfrm>
            <a:off x="3319272" y="2578608"/>
            <a:ext cx="254203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CORRECTED</a:t>
            </a:r>
            <a:endParaRPr lang="en-US" sz="1200" dirty="0"/>
          </a:p>
        </p:txBody>
      </p:sp>
      <p:sp>
        <p:nvSpPr>
          <p:cNvPr id="14" name="Text 12"/>
          <p:cNvSpPr/>
          <p:nvPr/>
        </p:nvSpPr>
        <p:spPr>
          <a:xfrm>
            <a:off x="3364992" y="2926080"/>
            <a:ext cx="2450592" cy="1143000"/>
          </a:xfrm>
          <a:prstGeom prst="rect">
            <a:avLst/>
          </a:prstGeom>
          <a:noFill/>
          <a:ln/>
        </p:spPr>
        <p:txBody>
          <a:bodyPr wrap="square" lIns="0" tIns="0" rIns="0" bIns="0" rtlCol="0" anchor="ctr"/>
          <a:lstStyle/>
          <a:p>
            <a:pPr algn="ctr" indent="0" marL="0">
              <a:buNone/>
            </a:pPr>
            <a:r>
              <a:rPr lang="en-US" sz="1050" dirty="0">
                <a:solidFill>
                  <a:srgbClr val="DDEEFF"/>
                </a:solidFill>
                <a:latin typeface="Calibri" pitchFamily="34" charset="0"/>
                <a:ea typeface="Calibri" pitchFamily="34" charset="-122"/>
                <a:cs typeface="Calibri" pitchFamily="34" charset="-120"/>
              </a:rPr>
              <a:t>MFA is now enforced on all accounts; the exposed RDP endpoint has been decommissioned; 12,000 patients and OAIC have been notified.</a:t>
            </a:r>
            <a:endParaRPr lang="en-US" sz="1050" dirty="0"/>
          </a:p>
        </p:txBody>
      </p:sp>
      <p:sp>
        <p:nvSpPr>
          <p:cNvPr id="15" name="Shape 13"/>
          <p:cNvSpPr/>
          <p:nvPr/>
        </p:nvSpPr>
        <p:spPr>
          <a:xfrm>
            <a:off x="6089904" y="2578608"/>
            <a:ext cx="2633472" cy="1554480"/>
          </a:xfrm>
          <a:prstGeom prst="rect">
            <a:avLst/>
          </a:prstGeom>
          <a:solidFill>
            <a:srgbClr val="162640"/>
          </a:solidFill>
          <a:ln w="12700">
            <a:solidFill>
              <a:srgbClr val="C55A11"/>
            </a:solidFill>
            <a:prstDash val="solid"/>
          </a:ln>
        </p:spPr>
      </p:sp>
      <p:sp>
        <p:nvSpPr>
          <p:cNvPr id="16" name="Shape 14"/>
          <p:cNvSpPr/>
          <p:nvPr/>
        </p:nvSpPr>
        <p:spPr>
          <a:xfrm>
            <a:off x="6089904" y="2578608"/>
            <a:ext cx="2633472" cy="310896"/>
          </a:xfrm>
          <a:prstGeom prst="rect">
            <a:avLst/>
          </a:prstGeom>
          <a:solidFill>
            <a:srgbClr val="C55A11"/>
          </a:solidFill>
          <a:ln w="12700">
            <a:solidFill>
              <a:srgbClr val="C55A11"/>
            </a:solidFill>
            <a:prstDash val="solid"/>
          </a:ln>
        </p:spPr>
      </p:sp>
      <p:sp>
        <p:nvSpPr>
          <p:cNvPr id="17" name="Text 15"/>
          <p:cNvSpPr/>
          <p:nvPr/>
        </p:nvSpPr>
        <p:spPr>
          <a:xfrm>
            <a:off x="6135624" y="2578608"/>
            <a:ext cx="254203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PREPARED</a:t>
            </a:r>
            <a:endParaRPr lang="en-US" sz="1200" dirty="0"/>
          </a:p>
        </p:txBody>
      </p:sp>
      <p:sp>
        <p:nvSpPr>
          <p:cNvPr id="18" name="Text 16"/>
          <p:cNvSpPr/>
          <p:nvPr/>
        </p:nvSpPr>
        <p:spPr>
          <a:xfrm>
            <a:off x="6181344" y="2926080"/>
            <a:ext cx="2450592" cy="1143000"/>
          </a:xfrm>
          <a:prstGeom prst="rect">
            <a:avLst/>
          </a:prstGeom>
          <a:noFill/>
          <a:ln/>
        </p:spPr>
        <p:txBody>
          <a:bodyPr wrap="square" lIns="0" tIns="0" rIns="0" bIns="0" rtlCol="0" anchor="ctr"/>
          <a:lstStyle/>
          <a:p>
            <a:pPr algn="ctr" indent="0" marL="0">
              <a:buNone/>
            </a:pPr>
            <a:r>
              <a:rPr lang="en-US" sz="1050" dirty="0">
                <a:solidFill>
                  <a:srgbClr val="DDEEFF"/>
                </a:solidFill>
                <a:latin typeface="Calibri" pitchFamily="34" charset="0"/>
                <a:ea typeface="Calibri" pitchFamily="34" charset="-122"/>
                <a:cs typeface="Calibri" pitchFamily="34" charset="-120"/>
              </a:rPr>
              <a:t>We will conduct quarterly tabletop exercises and enforce a 72-hour CVE patching SLA to prevent any recurrence.</a:t>
            </a:r>
            <a:endParaRPr lang="en-US" sz="1050" dirty="0"/>
          </a:p>
        </p:txBody>
      </p:sp>
      <p:sp>
        <p:nvSpPr>
          <p:cNvPr id="19" name="Shape 17"/>
          <p:cNvSpPr/>
          <p:nvPr/>
        </p:nvSpPr>
        <p:spPr>
          <a:xfrm>
            <a:off x="0" y="4251960"/>
            <a:ext cx="9144000" cy="566928"/>
          </a:xfrm>
          <a:prstGeom prst="rect">
            <a:avLst/>
          </a:prstGeom>
          <a:solidFill>
            <a:srgbClr val="0D1E30"/>
          </a:solidFill>
          <a:ln w="12700">
            <a:solidFill>
              <a:srgbClr val="0D1E30"/>
            </a:solidFill>
            <a:prstDash val="solid"/>
          </a:ln>
        </p:spPr>
      </p:sp>
      <p:sp>
        <p:nvSpPr>
          <p:cNvPr id="20" name="Text 18"/>
          <p:cNvSpPr/>
          <p:nvPr/>
        </p:nvSpPr>
        <p:spPr>
          <a:xfrm>
            <a:off x="274320" y="4270248"/>
            <a:ext cx="8595360" cy="256032"/>
          </a:xfrm>
          <a:prstGeom prst="rect">
            <a:avLst/>
          </a:prstGeom>
          <a:noFill/>
          <a:ln/>
        </p:spPr>
        <p:txBody>
          <a:bodyPr wrap="square" lIns="0" tIns="0" rIns="0" bIns="0" rtlCol="0" anchor="ctr"/>
          <a:lstStyle/>
          <a:p>
            <a:pPr algn="ctr" indent="0" marL="0">
              <a:buNone/>
            </a:pPr>
            <a:r>
              <a:rPr lang="en-US" sz="950" dirty="0">
                <a:solidFill>
                  <a:srgbClr val="D4751B"/>
                </a:solidFill>
                <a:latin typeface="Calibri" pitchFamily="34" charset="0"/>
                <a:ea typeface="Calibri" pitchFamily="34" charset="-122"/>
                <a:cs typeface="Calibri" pitchFamily="34" charset="-120"/>
              </a:rPr>
              <a:t>Group 3  |  Mimy Thongphataysack  |  Nick Vilaiwan  |  Nanami Fujita  |  Samiha Suha  |  IAB246 Assessment 2A</a:t>
            </a:r>
            <a:endParaRPr lang="en-US" sz="950" dirty="0"/>
          </a:p>
        </p:txBody>
      </p:sp>
      <p:sp>
        <p:nvSpPr>
          <p:cNvPr id="21" name="Text 19"/>
          <p:cNvSpPr/>
          <p:nvPr/>
        </p:nvSpPr>
        <p:spPr>
          <a:xfrm>
            <a:off x="274320" y="4535424"/>
            <a:ext cx="8595360" cy="219456"/>
          </a:xfrm>
          <a:prstGeom prst="rect">
            <a:avLst/>
          </a:prstGeom>
          <a:noFill/>
          <a:ln/>
        </p:spPr>
        <p:txBody>
          <a:bodyPr wrap="square" lIns="0" tIns="0" rIns="0" bIns="0" rtlCol="0" anchor="ctr"/>
          <a:lstStyle/>
          <a:p>
            <a:pPr algn="ctr" indent="0" marL="0">
              <a:buNone/>
            </a:pPr>
            <a:r>
              <a:rPr lang="en-US" sz="900" dirty="0">
                <a:solidFill>
                  <a:srgbClr val="8899AA"/>
                </a:solidFill>
                <a:latin typeface="Calibri" pitchFamily="34" charset="0"/>
                <a:ea typeface="Calibri" pitchFamily="34" charset="-122"/>
                <a:cs typeface="Calibri" pitchFamily="34" charset="-120"/>
              </a:rPr>
              <a:t>Tuesday 5–7 PM  |  Tutor: Manavdeep Singh</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IAB246 Assessment 2A - Group 3 Incident Response Role Play</dc:title>
  <dc:subject>PptxGenJS Presentation</dc:subject>
  <dc:creator>PptxGenJS</dc:creator>
  <cp:lastModifiedBy>PptxGenJS</cp:lastModifiedBy>
  <cp:revision>1</cp:revision>
  <dcterms:created xsi:type="dcterms:W3CDTF">2026-05-04T01:46:54Z</dcterms:created>
  <dcterms:modified xsi:type="dcterms:W3CDTF">2026-05-04T01:46:54Z</dcterms:modified>
</cp:coreProperties>
</file>